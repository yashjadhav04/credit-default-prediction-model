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Poppins"/>
      <p:regular r:id="rId52"/>
      <p:bold r:id="rId53"/>
      <p:italic r:id="rId54"/>
      <p:boldItalic r:id="rId55"/>
    </p:embeddedFont>
    <p:embeddedFont>
      <p:font typeface="Livvic Medium"/>
      <p:regular r:id="rId56"/>
      <p:bold r:id="rId57"/>
      <p:italic r:id="rId58"/>
      <p:boldItalic r:id="rId59"/>
    </p:embeddedFont>
    <p:embeddedFont>
      <p:font typeface="Livvic"/>
      <p:regular r:id="rId60"/>
      <p:bold r:id="rId61"/>
      <p:italic r:id="rId62"/>
      <p:boldItalic r:id="rId63"/>
    </p:embeddedFont>
    <p:embeddedFont>
      <p:font typeface="Poppins Medium"/>
      <p:regular r:id="rId64"/>
      <p:bold r:id="rId65"/>
      <p:italic r:id="rId66"/>
      <p:boldItalic r:id="rId67"/>
    </p:embeddedFont>
    <p:embeddedFont>
      <p:font typeface="Poppins SemiBold"/>
      <p:regular r:id="rId68"/>
      <p:bold r:id="rId69"/>
      <p:italic r:id="rId70"/>
      <p:boldItalic r:id="rId71"/>
    </p:embeddedFont>
    <p:embeddedFont>
      <p:font typeface="Poppins ExtraBold"/>
      <p:bold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9FB4E3-AD6E-432A-BC46-AADD0B5C56F1}">
  <a:tblStyle styleId="{AF9FB4E3-AD6E-432A-BC46-AADD0B5C56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oppinsExtraBold-boldItalic.fntdata"/><Relationship Id="rId72" Type="http://schemas.openxmlformats.org/officeDocument/2006/relationships/font" Target="fonts/PoppinsExtraBold-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oppinsSemiBold-boldItalic.fntdata"/><Relationship Id="rId70" Type="http://schemas.openxmlformats.org/officeDocument/2006/relationships/font" Target="fonts/PoppinsSemi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ivvic-italic.fntdata"/><Relationship Id="rId61" Type="http://schemas.openxmlformats.org/officeDocument/2006/relationships/font" Target="fonts/Livvic-bold.fntdata"/><Relationship Id="rId20" Type="http://schemas.openxmlformats.org/officeDocument/2006/relationships/slide" Target="slides/slide14.xml"/><Relationship Id="rId64" Type="http://schemas.openxmlformats.org/officeDocument/2006/relationships/font" Target="fonts/PoppinsMedium-regular.fntdata"/><Relationship Id="rId63" Type="http://schemas.openxmlformats.org/officeDocument/2006/relationships/font" Target="fonts/Livvic-boldItalic.fntdata"/><Relationship Id="rId22" Type="http://schemas.openxmlformats.org/officeDocument/2006/relationships/slide" Target="slides/slide16.xml"/><Relationship Id="rId66" Type="http://schemas.openxmlformats.org/officeDocument/2006/relationships/font" Target="fonts/PoppinsMedium-italic.fntdata"/><Relationship Id="rId21" Type="http://schemas.openxmlformats.org/officeDocument/2006/relationships/slide" Target="slides/slide15.xml"/><Relationship Id="rId65" Type="http://schemas.openxmlformats.org/officeDocument/2006/relationships/font" Target="fonts/PoppinsMedium-bold.fntdata"/><Relationship Id="rId24" Type="http://schemas.openxmlformats.org/officeDocument/2006/relationships/slide" Target="slides/slide18.xml"/><Relationship Id="rId68" Type="http://schemas.openxmlformats.org/officeDocument/2006/relationships/font" Target="fonts/PoppinsSemiBold-regular.fntdata"/><Relationship Id="rId23" Type="http://schemas.openxmlformats.org/officeDocument/2006/relationships/slide" Target="slides/slide17.xml"/><Relationship Id="rId67" Type="http://schemas.openxmlformats.org/officeDocument/2006/relationships/font" Target="fonts/PoppinsMedium-boldItalic.fntdata"/><Relationship Id="rId60" Type="http://schemas.openxmlformats.org/officeDocument/2006/relationships/font" Target="fonts/Livvic-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PoppinsSemiBold-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Poppins-bold.fntdata"/><Relationship Id="rId52" Type="http://schemas.openxmlformats.org/officeDocument/2006/relationships/font" Target="fonts/Poppins-regular.fntdata"/><Relationship Id="rId11" Type="http://schemas.openxmlformats.org/officeDocument/2006/relationships/slide" Target="slides/slide5.xml"/><Relationship Id="rId55" Type="http://schemas.openxmlformats.org/officeDocument/2006/relationships/font" Target="fonts/Poppins-boldItalic.fntdata"/><Relationship Id="rId10" Type="http://schemas.openxmlformats.org/officeDocument/2006/relationships/slide" Target="slides/slide4.xml"/><Relationship Id="rId54" Type="http://schemas.openxmlformats.org/officeDocument/2006/relationships/font" Target="fonts/Poppins-italic.fntdata"/><Relationship Id="rId13" Type="http://schemas.openxmlformats.org/officeDocument/2006/relationships/slide" Target="slides/slide7.xml"/><Relationship Id="rId57" Type="http://schemas.openxmlformats.org/officeDocument/2006/relationships/font" Target="fonts/LivvicMedium-bold.fntdata"/><Relationship Id="rId12" Type="http://schemas.openxmlformats.org/officeDocument/2006/relationships/slide" Target="slides/slide6.xml"/><Relationship Id="rId56" Type="http://schemas.openxmlformats.org/officeDocument/2006/relationships/font" Target="fonts/LivvicMedium-regular.fntdata"/><Relationship Id="rId15" Type="http://schemas.openxmlformats.org/officeDocument/2006/relationships/slide" Target="slides/slide9.xml"/><Relationship Id="rId59" Type="http://schemas.openxmlformats.org/officeDocument/2006/relationships/font" Target="fonts/LivvicMedium-boldItalic.fntdata"/><Relationship Id="rId14" Type="http://schemas.openxmlformats.org/officeDocument/2006/relationships/slide" Target="slides/slide8.xml"/><Relationship Id="rId58" Type="http://schemas.openxmlformats.org/officeDocument/2006/relationships/font" Target="fonts/Livvic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2307/2490225" TargetMode="External"/><Relationship Id="rId3" Type="http://schemas.openxmlformats.org/officeDocument/2006/relationships/hyperlink" Target="https://doi.org/10.2307/2490225" TargetMode="External"/><Relationship Id="rId4" Type="http://schemas.openxmlformats.org/officeDocument/2006/relationships/hyperlink" Target="https://doi.org/10.2307/2490225" TargetMode="External"/><Relationship Id="rId5" Type="http://schemas.openxmlformats.org/officeDocument/2006/relationships/hyperlink" Target="https://doi.org/10.1080/0963818042000216811" TargetMode="External"/><Relationship Id="rId6" Type="http://schemas.openxmlformats.org/officeDocument/2006/relationships/hyperlink" Target="https://doi.org/10.1016/0304-405X(77)90015-0" TargetMode="External"/><Relationship Id="rId7" Type="http://schemas.openxmlformats.org/officeDocument/2006/relationships/hyperlink" Target="https://doi.org/10.2307/2937924"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2307/2490395"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2307/2490225" TargetMode="External"/><Relationship Id="rId3" Type="http://schemas.openxmlformats.org/officeDocument/2006/relationships/hyperlink" Target="https://doi.org/10.2307/2490225" TargetMode="External"/><Relationship Id="rId4" Type="http://schemas.openxmlformats.org/officeDocument/2006/relationships/hyperlink" Target="https://doi.org/10.2307/2490225" TargetMode="External"/><Relationship Id="rId5" Type="http://schemas.openxmlformats.org/officeDocument/2006/relationships/hyperlink" Target="https://doi.org/10.1080/0963818042000216811" TargetMode="External"/><Relationship Id="rId6" Type="http://schemas.openxmlformats.org/officeDocument/2006/relationships/hyperlink" Target="https://doi.org/10.1016/0304-405X(77)90015-0" TargetMode="External"/><Relationship Id="rId7" Type="http://schemas.openxmlformats.org/officeDocument/2006/relationships/hyperlink" Target="https://doi.org/10.2307/2937924"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dd0c7d16c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dd0c7d16c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6aa138d39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6aa138d39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6aa138d39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6aa138d39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Cash Flow Stability/Volatility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arenBoth"/>
            </a:pPr>
            <a:r>
              <a:rPr b="1" lang="en">
                <a:solidFill>
                  <a:schemeClr val="dk1"/>
                </a:solidFill>
              </a:rPr>
              <a:t>Deakin, E. B. (1972).</a:t>
            </a:r>
            <a:r>
              <a:rPr lang="en">
                <a:solidFill>
                  <a:schemeClr val="dk1"/>
                </a:solidFill>
              </a:rPr>
              <a:t> </a:t>
            </a:r>
            <a:r>
              <a:rPr i="1" lang="en">
                <a:solidFill>
                  <a:schemeClr val="dk1"/>
                </a:solidFill>
              </a:rPr>
              <a:t>A Discriminant Analysis of Predictors of Business Failure.</a:t>
            </a:r>
            <a:r>
              <a:rPr lang="en">
                <a:solidFill>
                  <a:schemeClr val="dk1"/>
                </a:solidFill>
              </a:rPr>
              <a:t> </a:t>
            </a:r>
            <a:r>
              <a:rPr b="1" lang="en">
                <a:solidFill>
                  <a:schemeClr val="dk1"/>
                </a:solidFill>
              </a:rPr>
              <a:t>Journal of Accounting Research.</a:t>
            </a:r>
            <a:r>
              <a:rPr b="1" lang="en" u="sng">
                <a:solidFill>
                  <a:schemeClr val="hlink"/>
                </a:solidFill>
                <a:hlinkClick r:id="rId2"/>
              </a:rPr>
              <a:t> </a:t>
            </a:r>
            <a:r>
              <a:rPr lang="en" u="sng">
                <a:solidFill>
                  <a:schemeClr val="hlink"/>
                </a:solidFill>
                <a:hlinkClick r:id="rId3"/>
              </a:rPr>
              <a:t>https://doi.org/10.2307/2490225</a:t>
            </a:r>
            <a:br>
              <a:rPr lang="en" u="sng">
                <a:solidFill>
                  <a:schemeClr val="hlink"/>
                </a:solidFill>
                <a:hlinkClick r:id="rId4"/>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b="1" lang="en">
                <a:solidFill>
                  <a:schemeClr val="dk1"/>
                </a:solidFill>
              </a:rPr>
              <a:t>Charitou, A., Neophytou, E., &amp; Charalambous, C. (2004). </a:t>
            </a:r>
            <a:r>
              <a:rPr lang="en">
                <a:solidFill>
                  <a:schemeClr val="dk1"/>
                </a:solidFill>
              </a:rPr>
              <a:t> </a:t>
            </a:r>
            <a:r>
              <a:rPr i="1" lang="en">
                <a:solidFill>
                  <a:schemeClr val="dk1"/>
                </a:solidFill>
              </a:rPr>
              <a:t>Predicting Corporate Failure: Empirical Evidence for the UK. </a:t>
            </a:r>
            <a:r>
              <a:rPr b="1" lang="en">
                <a:solidFill>
                  <a:schemeClr val="dk1"/>
                </a:solidFill>
              </a:rPr>
              <a:t>European Accounting Review. </a:t>
            </a:r>
            <a:r>
              <a:rPr lang="en">
                <a:solidFill>
                  <a:schemeClr val="dk1"/>
                </a:solidFill>
              </a:rPr>
              <a:t> </a:t>
            </a:r>
            <a:r>
              <a:rPr lang="en" u="sng">
                <a:solidFill>
                  <a:schemeClr val="hlink"/>
                </a:solidFill>
                <a:hlinkClick r:id="rId5"/>
              </a:rPr>
              <a:t>https://doi.org/10.1080/0963818042000216811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Asset Structure and Debt Structure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arenBoth"/>
            </a:pPr>
            <a:r>
              <a:rPr b="1" lang="en">
                <a:solidFill>
                  <a:schemeClr val="dk1"/>
                </a:solidFill>
              </a:rPr>
              <a:t>Myers, S. (1977).</a:t>
            </a:r>
            <a:r>
              <a:rPr lang="en">
                <a:solidFill>
                  <a:schemeClr val="dk1"/>
                </a:solidFill>
              </a:rPr>
              <a:t> </a:t>
            </a:r>
            <a:r>
              <a:rPr i="1" lang="en">
                <a:solidFill>
                  <a:schemeClr val="dk1"/>
                </a:solidFill>
              </a:rPr>
              <a:t>Determinants of Corporate Borrowing. </a:t>
            </a:r>
            <a:r>
              <a:rPr b="1" lang="en">
                <a:solidFill>
                  <a:schemeClr val="dk1"/>
                </a:solidFill>
              </a:rPr>
              <a:t>Journal of Financial Economics. </a:t>
            </a:r>
            <a:r>
              <a:rPr lang="en">
                <a:solidFill>
                  <a:schemeClr val="dk1"/>
                </a:solidFill>
              </a:rPr>
              <a:t> </a:t>
            </a:r>
            <a:r>
              <a:rPr lang="en" u="sng">
                <a:solidFill>
                  <a:schemeClr val="hlink"/>
                </a:solidFill>
                <a:hlinkClick r:id="rId6"/>
              </a:rPr>
              <a:t>https://doi.org/10.1016/0304-405X(77)90015-0</a:t>
            </a:r>
            <a:r>
              <a:rPr lang="en">
                <a:solidFill>
                  <a:schemeClr val="dk1"/>
                </a:solidFill>
              </a:rPr>
              <a:t> Shows that tangible assets support debt capacity and reduce distress risk.</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b="1" lang="en">
                <a:solidFill>
                  <a:schemeClr val="dk1"/>
                </a:solidFill>
              </a:rPr>
              <a:t>Diamond, D. (1991).</a:t>
            </a:r>
            <a:r>
              <a:rPr lang="en">
                <a:solidFill>
                  <a:schemeClr val="dk1"/>
                </a:solidFill>
              </a:rPr>
              <a:t> </a:t>
            </a:r>
            <a:r>
              <a:rPr i="1" lang="en">
                <a:solidFill>
                  <a:schemeClr val="dk1"/>
                </a:solidFill>
              </a:rPr>
              <a:t>Debt Maturity Structure and Liquidity Risk. </a:t>
            </a:r>
            <a:r>
              <a:rPr b="1" lang="en">
                <a:solidFill>
                  <a:schemeClr val="dk1"/>
                </a:solidFill>
              </a:rPr>
              <a:t>Quarterly Journal of Economics. </a:t>
            </a:r>
            <a:r>
              <a:rPr lang="en">
                <a:solidFill>
                  <a:schemeClr val="dk1"/>
                </a:solidFill>
              </a:rPr>
              <a:t> </a:t>
            </a:r>
            <a:r>
              <a:rPr lang="en" u="sng">
                <a:solidFill>
                  <a:schemeClr val="hlink"/>
                </a:solidFill>
                <a:hlinkClick r:id="rId7"/>
              </a:rPr>
              <a:t>https://doi.org/10.2307/2937924</a:t>
            </a:r>
            <a:r>
              <a:rPr lang="en">
                <a:solidFill>
                  <a:schemeClr val="dk1"/>
                </a:solidFill>
              </a:rPr>
              <a:t>  Demonstrates how short-term debt increases rollover/refinancing risk, raising default probability.</a:t>
            </a:r>
            <a:br>
              <a:rPr lang="en">
                <a:solidFill>
                  <a:schemeClr val="dk1"/>
                </a:solidFill>
              </a:rPr>
            </a:b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6aa138d39_2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a6aa138d39_2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6aa138d39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6aa138d39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db0f9523d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db0f9523d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1619a75d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1619a75d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6aa138d39_1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6aa138d39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6aa138d39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a6aa138d39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i="1" lang="en">
                <a:solidFill>
                  <a:schemeClr val="dk1"/>
                </a:solidFill>
              </a:rPr>
              <a:t>For Leverage and Solvency</a:t>
            </a:r>
            <a:endParaRPr i="1">
              <a:solidFill>
                <a:schemeClr val="dk1"/>
              </a:solidFill>
            </a:endParaRPr>
          </a:p>
          <a:p>
            <a:pPr indent="-298450" lvl="0" marL="457200" rtl="0" algn="l">
              <a:lnSpc>
                <a:spcPct val="115000"/>
              </a:lnSpc>
              <a:spcBef>
                <a:spcPts val="1200"/>
              </a:spcBef>
              <a:spcAft>
                <a:spcPts val="0"/>
              </a:spcAft>
              <a:buClr>
                <a:schemeClr val="dk1"/>
              </a:buClr>
              <a:buSzPts val="1100"/>
              <a:buAutoNum type="arabicParenBoth"/>
            </a:pPr>
            <a:r>
              <a:rPr i="1" lang="en">
                <a:solidFill>
                  <a:schemeClr val="dk1"/>
                </a:solidFill>
              </a:rPr>
              <a:t>A</a:t>
            </a:r>
            <a:r>
              <a:rPr i="1" lang="en">
                <a:solidFill>
                  <a:schemeClr val="dk1"/>
                </a:solidFill>
              </a:rPr>
              <a:t>ltman, E. I. (1968). Financial Ratios, Discriminant Analysis and the Prediction of Corporate Bankruptcy. Journal of Finance. https://doi.org/10.1111/j.1540-6261.1968.tb00843.x</a:t>
            </a: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i="1" lang="en">
                <a:solidFill>
                  <a:schemeClr val="dk1"/>
                </a:solidFill>
              </a:rPr>
              <a:t>Ohlson, J. A. (1980). Financial Ratios and the Probabilistic Prediction of Bankruptcy. Journal of Accounting Research. </a:t>
            </a:r>
            <a:r>
              <a:rPr i="1" lang="en" u="sng">
                <a:solidFill>
                  <a:schemeClr val="hlink"/>
                </a:solidFill>
                <a:hlinkClick r:id="rId2"/>
              </a:rPr>
              <a:t>https://doi.org/10.2307/2490395</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For Profitability and Returns and Liquidity and Debt Service Capacity</a:t>
            </a:r>
            <a:endParaRPr i="1">
              <a:solidFill>
                <a:schemeClr val="dk1"/>
              </a:solidFill>
            </a:endParaRPr>
          </a:p>
          <a:p>
            <a:pPr indent="-298450" lvl="0" marL="457200" rtl="0" algn="l">
              <a:lnSpc>
                <a:spcPct val="115000"/>
              </a:lnSpc>
              <a:spcBef>
                <a:spcPts val="1200"/>
              </a:spcBef>
              <a:spcAft>
                <a:spcPts val="0"/>
              </a:spcAft>
              <a:buClr>
                <a:schemeClr val="dk1"/>
              </a:buClr>
              <a:buSzPts val="1100"/>
              <a:buAutoNum type="arabicParenBoth"/>
            </a:pPr>
            <a:r>
              <a:rPr b="1" lang="en">
                <a:solidFill>
                  <a:schemeClr val="dk1"/>
                </a:solidFill>
              </a:rPr>
              <a:t>Beaver, W. (1966).</a:t>
            </a:r>
            <a:r>
              <a:rPr lang="en">
                <a:solidFill>
                  <a:schemeClr val="dk1"/>
                </a:solidFill>
              </a:rPr>
              <a:t> </a:t>
            </a:r>
            <a:r>
              <a:rPr i="1" lang="en">
                <a:solidFill>
                  <a:schemeClr val="dk1"/>
                </a:solidFill>
              </a:rPr>
              <a:t>Financial Ratios as Predictors of Failure. </a:t>
            </a:r>
            <a:r>
              <a:rPr b="1" lang="en">
                <a:solidFill>
                  <a:schemeClr val="dk1"/>
                </a:solidFill>
              </a:rPr>
              <a:t>Journal of Accounting Research. </a:t>
            </a:r>
            <a:r>
              <a:rPr lang="en">
                <a:solidFill>
                  <a:schemeClr val="dk1"/>
                </a:solidFill>
              </a:rPr>
              <a:t> https://doi.org/10.2307/2490171</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6aa138d39_2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6aa138d39_2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Cash Flow Stability/Volatility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arenBoth"/>
            </a:pPr>
            <a:r>
              <a:rPr b="1" lang="en">
                <a:solidFill>
                  <a:schemeClr val="dk1"/>
                </a:solidFill>
              </a:rPr>
              <a:t>Deakin, E. B. (1972).</a:t>
            </a:r>
            <a:r>
              <a:rPr lang="en">
                <a:solidFill>
                  <a:schemeClr val="dk1"/>
                </a:solidFill>
              </a:rPr>
              <a:t> </a:t>
            </a:r>
            <a:r>
              <a:rPr i="1" lang="en">
                <a:solidFill>
                  <a:schemeClr val="dk1"/>
                </a:solidFill>
              </a:rPr>
              <a:t>A Discriminant Analysis of Predictors of Business Failure.</a:t>
            </a:r>
            <a:r>
              <a:rPr lang="en">
                <a:solidFill>
                  <a:schemeClr val="dk1"/>
                </a:solidFill>
              </a:rPr>
              <a:t> </a:t>
            </a:r>
            <a:r>
              <a:rPr b="1" lang="en">
                <a:solidFill>
                  <a:schemeClr val="dk1"/>
                </a:solidFill>
              </a:rPr>
              <a:t>Journal of Accounting Research.</a:t>
            </a:r>
            <a:r>
              <a:rPr b="1" lang="en" u="sng">
                <a:solidFill>
                  <a:schemeClr val="hlink"/>
                </a:solidFill>
                <a:hlinkClick r:id="rId2"/>
              </a:rPr>
              <a:t> </a:t>
            </a:r>
            <a:r>
              <a:rPr lang="en" u="sng">
                <a:solidFill>
                  <a:schemeClr val="hlink"/>
                </a:solidFill>
                <a:hlinkClick r:id="rId3"/>
              </a:rPr>
              <a:t>https://doi.org/10.2307/2490225</a:t>
            </a:r>
            <a:br>
              <a:rPr lang="en" u="sng">
                <a:solidFill>
                  <a:schemeClr val="hlink"/>
                </a:solidFill>
                <a:hlinkClick r:id="rId4"/>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b="1" lang="en">
                <a:solidFill>
                  <a:schemeClr val="dk1"/>
                </a:solidFill>
              </a:rPr>
              <a:t>Charitou, A., Neophytou, E., &amp; Charalambous, C. (2004). </a:t>
            </a:r>
            <a:r>
              <a:rPr lang="en">
                <a:solidFill>
                  <a:schemeClr val="dk1"/>
                </a:solidFill>
              </a:rPr>
              <a:t> </a:t>
            </a:r>
            <a:r>
              <a:rPr i="1" lang="en">
                <a:solidFill>
                  <a:schemeClr val="dk1"/>
                </a:solidFill>
              </a:rPr>
              <a:t>Predicting Corporate Failure: Empirical Evidence for the UK. </a:t>
            </a:r>
            <a:r>
              <a:rPr b="1" lang="en">
                <a:solidFill>
                  <a:schemeClr val="dk1"/>
                </a:solidFill>
              </a:rPr>
              <a:t>European Accounting Review. </a:t>
            </a:r>
            <a:r>
              <a:rPr lang="en">
                <a:solidFill>
                  <a:schemeClr val="dk1"/>
                </a:solidFill>
              </a:rPr>
              <a:t> </a:t>
            </a:r>
            <a:r>
              <a:rPr lang="en" u="sng">
                <a:solidFill>
                  <a:schemeClr val="hlink"/>
                </a:solidFill>
                <a:hlinkClick r:id="rId5"/>
              </a:rPr>
              <a:t>https://doi.org/10.1080/0963818042000216811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Asset Structure and Debt Structure </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arenBoth"/>
            </a:pPr>
            <a:r>
              <a:rPr b="1" lang="en">
                <a:solidFill>
                  <a:schemeClr val="dk1"/>
                </a:solidFill>
              </a:rPr>
              <a:t>Myers, S. (1977).</a:t>
            </a:r>
            <a:r>
              <a:rPr lang="en">
                <a:solidFill>
                  <a:schemeClr val="dk1"/>
                </a:solidFill>
              </a:rPr>
              <a:t> </a:t>
            </a:r>
            <a:r>
              <a:rPr i="1" lang="en">
                <a:solidFill>
                  <a:schemeClr val="dk1"/>
                </a:solidFill>
              </a:rPr>
              <a:t>Determinants of Corporate Borrowing. </a:t>
            </a:r>
            <a:r>
              <a:rPr b="1" lang="en">
                <a:solidFill>
                  <a:schemeClr val="dk1"/>
                </a:solidFill>
              </a:rPr>
              <a:t>Journal of Financial Economics. </a:t>
            </a:r>
            <a:r>
              <a:rPr lang="en">
                <a:solidFill>
                  <a:schemeClr val="dk1"/>
                </a:solidFill>
              </a:rPr>
              <a:t> </a:t>
            </a:r>
            <a:r>
              <a:rPr lang="en" u="sng">
                <a:solidFill>
                  <a:schemeClr val="hlink"/>
                </a:solidFill>
                <a:hlinkClick r:id="rId6"/>
              </a:rPr>
              <a:t>https://doi.org/10.1016/0304-405X(77)90015-0</a:t>
            </a:r>
            <a:r>
              <a:rPr lang="en">
                <a:solidFill>
                  <a:schemeClr val="dk1"/>
                </a:solidFill>
              </a:rPr>
              <a:t> Shows that tangible assets support debt capacity and reduce distress risk.</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Both"/>
            </a:pPr>
            <a:r>
              <a:rPr b="1" lang="en">
                <a:solidFill>
                  <a:schemeClr val="dk1"/>
                </a:solidFill>
              </a:rPr>
              <a:t>Diamond, D. (1991).</a:t>
            </a:r>
            <a:r>
              <a:rPr lang="en">
                <a:solidFill>
                  <a:schemeClr val="dk1"/>
                </a:solidFill>
              </a:rPr>
              <a:t> </a:t>
            </a:r>
            <a:r>
              <a:rPr i="1" lang="en">
                <a:solidFill>
                  <a:schemeClr val="dk1"/>
                </a:solidFill>
              </a:rPr>
              <a:t>Debt Maturity Structure and Liquidity Risk. </a:t>
            </a:r>
            <a:r>
              <a:rPr b="1" lang="en">
                <a:solidFill>
                  <a:schemeClr val="dk1"/>
                </a:solidFill>
              </a:rPr>
              <a:t>Quarterly Journal of Economics. </a:t>
            </a:r>
            <a:r>
              <a:rPr lang="en">
                <a:solidFill>
                  <a:schemeClr val="dk1"/>
                </a:solidFill>
              </a:rPr>
              <a:t> </a:t>
            </a:r>
            <a:r>
              <a:rPr lang="en" u="sng">
                <a:solidFill>
                  <a:schemeClr val="hlink"/>
                </a:solidFill>
                <a:hlinkClick r:id="rId7"/>
              </a:rPr>
              <a:t>https://doi.org/10.2307/2937924</a:t>
            </a:r>
            <a:r>
              <a:rPr lang="en">
                <a:solidFill>
                  <a:schemeClr val="dk1"/>
                </a:solidFill>
              </a:rPr>
              <a:t>  Demonstrates how short-term debt increases rollover/refinancing risk, raising default probability.</a:t>
            </a:r>
            <a:br>
              <a:rPr lang="en">
                <a:solidFill>
                  <a:schemeClr val="dk1"/>
                </a:solidFill>
              </a:rPr>
            </a:b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6aa138d39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6aa138d39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6aa138d39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6aa138d39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a6aa138d39_1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a6aa138d39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a6aa138d39_2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a6aa138d39_2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6aa138d39_2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a6aa138d39_2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6aa138d39_1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6aa138d39_1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a6aa138d39_1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a6aa138d39_1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6aa138d39_1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a6aa138d39_1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6aa138d39_1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6aa138d39_1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6aa138d39_1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6aa138d39_1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a6aa138d39_1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a6aa138d39_1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6aa138d39_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a6aa138d39_1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a6aa138d39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a6aa138d39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6aa138d39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6aa138d39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arenBoth"/>
            </a:pPr>
            <a:r>
              <a:rPr i="1" lang="en">
                <a:solidFill>
                  <a:schemeClr val="dk1"/>
                </a:solidFill>
              </a:rPr>
              <a:t>(Source: Italian Business Register   italianbusinessregister.it/en/annual-accounts)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6aa138d39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6aa138d39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arenBoth"/>
            </a:pPr>
            <a:r>
              <a:rPr i="1" lang="en">
                <a:solidFill>
                  <a:schemeClr val="dk1"/>
                </a:solidFill>
              </a:rPr>
              <a:t>(Source: Italian Business Register   italianbusinessregister.it/en/annual-accounts)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6aa138d39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6aa138d39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db0f9523dd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db0f9523d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a6aa138d39_1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a6aa138d39_1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6aa138d39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a6aa138d39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arenBoth"/>
            </a:pPr>
            <a:r>
              <a:rPr i="1" lang="en">
                <a:solidFill>
                  <a:schemeClr val="dk1"/>
                </a:solidFill>
              </a:rPr>
              <a:t>(Source: Italian Business Register   italianbusinessregister.it/en/annual-accounts)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6aa138d39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a6aa138d39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a6aa138d39_2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a6aa138d39_2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6aa138d39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a6aa138d39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a6aa138d39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a6aa138d39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a6aa138d39_1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a6aa138d39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a6aa138d39_2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a6aa138d39_2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a6aa138d39_2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a6aa138d39_2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6aa138d39_2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6aa138d39_2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a6aa138d39_2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a6aa138d39_2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a6aa138d39_2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a6aa138d39_2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arenBoth"/>
            </a:pPr>
            <a:r>
              <a:rPr i="1" lang="en">
                <a:solidFill>
                  <a:schemeClr val="dk1"/>
                </a:solidFill>
              </a:rPr>
              <a:t>(Source: Italian Business Register   italianbusinessregister.it/en/annual-accounts)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a6aa138d39_2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a6aa138d39_2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arenBoth"/>
            </a:pPr>
            <a:r>
              <a:rPr i="1" lang="en">
                <a:solidFill>
                  <a:schemeClr val="dk1"/>
                </a:solidFill>
              </a:rPr>
              <a:t>(Source: Italian Business Register   italianbusinessregister.it/en/annual-accounts)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a6aa138d39_2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a6aa138d39_2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6aa138d39_2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a6aa138d39_2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a6aa138d39_2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a6aa138d39_2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db0f9523dd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db0f9523dd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554469" y="4438606"/>
            <a:ext cx="331056" cy="330997"/>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719100" y="539400"/>
            <a:ext cx="7705800" cy="4064700"/>
            <a:chOff x="719100" y="539400"/>
            <a:chExt cx="7705800" cy="4064700"/>
          </a:xfrm>
        </p:grpSpPr>
        <p:cxnSp>
          <p:nvCxnSpPr>
            <p:cNvPr id="11" name="Google Shape;11;p2"/>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13" name="Google Shape;13;p2"/>
          <p:cNvSpPr txBox="1"/>
          <p:nvPr>
            <p:ph type="ctrTitle"/>
          </p:nvPr>
        </p:nvSpPr>
        <p:spPr>
          <a:xfrm>
            <a:off x="1120175" y="951399"/>
            <a:ext cx="5874300" cy="2556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8500"/>
              <a:buNone/>
              <a:defRPr sz="72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4" name="Google Shape;14;p2"/>
          <p:cNvSpPr txBox="1"/>
          <p:nvPr>
            <p:ph idx="1" type="subTitle"/>
          </p:nvPr>
        </p:nvSpPr>
        <p:spPr>
          <a:xfrm>
            <a:off x="1237375" y="3620702"/>
            <a:ext cx="3969300" cy="3258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rot="54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085025" y="2155800"/>
            <a:ext cx="4050000" cy="1480200"/>
          </a:xfrm>
          <a:prstGeom prst="rect">
            <a:avLst/>
          </a:prstGeom>
        </p:spPr>
        <p:txBody>
          <a:bodyPr anchorCtr="0" anchor="b" bIns="91425" lIns="91425" spcFirstLastPara="1" rIns="91425" wrap="square" tIns="91425">
            <a:noAutofit/>
          </a:bodyPr>
          <a:lstStyle>
            <a:lvl1pPr lvl="0" algn="l">
              <a:spcBef>
                <a:spcPts val="0"/>
              </a:spcBef>
              <a:spcAft>
                <a:spcPts val="0"/>
              </a:spcAft>
              <a:buSzPts val="3600"/>
              <a:buNone/>
              <a:defRPr b="1" sz="4500">
                <a:latin typeface="Poppins"/>
                <a:ea typeface="Poppins"/>
                <a:cs typeface="Poppins"/>
                <a:sym typeface="Poppins"/>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hasCustomPrompt="1" idx="2" type="title"/>
          </p:nvPr>
        </p:nvSpPr>
        <p:spPr>
          <a:xfrm>
            <a:off x="4201400" y="1072275"/>
            <a:ext cx="977400" cy="9774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0000"/>
              <a:buNone/>
              <a:defRPr sz="50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9" name="Google Shape;19;p3"/>
          <p:cNvSpPr txBox="1"/>
          <p:nvPr>
            <p:ph idx="1" type="subTitle"/>
          </p:nvPr>
        </p:nvSpPr>
        <p:spPr>
          <a:xfrm>
            <a:off x="4085025" y="3742125"/>
            <a:ext cx="40500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nSpc>
                <a:spcPct val="100000"/>
              </a:lnSpc>
              <a:spcBef>
                <a:spcPts val="0"/>
              </a:spcBef>
              <a:spcAft>
                <a:spcPts val="0"/>
              </a:spcAft>
              <a:buSzPts val="1200"/>
              <a:buNone/>
              <a:defRPr sz="14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0" name="Google Shape;20;p3"/>
          <p:cNvSpPr/>
          <p:nvPr>
            <p:ph idx="3" type="pic"/>
          </p:nvPr>
        </p:nvSpPr>
        <p:spPr>
          <a:xfrm>
            <a:off x="1116290" y="947839"/>
            <a:ext cx="2381700" cy="3247800"/>
          </a:xfrm>
          <a:prstGeom prst="round2SameRect">
            <a:avLst>
              <a:gd fmla="val 50000" name="adj1"/>
              <a:gd fmla="val 0" name="adj2"/>
            </a:avLst>
          </a:prstGeom>
          <a:noFill/>
          <a:ln>
            <a:noFill/>
          </a:ln>
        </p:spPr>
      </p:sp>
      <p:cxnSp>
        <p:nvCxnSpPr>
          <p:cNvPr id="21" name="Google Shape;21;p3"/>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22" name="Google Shape;22;p3"/>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rot="5400000">
            <a:off x="8233251"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719100" y="539400"/>
            <a:ext cx="7705800" cy="4064700"/>
            <a:chOff x="719100" y="539400"/>
            <a:chExt cx="7705800" cy="4064700"/>
          </a:xfrm>
        </p:grpSpPr>
        <p:cxnSp>
          <p:nvCxnSpPr>
            <p:cNvPr id="26" name="Google Shape;26;p4"/>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27" name="Google Shape;27;p4"/>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28" name="Google Shape;28;p4"/>
          <p:cNvSpPr txBox="1"/>
          <p:nvPr>
            <p:ph type="title"/>
          </p:nvPr>
        </p:nvSpPr>
        <p:spPr>
          <a:xfrm>
            <a:off x="720000" y="53807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9" name="Google Shape;29;p4"/>
          <p:cNvSpPr txBox="1"/>
          <p:nvPr>
            <p:ph idx="1" type="body"/>
          </p:nvPr>
        </p:nvSpPr>
        <p:spPr>
          <a:xfrm>
            <a:off x="720000" y="1127000"/>
            <a:ext cx="7704000" cy="395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AutoNum type="arabicPeriod"/>
              <a:defRPr sz="1200"/>
            </a:lvl1pPr>
            <a:lvl2pPr indent="-304800" lvl="1" marL="914400" rtl="0">
              <a:spcBef>
                <a:spcPts val="0"/>
              </a:spcBef>
              <a:spcAft>
                <a:spcPts val="0"/>
              </a:spcAft>
              <a:buSzPts val="1200"/>
              <a:buFont typeface="Roboto Condensed Light"/>
              <a:buAutoNum type="alphaLcPeriod"/>
              <a:defRPr/>
            </a:lvl2pPr>
            <a:lvl3pPr indent="-304800" lvl="2" marL="1371600" rtl="0">
              <a:spcBef>
                <a:spcPts val="0"/>
              </a:spcBef>
              <a:spcAft>
                <a:spcPts val="0"/>
              </a:spcAft>
              <a:buSzPts val="1200"/>
              <a:buFont typeface="Roboto Condensed Light"/>
              <a:buAutoNum type="romanLcPeriod"/>
              <a:defRPr/>
            </a:lvl3pPr>
            <a:lvl4pPr indent="-304800" lvl="3" marL="1828800" rtl="0">
              <a:spcBef>
                <a:spcPts val="0"/>
              </a:spcBef>
              <a:spcAft>
                <a:spcPts val="0"/>
              </a:spcAft>
              <a:buSzPts val="1200"/>
              <a:buFont typeface="Roboto Condensed Light"/>
              <a:buAutoNum type="arabicPeriod"/>
              <a:defRPr/>
            </a:lvl4pPr>
            <a:lvl5pPr indent="-304800" lvl="4" marL="2286000" rtl="0">
              <a:spcBef>
                <a:spcPts val="0"/>
              </a:spcBef>
              <a:spcAft>
                <a:spcPts val="0"/>
              </a:spcAft>
              <a:buSzPts val="1200"/>
              <a:buFont typeface="Roboto Condensed Light"/>
              <a:buAutoNum type="alphaLcPeriod"/>
              <a:defRPr/>
            </a:lvl5pPr>
            <a:lvl6pPr indent="-304800" lvl="5" marL="2743200" rtl="0">
              <a:spcBef>
                <a:spcPts val="0"/>
              </a:spcBef>
              <a:spcAft>
                <a:spcPts val="0"/>
              </a:spcAft>
              <a:buSzPts val="1200"/>
              <a:buFont typeface="Roboto Condensed Light"/>
              <a:buAutoNum type="romanLcPeriod"/>
              <a:defRPr/>
            </a:lvl6pPr>
            <a:lvl7pPr indent="-304800" lvl="6" marL="3200400" rtl="0">
              <a:spcBef>
                <a:spcPts val="0"/>
              </a:spcBef>
              <a:spcAft>
                <a:spcPts val="0"/>
              </a:spcAft>
              <a:buSzPts val="1200"/>
              <a:buFont typeface="Roboto Condensed Light"/>
              <a:buAutoNum type="arabicPeriod"/>
              <a:defRPr/>
            </a:lvl7pPr>
            <a:lvl8pPr indent="-304800" lvl="7" marL="3657600" rtl="0">
              <a:spcBef>
                <a:spcPts val="0"/>
              </a:spcBef>
              <a:spcAft>
                <a:spcPts val="0"/>
              </a:spcAft>
              <a:buSzPts val="1200"/>
              <a:buFont typeface="Roboto Condensed Light"/>
              <a:buAutoNum type="alphaLcPeriod"/>
              <a:defRPr/>
            </a:lvl8pPr>
            <a:lvl9pPr indent="-304800" lvl="8" marL="4114800" rtl="0">
              <a:spcBef>
                <a:spcPts val="0"/>
              </a:spcBef>
              <a:spcAft>
                <a:spcPts val="0"/>
              </a:spcAft>
              <a:buSzPts val="1200"/>
              <a:buFont typeface="Roboto Condensed Light"/>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rot="108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720000" y="539400"/>
            <a:ext cx="7704000" cy="51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2" type="title"/>
          </p:nvPr>
        </p:nvSpPr>
        <p:spPr>
          <a:xfrm>
            <a:off x="720000" y="1801575"/>
            <a:ext cx="3522300" cy="3936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800"/>
              <a:buNone/>
              <a:defRPr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4" name="Google Shape;34;p5"/>
          <p:cNvSpPr txBox="1"/>
          <p:nvPr>
            <p:ph idx="3" type="title"/>
          </p:nvPr>
        </p:nvSpPr>
        <p:spPr>
          <a:xfrm>
            <a:off x="4901688" y="1801575"/>
            <a:ext cx="35223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5" name="Google Shape;35;p5"/>
          <p:cNvSpPr txBox="1"/>
          <p:nvPr>
            <p:ph idx="1" type="subTitle"/>
          </p:nvPr>
        </p:nvSpPr>
        <p:spPr>
          <a:xfrm>
            <a:off x="720000" y="2195175"/>
            <a:ext cx="3522300" cy="19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Arial"/>
              <a:buChar char="•"/>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36" name="Google Shape;36;p5"/>
          <p:cNvSpPr txBox="1"/>
          <p:nvPr>
            <p:ph idx="4" type="subTitle"/>
          </p:nvPr>
        </p:nvSpPr>
        <p:spPr>
          <a:xfrm>
            <a:off x="4901700" y="2195175"/>
            <a:ext cx="3522300" cy="19563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Arial"/>
              <a:buChar char="•"/>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grpSp>
        <p:nvGrpSpPr>
          <p:cNvPr id="37" name="Google Shape;37;p5"/>
          <p:cNvGrpSpPr/>
          <p:nvPr/>
        </p:nvGrpSpPr>
        <p:grpSpPr>
          <a:xfrm>
            <a:off x="719100" y="539400"/>
            <a:ext cx="7705800" cy="4064700"/>
            <a:chOff x="719100" y="539400"/>
            <a:chExt cx="7705800" cy="4064700"/>
          </a:xfrm>
        </p:grpSpPr>
        <p:cxnSp>
          <p:nvCxnSpPr>
            <p:cNvPr id="38" name="Google Shape;38;p5"/>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39" name="Google Shape;39;p5"/>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flipH="1">
            <a:off x="8233251"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719100" y="539400"/>
            <a:ext cx="7705800" cy="4064700"/>
            <a:chOff x="719100" y="539400"/>
            <a:chExt cx="7705800" cy="4064700"/>
          </a:xfrm>
        </p:grpSpPr>
        <p:cxnSp>
          <p:nvCxnSpPr>
            <p:cNvPr id="43" name="Google Shape;43;p6"/>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44" name="Google Shape;44;p6"/>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45" name="Google Shape;45;p6"/>
          <p:cNvSpPr txBox="1"/>
          <p:nvPr>
            <p:ph type="title"/>
          </p:nvPr>
        </p:nvSpPr>
        <p:spPr>
          <a:xfrm>
            <a:off x="720000" y="539400"/>
            <a:ext cx="7704000" cy="51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p:nvPr/>
        </p:nvSpPr>
        <p:spPr>
          <a:xfrm flipH="1"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txBox="1"/>
          <p:nvPr>
            <p:ph type="title"/>
          </p:nvPr>
        </p:nvSpPr>
        <p:spPr>
          <a:xfrm>
            <a:off x="1302700" y="1389775"/>
            <a:ext cx="5490000" cy="1322700"/>
          </a:xfrm>
          <a:prstGeom prst="rect">
            <a:avLst/>
          </a:prstGeom>
        </p:spPr>
        <p:txBody>
          <a:bodyPr anchorCtr="0" anchor="b" bIns="91425" lIns="91425" spcFirstLastPara="1" rIns="91425" wrap="square" tIns="91425">
            <a:noAutofit/>
          </a:bodyPr>
          <a:lstStyle>
            <a:lvl1pPr lvl="0" algn="l">
              <a:spcBef>
                <a:spcPts val="0"/>
              </a:spcBef>
              <a:spcAft>
                <a:spcPts val="0"/>
              </a:spcAft>
              <a:buClr>
                <a:schemeClr val="lt1"/>
              </a:buClr>
              <a:buSzPts val="2400"/>
              <a:buNone/>
              <a:defRPr b="1" sz="4000">
                <a:latin typeface="Poppins"/>
                <a:ea typeface="Poppins"/>
                <a:cs typeface="Poppins"/>
                <a:sym typeface="Poppins"/>
              </a:defRPr>
            </a:lvl1pPr>
            <a:lvl2pPr lvl="1">
              <a:spcBef>
                <a:spcPts val="0"/>
              </a:spcBef>
              <a:spcAft>
                <a:spcPts val="0"/>
              </a:spcAft>
              <a:buClr>
                <a:schemeClr val="lt1"/>
              </a:buClr>
              <a:buSzPts val="2400"/>
              <a:buNone/>
              <a:defRPr sz="2400">
                <a:solidFill>
                  <a:schemeClr val="lt1"/>
                </a:solidFill>
              </a:defRPr>
            </a:lvl2pPr>
            <a:lvl3pPr lvl="2">
              <a:spcBef>
                <a:spcPts val="0"/>
              </a:spcBef>
              <a:spcAft>
                <a:spcPts val="0"/>
              </a:spcAft>
              <a:buClr>
                <a:schemeClr val="lt1"/>
              </a:buClr>
              <a:buSzPts val="2400"/>
              <a:buNone/>
              <a:defRPr sz="2400">
                <a:solidFill>
                  <a:schemeClr val="lt1"/>
                </a:solidFill>
              </a:defRPr>
            </a:lvl3pPr>
            <a:lvl4pPr lvl="3">
              <a:spcBef>
                <a:spcPts val="0"/>
              </a:spcBef>
              <a:spcAft>
                <a:spcPts val="0"/>
              </a:spcAft>
              <a:buClr>
                <a:schemeClr val="lt1"/>
              </a:buClr>
              <a:buSzPts val="2400"/>
              <a:buNone/>
              <a:defRPr sz="2400">
                <a:solidFill>
                  <a:schemeClr val="lt1"/>
                </a:solidFill>
              </a:defRPr>
            </a:lvl4pPr>
            <a:lvl5pPr lvl="4">
              <a:spcBef>
                <a:spcPts val="0"/>
              </a:spcBef>
              <a:spcAft>
                <a:spcPts val="0"/>
              </a:spcAft>
              <a:buClr>
                <a:schemeClr val="lt1"/>
              </a:buClr>
              <a:buSzPts val="2400"/>
              <a:buNone/>
              <a:defRPr sz="2400">
                <a:solidFill>
                  <a:schemeClr val="lt1"/>
                </a:solidFill>
              </a:defRPr>
            </a:lvl5pPr>
            <a:lvl6pPr lvl="5">
              <a:spcBef>
                <a:spcPts val="0"/>
              </a:spcBef>
              <a:spcAft>
                <a:spcPts val="0"/>
              </a:spcAft>
              <a:buClr>
                <a:schemeClr val="lt1"/>
              </a:buClr>
              <a:buSzPts val="2400"/>
              <a:buNone/>
              <a:defRPr sz="2400">
                <a:solidFill>
                  <a:schemeClr val="lt1"/>
                </a:solidFill>
              </a:defRPr>
            </a:lvl6pPr>
            <a:lvl7pPr lvl="6">
              <a:spcBef>
                <a:spcPts val="0"/>
              </a:spcBef>
              <a:spcAft>
                <a:spcPts val="0"/>
              </a:spcAft>
              <a:buClr>
                <a:schemeClr val="lt1"/>
              </a:buClr>
              <a:buSzPts val="2400"/>
              <a:buNone/>
              <a:defRPr sz="2400">
                <a:solidFill>
                  <a:schemeClr val="lt1"/>
                </a:solidFill>
              </a:defRPr>
            </a:lvl7pPr>
            <a:lvl8pPr lvl="7">
              <a:spcBef>
                <a:spcPts val="0"/>
              </a:spcBef>
              <a:spcAft>
                <a:spcPts val="0"/>
              </a:spcAft>
              <a:buClr>
                <a:schemeClr val="lt1"/>
              </a:buClr>
              <a:buSzPts val="2400"/>
              <a:buNone/>
              <a:defRPr sz="2400">
                <a:solidFill>
                  <a:schemeClr val="lt1"/>
                </a:solidFill>
              </a:defRPr>
            </a:lvl8pPr>
            <a:lvl9pPr lvl="8">
              <a:spcBef>
                <a:spcPts val="0"/>
              </a:spcBef>
              <a:spcAft>
                <a:spcPts val="0"/>
              </a:spcAft>
              <a:buClr>
                <a:schemeClr val="lt1"/>
              </a:buClr>
              <a:buSzPts val="2400"/>
              <a:buNone/>
              <a:defRPr sz="2400">
                <a:solidFill>
                  <a:schemeClr val="lt1"/>
                </a:solidFill>
              </a:defRPr>
            </a:lvl9pPr>
          </a:lstStyle>
          <a:p/>
        </p:txBody>
      </p:sp>
      <p:sp>
        <p:nvSpPr>
          <p:cNvPr id="49" name="Google Shape;49;p7"/>
          <p:cNvSpPr txBox="1"/>
          <p:nvPr>
            <p:ph idx="1" type="subTitle"/>
          </p:nvPr>
        </p:nvSpPr>
        <p:spPr>
          <a:xfrm>
            <a:off x="1302700" y="2793725"/>
            <a:ext cx="5490000" cy="868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200"/>
              <a:buNone/>
              <a:defRPr sz="1400"/>
            </a:lvl1pPr>
            <a:lvl2pPr lvl="1">
              <a:spcBef>
                <a:spcPts val="0"/>
              </a:spcBef>
              <a:spcAft>
                <a:spcPts val="0"/>
              </a:spcAft>
              <a:buClr>
                <a:schemeClr val="lt1"/>
              </a:buClr>
              <a:buSzPts val="1200"/>
              <a:buNone/>
              <a:defRPr>
                <a:solidFill>
                  <a:schemeClr val="lt1"/>
                </a:solidFill>
              </a:defRPr>
            </a:lvl2pPr>
            <a:lvl3pPr lvl="2">
              <a:spcBef>
                <a:spcPts val="0"/>
              </a:spcBef>
              <a:spcAft>
                <a:spcPts val="0"/>
              </a:spcAft>
              <a:buClr>
                <a:schemeClr val="lt1"/>
              </a:buClr>
              <a:buSzPts val="1200"/>
              <a:buNone/>
              <a:defRPr>
                <a:solidFill>
                  <a:schemeClr val="lt1"/>
                </a:solidFill>
              </a:defRPr>
            </a:lvl3pPr>
            <a:lvl4pPr lvl="3">
              <a:spcBef>
                <a:spcPts val="0"/>
              </a:spcBef>
              <a:spcAft>
                <a:spcPts val="0"/>
              </a:spcAft>
              <a:buClr>
                <a:schemeClr val="lt1"/>
              </a:buClr>
              <a:buSzPts val="1200"/>
              <a:buNone/>
              <a:defRPr>
                <a:solidFill>
                  <a:schemeClr val="lt1"/>
                </a:solidFill>
              </a:defRPr>
            </a:lvl4pPr>
            <a:lvl5pPr lvl="4">
              <a:spcBef>
                <a:spcPts val="0"/>
              </a:spcBef>
              <a:spcAft>
                <a:spcPts val="0"/>
              </a:spcAft>
              <a:buClr>
                <a:schemeClr val="lt1"/>
              </a:buClr>
              <a:buSzPts val="1200"/>
              <a:buNone/>
              <a:defRPr>
                <a:solidFill>
                  <a:schemeClr val="lt1"/>
                </a:solidFill>
              </a:defRPr>
            </a:lvl5pPr>
            <a:lvl6pPr lvl="5">
              <a:spcBef>
                <a:spcPts val="0"/>
              </a:spcBef>
              <a:spcAft>
                <a:spcPts val="0"/>
              </a:spcAft>
              <a:buClr>
                <a:schemeClr val="lt1"/>
              </a:buClr>
              <a:buSzPts val="1200"/>
              <a:buNone/>
              <a:defRPr>
                <a:solidFill>
                  <a:schemeClr val="lt1"/>
                </a:solidFill>
              </a:defRPr>
            </a:lvl6pPr>
            <a:lvl7pPr lvl="6">
              <a:spcBef>
                <a:spcPts val="0"/>
              </a:spcBef>
              <a:spcAft>
                <a:spcPts val="0"/>
              </a:spcAft>
              <a:buClr>
                <a:schemeClr val="lt1"/>
              </a:buClr>
              <a:buSzPts val="1200"/>
              <a:buNone/>
              <a:defRPr>
                <a:solidFill>
                  <a:schemeClr val="lt1"/>
                </a:solidFill>
              </a:defRPr>
            </a:lvl7pPr>
            <a:lvl8pPr lvl="7">
              <a:spcBef>
                <a:spcPts val="0"/>
              </a:spcBef>
              <a:spcAft>
                <a:spcPts val="0"/>
              </a:spcAft>
              <a:buClr>
                <a:schemeClr val="lt1"/>
              </a:buClr>
              <a:buSzPts val="1200"/>
              <a:buNone/>
              <a:defRPr>
                <a:solidFill>
                  <a:schemeClr val="lt1"/>
                </a:solidFill>
              </a:defRPr>
            </a:lvl8pPr>
            <a:lvl9pPr lvl="8">
              <a:spcBef>
                <a:spcPts val="0"/>
              </a:spcBef>
              <a:spcAft>
                <a:spcPts val="0"/>
              </a:spcAft>
              <a:buClr>
                <a:schemeClr val="lt1"/>
              </a:buClr>
              <a:buSzPts val="1200"/>
              <a:buNone/>
              <a:defRPr>
                <a:solidFill>
                  <a:schemeClr val="lt1"/>
                </a:solidFill>
              </a:defRPr>
            </a:lvl9pPr>
          </a:lstStyle>
          <a:p/>
        </p:txBody>
      </p:sp>
      <p:grpSp>
        <p:nvGrpSpPr>
          <p:cNvPr id="50" name="Google Shape;50;p7"/>
          <p:cNvGrpSpPr/>
          <p:nvPr/>
        </p:nvGrpSpPr>
        <p:grpSpPr>
          <a:xfrm>
            <a:off x="719100" y="539400"/>
            <a:ext cx="7705800" cy="4064700"/>
            <a:chOff x="719100" y="539400"/>
            <a:chExt cx="7705800" cy="4064700"/>
          </a:xfrm>
        </p:grpSpPr>
        <p:cxnSp>
          <p:nvCxnSpPr>
            <p:cNvPr id="51" name="Google Shape;51;p7"/>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52" name="Google Shape;52;p7"/>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53" name="Google Shape;53;p7"/>
          <p:cNvSpPr/>
          <p:nvPr/>
        </p:nvSpPr>
        <p:spPr>
          <a:xfrm rot="5400000">
            <a:off x="8020160" y="204135"/>
            <a:ext cx="670627" cy="670508"/>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p:nvPr/>
        </p:nvSpPr>
        <p:spPr>
          <a:xfrm rot="108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8"/>
          <p:cNvGrpSpPr/>
          <p:nvPr/>
        </p:nvGrpSpPr>
        <p:grpSpPr>
          <a:xfrm>
            <a:off x="719100" y="539400"/>
            <a:ext cx="7705800" cy="4064700"/>
            <a:chOff x="719100" y="539400"/>
            <a:chExt cx="7705800" cy="4064700"/>
          </a:xfrm>
        </p:grpSpPr>
        <p:cxnSp>
          <p:nvCxnSpPr>
            <p:cNvPr id="57" name="Google Shape;57;p8"/>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58" name="Google Shape;58;p8"/>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59" name="Google Shape;59;p8"/>
          <p:cNvSpPr txBox="1"/>
          <p:nvPr>
            <p:ph type="title"/>
          </p:nvPr>
        </p:nvSpPr>
        <p:spPr>
          <a:xfrm>
            <a:off x="3270000" y="1517550"/>
            <a:ext cx="5154000" cy="2108400"/>
          </a:xfrm>
          <a:prstGeom prst="rect">
            <a:avLst/>
          </a:prstGeom>
        </p:spPr>
        <p:txBody>
          <a:bodyPr anchorCtr="0" anchor="ctr" bIns="91425" lIns="91425" spcFirstLastPara="1" rIns="91425" wrap="square" tIns="91425">
            <a:noAutofit/>
          </a:bodyPr>
          <a:lstStyle>
            <a:lvl1pPr lvl="0" algn="l">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9"/>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txBox="1"/>
          <p:nvPr>
            <p:ph idx="1" type="body"/>
          </p:nvPr>
        </p:nvSpPr>
        <p:spPr>
          <a:xfrm>
            <a:off x="720000" y="1570575"/>
            <a:ext cx="4047000" cy="2186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rgbClr val="999999"/>
              </a:buClr>
              <a:buSzPts val="800"/>
              <a:buFont typeface="Open Sans"/>
              <a:buChar char="-"/>
              <a:defRPr/>
            </a:lvl1pPr>
            <a:lvl2pPr indent="-279400" lvl="1" marL="914400">
              <a:spcBef>
                <a:spcPts val="0"/>
              </a:spcBef>
              <a:spcAft>
                <a:spcPts val="0"/>
              </a:spcAft>
              <a:buClr>
                <a:srgbClr val="999999"/>
              </a:buClr>
              <a:buSzPts val="800"/>
              <a:buFont typeface="Open Sans"/>
              <a:buChar char="○"/>
              <a:defRPr/>
            </a:lvl2pPr>
            <a:lvl3pPr indent="-279400" lvl="2" marL="1371600">
              <a:spcBef>
                <a:spcPts val="0"/>
              </a:spcBef>
              <a:spcAft>
                <a:spcPts val="0"/>
              </a:spcAft>
              <a:buClr>
                <a:srgbClr val="999999"/>
              </a:buClr>
              <a:buSzPts val="800"/>
              <a:buFont typeface="Open Sans"/>
              <a:buChar char="■"/>
              <a:defRPr/>
            </a:lvl3pPr>
            <a:lvl4pPr indent="-279400" lvl="3" marL="1828800">
              <a:spcBef>
                <a:spcPts val="0"/>
              </a:spcBef>
              <a:spcAft>
                <a:spcPts val="0"/>
              </a:spcAft>
              <a:buClr>
                <a:srgbClr val="999999"/>
              </a:buClr>
              <a:buSzPts val="800"/>
              <a:buFont typeface="Open Sans"/>
              <a:buChar char="●"/>
              <a:defRPr/>
            </a:lvl4pPr>
            <a:lvl5pPr indent="-304800" lvl="4" marL="2286000">
              <a:spcBef>
                <a:spcPts val="0"/>
              </a:spcBef>
              <a:spcAft>
                <a:spcPts val="0"/>
              </a:spcAft>
              <a:buClr>
                <a:srgbClr val="999999"/>
              </a:buClr>
              <a:buSzPts val="1200"/>
              <a:buFont typeface="Open Sans"/>
              <a:buChar char="○"/>
              <a:defRPr/>
            </a:lvl5pPr>
            <a:lvl6pPr indent="-304800" lvl="5" marL="2743200">
              <a:spcBef>
                <a:spcPts val="0"/>
              </a:spcBef>
              <a:spcAft>
                <a:spcPts val="0"/>
              </a:spcAft>
              <a:buClr>
                <a:srgbClr val="999999"/>
              </a:buClr>
              <a:buSzPts val="1200"/>
              <a:buFont typeface="Open Sans"/>
              <a:buChar char="■"/>
              <a:defRPr/>
            </a:lvl6pPr>
            <a:lvl7pPr indent="-273050" lvl="6" marL="3200400">
              <a:spcBef>
                <a:spcPts val="0"/>
              </a:spcBef>
              <a:spcAft>
                <a:spcPts val="0"/>
              </a:spcAft>
              <a:buClr>
                <a:srgbClr val="999999"/>
              </a:buClr>
              <a:buSzPts val="700"/>
              <a:buFont typeface="Open Sans"/>
              <a:buChar char="●"/>
              <a:defRPr/>
            </a:lvl7pPr>
            <a:lvl8pPr indent="-273050" lvl="7" marL="3657600">
              <a:spcBef>
                <a:spcPts val="0"/>
              </a:spcBef>
              <a:spcAft>
                <a:spcPts val="0"/>
              </a:spcAft>
              <a:buClr>
                <a:srgbClr val="999999"/>
              </a:buClr>
              <a:buSzPts val="700"/>
              <a:buFont typeface="Open Sans"/>
              <a:buChar char="○"/>
              <a:defRPr/>
            </a:lvl8pPr>
            <a:lvl9pPr indent="-266700" lvl="8" marL="4114800">
              <a:spcBef>
                <a:spcPts val="0"/>
              </a:spcBef>
              <a:spcAft>
                <a:spcPts val="0"/>
              </a:spcAft>
              <a:buClr>
                <a:srgbClr val="999999"/>
              </a:buClr>
              <a:buSzPts val="600"/>
              <a:buFont typeface="Open Sans"/>
              <a:buChar char="■"/>
              <a:defRPr/>
            </a:lvl9pPr>
          </a:lstStyle>
          <a:p/>
        </p:txBody>
      </p:sp>
      <p:sp>
        <p:nvSpPr>
          <p:cNvPr id="63" name="Google Shape;63;p9"/>
          <p:cNvSpPr txBox="1"/>
          <p:nvPr>
            <p:ph type="title"/>
          </p:nvPr>
        </p:nvSpPr>
        <p:spPr>
          <a:xfrm>
            <a:off x="720000" y="539400"/>
            <a:ext cx="7704000" cy="51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64" name="Google Shape;64;p9"/>
          <p:cNvGrpSpPr/>
          <p:nvPr/>
        </p:nvGrpSpPr>
        <p:grpSpPr>
          <a:xfrm>
            <a:off x="719100" y="539400"/>
            <a:ext cx="7705800" cy="4064700"/>
            <a:chOff x="719100" y="539400"/>
            <a:chExt cx="7705800" cy="4064700"/>
          </a:xfrm>
        </p:grpSpPr>
        <p:cxnSp>
          <p:nvCxnSpPr>
            <p:cNvPr id="65" name="Google Shape;65;p9"/>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66" name="Google Shape;66;p9"/>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p10"/>
          <p:cNvSpPr/>
          <p:nvPr>
            <p:ph idx="2" type="pic"/>
          </p:nvPr>
        </p:nvSpPr>
        <p:spPr>
          <a:xfrm>
            <a:off x="-25" y="0"/>
            <a:ext cx="9144000" cy="5143500"/>
          </a:xfrm>
          <a:prstGeom prst="rect">
            <a:avLst/>
          </a:prstGeom>
          <a:noFill/>
          <a:ln>
            <a:noFill/>
          </a:ln>
        </p:spPr>
      </p:sp>
      <p:sp>
        <p:nvSpPr>
          <p:cNvPr id="69" name="Google Shape;69;p10"/>
          <p:cNvSpPr txBox="1"/>
          <p:nvPr>
            <p:ph idx="1" type="body"/>
          </p:nvPr>
        </p:nvSpPr>
        <p:spPr>
          <a:xfrm>
            <a:off x="1150150" y="3999000"/>
            <a:ext cx="6843600" cy="605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00"/>
              <a:buFont typeface="Poppins SemiBold"/>
              <a:buNone/>
              <a:defRPr sz="2500">
                <a:latin typeface="Poppins SemiBold"/>
                <a:ea typeface="Poppins SemiBold"/>
                <a:cs typeface="Poppins SemiBold"/>
                <a:sym typeface="Poppins SemiBold"/>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p11"/>
          <p:cNvSpPr/>
          <p:nvPr/>
        </p:nvSpPr>
        <p:spPr>
          <a:xfrm rot="-5400000">
            <a:off x="529251" y="3819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2" name="Google Shape;72;p11"/>
          <p:cNvSpPr txBox="1"/>
          <p:nvPr>
            <p:ph hasCustomPrompt="1" type="title"/>
          </p:nvPr>
        </p:nvSpPr>
        <p:spPr>
          <a:xfrm>
            <a:off x="720000" y="1721075"/>
            <a:ext cx="5253000" cy="1372200"/>
          </a:xfrm>
          <a:prstGeom prst="rect">
            <a:avLst/>
          </a:prstGeom>
        </p:spPr>
        <p:txBody>
          <a:bodyPr anchorCtr="0" anchor="b" bIns="91425" lIns="91425" spcFirstLastPara="1" rIns="91425" wrap="square" tIns="91425">
            <a:noAutofit/>
          </a:bodyPr>
          <a:lstStyle>
            <a:lvl1pPr lvl="0" algn="ctr">
              <a:spcBef>
                <a:spcPts val="0"/>
              </a:spcBef>
              <a:spcAft>
                <a:spcPts val="0"/>
              </a:spcAft>
              <a:buSzPts val="10000"/>
              <a:buNone/>
              <a:defRPr sz="72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73" name="Google Shape;73;p11"/>
          <p:cNvSpPr txBox="1"/>
          <p:nvPr>
            <p:ph idx="1" type="subTitle"/>
          </p:nvPr>
        </p:nvSpPr>
        <p:spPr>
          <a:xfrm>
            <a:off x="720000" y="3093325"/>
            <a:ext cx="52530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1200"/>
              <a:buNone/>
              <a:defRPr sz="1400"/>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grpSp>
        <p:nvGrpSpPr>
          <p:cNvPr id="74" name="Google Shape;74;p11"/>
          <p:cNvGrpSpPr/>
          <p:nvPr/>
        </p:nvGrpSpPr>
        <p:grpSpPr>
          <a:xfrm>
            <a:off x="719100" y="539400"/>
            <a:ext cx="7705800" cy="4064700"/>
            <a:chOff x="719100" y="539400"/>
            <a:chExt cx="7705800" cy="4064700"/>
          </a:xfrm>
        </p:grpSpPr>
        <p:cxnSp>
          <p:nvCxnSpPr>
            <p:cNvPr id="75" name="Google Shape;75;p11"/>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76" name="Google Shape;76;p11"/>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grpSp>
        <p:nvGrpSpPr>
          <p:cNvPr id="77" name="Google Shape;77;p11"/>
          <p:cNvGrpSpPr/>
          <p:nvPr/>
        </p:nvGrpSpPr>
        <p:grpSpPr>
          <a:xfrm flipH="1" rot="-5400000">
            <a:off x="6513141" y="2883266"/>
            <a:ext cx="1743359" cy="2853115"/>
            <a:chOff x="7400641" y="0"/>
            <a:chExt cx="1743359" cy="2853115"/>
          </a:xfrm>
        </p:grpSpPr>
        <p:sp>
          <p:nvSpPr>
            <p:cNvPr id="78" name="Google Shape;78;p11"/>
            <p:cNvSpPr/>
            <p:nvPr/>
          </p:nvSpPr>
          <p:spPr>
            <a:xfrm rot="5400000">
              <a:off x="7400641" y="1109756"/>
              <a:ext cx="1743359" cy="1743359"/>
            </a:xfrm>
            <a:custGeom>
              <a:rect b="b" l="l" r="r" t="t"/>
              <a:pathLst>
                <a:path extrusionOk="0" h="23818" w="23818">
                  <a:moveTo>
                    <a:pt x="0" y="1"/>
                  </a:moveTo>
                  <a:lnTo>
                    <a:pt x="0" y="23817"/>
                  </a:lnTo>
                  <a:cubicBezTo>
                    <a:pt x="13155" y="23817"/>
                    <a:pt x="23817" y="13155"/>
                    <a:pt x="23817" y="1"/>
                  </a:cubicBezTo>
                  <a:close/>
                </a:path>
              </a:pathLst>
            </a:custGeom>
            <a:gradFill>
              <a:gsLst>
                <a:gs pos="0">
                  <a:srgbClr val="174B67">
                    <a:alpha val="34901"/>
                  </a:srgbClr>
                </a:gs>
                <a:gs pos="100000">
                  <a:srgbClr val="174B67">
                    <a:alpha val="5882"/>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p:nvPr/>
          </p:nvSpPr>
          <p:spPr>
            <a:xfrm rot="5400000">
              <a:off x="8034154" y="1109707"/>
              <a:ext cx="1109800" cy="1109893"/>
            </a:xfrm>
            <a:custGeom>
              <a:rect b="b" l="l" r="r" t="t"/>
              <a:pathLst>
                <a:path extrusionOk="0" h="11910" w="11909">
                  <a:moveTo>
                    <a:pt x="0" y="1"/>
                  </a:moveTo>
                  <a:lnTo>
                    <a:pt x="0" y="11909"/>
                  </a:lnTo>
                  <a:cubicBezTo>
                    <a:pt x="6581" y="11909"/>
                    <a:pt x="11909" y="6581"/>
                    <a:pt x="11909" y="1"/>
                  </a:cubicBezTo>
                  <a:close/>
                </a:path>
              </a:pathLst>
            </a:custGeom>
            <a:gradFill>
              <a:gsLst>
                <a:gs pos="0">
                  <a:srgbClr val="174B67">
                    <a:alpha val="14901"/>
                    <a:alpha val="15000"/>
                  </a:srgbClr>
                </a:gs>
                <a:gs pos="100000">
                  <a:srgbClr val="174B67">
                    <a:alpha val="30196"/>
                    <a:alpha val="15000"/>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rot="5400000">
              <a:off x="8034154" y="-47"/>
              <a:ext cx="1109800" cy="1109893"/>
            </a:xfrm>
            <a:custGeom>
              <a:rect b="b" l="l" r="r" t="t"/>
              <a:pathLst>
                <a:path extrusionOk="0" h="11910" w="11909">
                  <a:moveTo>
                    <a:pt x="0" y="1"/>
                  </a:moveTo>
                  <a:cubicBezTo>
                    <a:pt x="0" y="6581"/>
                    <a:pt x="5334" y="11909"/>
                    <a:pt x="11908" y="11909"/>
                  </a:cubicBezTo>
                  <a:lnTo>
                    <a:pt x="11908" y="1"/>
                  </a:lnTo>
                  <a:close/>
                </a:path>
              </a:pathLst>
            </a:custGeom>
            <a:gradFill>
              <a:gsLst>
                <a:gs pos="0">
                  <a:srgbClr val="293F5D">
                    <a:alpha val="20000"/>
                  </a:srgbClr>
                </a:gs>
                <a:gs pos="100000">
                  <a:srgbClr val="4B4F73">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1"/>
        </a:solidFill>
      </p:bgPr>
    </p:bg>
    <p:spTree>
      <p:nvGrpSpPr>
        <p:cNvPr id="81" name="Shape 8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82" name="Shape 82"/>
        <p:cNvGrpSpPr/>
        <p:nvPr/>
      </p:nvGrpSpPr>
      <p:grpSpPr>
        <a:xfrm>
          <a:off x="0" y="0"/>
          <a:ext cx="0" cy="0"/>
          <a:chOff x="0" y="0"/>
          <a:chExt cx="0" cy="0"/>
        </a:xfrm>
      </p:grpSpPr>
      <p:sp>
        <p:nvSpPr>
          <p:cNvPr id="83" name="Google Shape;83;p13"/>
          <p:cNvSpPr/>
          <p:nvPr/>
        </p:nvSpPr>
        <p:spPr>
          <a:xfrm>
            <a:off x="8233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13"/>
          <p:cNvGrpSpPr/>
          <p:nvPr/>
        </p:nvGrpSpPr>
        <p:grpSpPr>
          <a:xfrm>
            <a:off x="719100" y="539400"/>
            <a:ext cx="7705800" cy="4064700"/>
            <a:chOff x="719100" y="539400"/>
            <a:chExt cx="7705800" cy="4064700"/>
          </a:xfrm>
        </p:grpSpPr>
        <p:cxnSp>
          <p:nvCxnSpPr>
            <p:cNvPr id="85" name="Google Shape;85;p13"/>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86" name="Google Shape;86;p13"/>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87" name="Google Shape;87;p13"/>
          <p:cNvSpPr txBox="1"/>
          <p:nvPr>
            <p:ph type="title"/>
          </p:nvPr>
        </p:nvSpPr>
        <p:spPr>
          <a:xfrm>
            <a:off x="720000" y="539400"/>
            <a:ext cx="7704000" cy="51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8" name="Google Shape;88;p13"/>
          <p:cNvSpPr txBox="1"/>
          <p:nvPr>
            <p:ph idx="2" type="title"/>
          </p:nvPr>
        </p:nvSpPr>
        <p:spPr>
          <a:xfrm>
            <a:off x="853112" y="2164725"/>
            <a:ext cx="3292800" cy="396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9" name="Google Shape;89;p13"/>
          <p:cNvSpPr txBox="1"/>
          <p:nvPr>
            <p:ph idx="3" type="title"/>
          </p:nvPr>
        </p:nvSpPr>
        <p:spPr>
          <a:xfrm>
            <a:off x="4999514" y="2164725"/>
            <a:ext cx="3292800" cy="396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0" name="Google Shape;90;p13"/>
          <p:cNvSpPr txBox="1"/>
          <p:nvPr>
            <p:ph idx="1" type="subTitle"/>
          </p:nvPr>
        </p:nvSpPr>
        <p:spPr>
          <a:xfrm>
            <a:off x="853112" y="2484449"/>
            <a:ext cx="3292800" cy="34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1" name="Google Shape;91;p13"/>
          <p:cNvSpPr txBox="1"/>
          <p:nvPr>
            <p:ph idx="4" type="subTitle"/>
          </p:nvPr>
        </p:nvSpPr>
        <p:spPr>
          <a:xfrm>
            <a:off x="4999514" y="2484474"/>
            <a:ext cx="3292800" cy="34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2" name="Google Shape;92;p13"/>
          <p:cNvSpPr txBox="1"/>
          <p:nvPr>
            <p:ph idx="5" type="title"/>
          </p:nvPr>
        </p:nvSpPr>
        <p:spPr>
          <a:xfrm>
            <a:off x="851688" y="3726225"/>
            <a:ext cx="3292800" cy="396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3" name="Google Shape;93;p13"/>
          <p:cNvSpPr txBox="1"/>
          <p:nvPr>
            <p:ph idx="6" type="title"/>
          </p:nvPr>
        </p:nvSpPr>
        <p:spPr>
          <a:xfrm>
            <a:off x="4998111" y="3726225"/>
            <a:ext cx="3292800" cy="396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4" name="Google Shape;94;p13"/>
          <p:cNvSpPr txBox="1"/>
          <p:nvPr>
            <p:ph idx="7" type="subTitle"/>
          </p:nvPr>
        </p:nvSpPr>
        <p:spPr>
          <a:xfrm>
            <a:off x="851726" y="4045999"/>
            <a:ext cx="3292800" cy="345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5" name="Google Shape;95;p13"/>
          <p:cNvSpPr txBox="1"/>
          <p:nvPr>
            <p:ph idx="8" type="subTitle"/>
          </p:nvPr>
        </p:nvSpPr>
        <p:spPr>
          <a:xfrm>
            <a:off x="4998138" y="4046025"/>
            <a:ext cx="3292800" cy="345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96" name="Google Shape;96;p13"/>
          <p:cNvSpPr txBox="1"/>
          <p:nvPr>
            <p:ph hasCustomPrompt="1" idx="9" type="title"/>
          </p:nvPr>
        </p:nvSpPr>
        <p:spPr>
          <a:xfrm>
            <a:off x="853113" y="1423425"/>
            <a:ext cx="775800" cy="665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sz="3400">
                <a:latin typeface="Poppins SemiBold"/>
                <a:ea typeface="Poppins SemiBold"/>
                <a:cs typeface="Poppins SemiBold"/>
                <a:sym typeface="Poppins SemiBold"/>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97" name="Google Shape;97;p13"/>
          <p:cNvSpPr txBox="1"/>
          <p:nvPr>
            <p:ph hasCustomPrompt="1" idx="13" type="title"/>
          </p:nvPr>
        </p:nvSpPr>
        <p:spPr>
          <a:xfrm>
            <a:off x="853100" y="2984924"/>
            <a:ext cx="775800" cy="665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sz="3400">
                <a:latin typeface="Poppins SemiBold"/>
                <a:ea typeface="Poppins SemiBold"/>
                <a:cs typeface="Poppins SemiBold"/>
                <a:sym typeface="Poppins SemiBold"/>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98" name="Google Shape;98;p13"/>
          <p:cNvSpPr txBox="1"/>
          <p:nvPr>
            <p:ph hasCustomPrompt="1" idx="14" type="title"/>
          </p:nvPr>
        </p:nvSpPr>
        <p:spPr>
          <a:xfrm>
            <a:off x="4998100" y="1423424"/>
            <a:ext cx="775800" cy="665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sz="3400">
                <a:latin typeface="Poppins SemiBold"/>
                <a:ea typeface="Poppins SemiBold"/>
                <a:cs typeface="Poppins SemiBold"/>
                <a:sym typeface="Poppins SemiBold"/>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99" name="Google Shape;99;p13"/>
          <p:cNvSpPr txBox="1"/>
          <p:nvPr>
            <p:ph hasCustomPrompt="1" idx="15" type="title"/>
          </p:nvPr>
        </p:nvSpPr>
        <p:spPr>
          <a:xfrm>
            <a:off x="4998100" y="2934225"/>
            <a:ext cx="775800" cy="7158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4000"/>
              <a:buNone/>
              <a:defRPr b="0" sz="3400">
                <a:latin typeface="Poppins SemiBold"/>
                <a:ea typeface="Poppins SemiBold"/>
                <a:cs typeface="Poppins SemiBold"/>
                <a:sym typeface="Poppins SemiBold"/>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100" name="Shape 100"/>
        <p:cNvGrpSpPr/>
        <p:nvPr/>
      </p:nvGrpSpPr>
      <p:grpSpPr>
        <a:xfrm>
          <a:off x="0" y="0"/>
          <a:ext cx="0" cy="0"/>
          <a:chOff x="0" y="0"/>
          <a:chExt cx="0" cy="0"/>
        </a:xfrm>
      </p:grpSpPr>
      <p:sp>
        <p:nvSpPr>
          <p:cNvPr id="101" name="Google Shape;101;p14"/>
          <p:cNvSpPr/>
          <p:nvPr/>
        </p:nvSpPr>
        <p:spPr>
          <a:xfrm rot="5400000">
            <a:off x="8309239"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txBox="1"/>
          <p:nvPr>
            <p:ph hasCustomPrompt="1" type="title"/>
          </p:nvPr>
        </p:nvSpPr>
        <p:spPr>
          <a:xfrm>
            <a:off x="720000" y="932624"/>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03" name="Google Shape;103;p14"/>
          <p:cNvSpPr txBox="1"/>
          <p:nvPr>
            <p:ph idx="1" type="subTitle"/>
          </p:nvPr>
        </p:nvSpPr>
        <p:spPr>
          <a:xfrm>
            <a:off x="720000" y="1758403"/>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200"/>
              <a:buNone/>
              <a:defRPr sz="14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04" name="Google Shape;104;p14"/>
          <p:cNvSpPr txBox="1"/>
          <p:nvPr>
            <p:ph hasCustomPrompt="1" idx="2" type="title"/>
          </p:nvPr>
        </p:nvSpPr>
        <p:spPr>
          <a:xfrm>
            <a:off x="5047800" y="932624"/>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05" name="Google Shape;105;p14"/>
          <p:cNvSpPr txBox="1"/>
          <p:nvPr>
            <p:ph idx="3" type="subTitle"/>
          </p:nvPr>
        </p:nvSpPr>
        <p:spPr>
          <a:xfrm>
            <a:off x="5047800" y="1758403"/>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200"/>
              <a:buNone/>
              <a:defRPr sz="14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06" name="Google Shape;106;p14"/>
          <p:cNvSpPr txBox="1"/>
          <p:nvPr>
            <p:ph hasCustomPrompt="1" idx="4" type="title"/>
          </p:nvPr>
        </p:nvSpPr>
        <p:spPr>
          <a:xfrm>
            <a:off x="5047800" y="2751199"/>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07" name="Google Shape;107;p14"/>
          <p:cNvSpPr txBox="1"/>
          <p:nvPr>
            <p:ph idx="5" type="subTitle"/>
          </p:nvPr>
        </p:nvSpPr>
        <p:spPr>
          <a:xfrm>
            <a:off x="5047800" y="3576978"/>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200"/>
              <a:buNone/>
              <a:defRPr sz="14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08" name="Google Shape;108;p14"/>
          <p:cNvSpPr txBox="1"/>
          <p:nvPr>
            <p:ph hasCustomPrompt="1" idx="6" type="title"/>
          </p:nvPr>
        </p:nvSpPr>
        <p:spPr>
          <a:xfrm>
            <a:off x="720000" y="2751199"/>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109" name="Google Shape;109;p14"/>
          <p:cNvSpPr txBox="1"/>
          <p:nvPr>
            <p:ph idx="7" type="subTitle"/>
          </p:nvPr>
        </p:nvSpPr>
        <p:spPr>
          <a:xfrm>
            <a:off x="720000" y="3576978"/>
            <a:ext cx="3376200" cy="329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1200"/>
              <a:buNone/>
              <a:defRPr sz="1400"/>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grpSp>
        <p:nvGrpSpPr>
          <p:cNvPr id="110" name="Google Shape;110;p14"/>
          <p:cNvGrpSpPr/>
          <p:nvPr/>
        </p:nvGrpSpPr>
        <p:grpSpPr>
          <a:xfrm>
            <a:off x="719100" y="539400"/>
            <a:ext cx="7705800" cy="4064700"/>
            <a:chOff x="719100" y="539400"/>
            <a:chExt cx="7705800" cy="4064700"/>
          </a:xfrm>
        </p:grpSpPr>
        <p:cxnSp>
          <p:nvCxnSpPr>
            <p:cNvPr id="111" name="Google Shape;111;p14"/>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12" name="Google Shape;112;p14"/>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113" name="Google Shape;113;p14"/>
          <p:cNvSpPr/>
          <p:nvPr/>
        </p:nvSpPr>
        <p:spPr>
          <a:xfrm flipH="1" rot="-5400000">
            <a:off x="529192" y="4268848"/>
            <a:ext cx="670627" cy="670508"/>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114" name="Shape 114"/>
        <p:cNvGrpSpPr/>
        <p:nvPr/>
      </p:nvGrpSpPr>
      <p:grpSpPr>
        <a:xfrm>
          <a:off x="0" y="0"/>
          <a:ext cx="0" cy="0"/>
          <a:chOff x="0" y="0"/>
          <a:chExt cx="0" cy="0"/>
        </a:xfrm>
      </p:grpSpPr>
      <p:sp>
        <p:nvSpPr>
          <p:cNvPr id="115" name="Google Shape;115;p15"/>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txBox="1"/>
          <p:nvPr>
            <p:ph type="title"/>
          </p:nvPr>
        </p:nvSpPr>
        <p:spPr>
          <a:xfrm>
            <a:off x="2311527" y="1561425"/>
            <a:ext cx="1934400" cy="3936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17" name="Google Shape;117;p15"/>
          <p:cNvSpPr txBox="1"/>
          <p:nvPr>
            <p:ph idx="2" type="title"/>
          </p:nvPr>
        </p:nvSpPr>
        <p:spPr>
          <a:xfrm>
            <a:off x="5638486" y="1561425"/>
            <a:ext cx="1934400" cy="3936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18" name="Google Shape;118;p15"/>
          <p:cNvSpPr txBox="1"/>
          <p:nvPr>
            <p:ph idx="1" type="subTitle"/>
          </p:nvPr>
        </p:nvSpPr>
        <p:spPr>
          <a:xfrm>
            <a:off x="2311525" y="1878825"/>
            <a:ext cx="1934400" cy="716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19" name="Google Shape;119;p15"/>
          <p:cNvSpPr txBox="1"/>
          <p:nvPr>
            <p:ph idx="3" type="subTitle"/>
          </p:nvPr>
        </p:nvSpPr>
        <p:spPr>
          <a:xfrm>
            <a:off x="5638476" y="1878825"/>
            <a:ext cx="1934400" cy="716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0" name="Google Shape;120;p15"/>
          <p:cNvSpPr txBox="1"/>
          <p:nvPr>
            <p:ph idx="4" type="title"/>
          </p:nvPr>
        </p:nvSpPr>
        <p:spPr>
          <a:xfrm>
            <a:off x="2311527" y="3136075"/>
            <a:ext cx="1934400" cy="3936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21" name="Google Shape;121;p15"/>
          <p:cNvSpPr txBox="1"/>
          <p:nvPr>
            <p:ph idx="5" type="title"/>
          </p:nvPr>
        </p:nvSpPr>
        <p:spPr>
          <a:xfrm>
            <a:off x="5638475" y="3136075"/>
            <a:ext cx="1934400" cy="3936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3000"/>
              <a:buNone/>
              <a:defRPr b="0" sz="1800">
                <a:latin typeface="Poppins SemiBold"/>
                <a:ea typeface="Poppins SemiBold"/>
                <a:cs typeface="Poppins SemiBold"/>
                <a:sym typeface="Poppins SemiBold"/>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22" name="Google Shape;122;p15"/>
          <p:cNvSpPr txBox="1"/>
          <p:nvPr>
            <p:ph idx="6" type="subTitle"/>
          </p:nvPr>
        </p:nvSpPr>
        <p:spPr>
          <a:xfrm>
            <a:off x="2311525" y="3453475"/>
            <a:ext cx="1934400" cy="716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3" name="Google Shape;123;p15"/>
          <p:cNvSpPr txBox="1"/>
          <p:nvPr>
            <p:ph idx="7" type="subTitle"/>
          </p:nvPr>
        </p:nvSpPr>
        <p:spPr>
          <a:xfrm>
            <a:off x="5638475" y="3453475"/>
            <a:ext cx="1934400" cy="716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124" name="Google Shape;124;p15"/>
          <p:cNvSpPr txBox="1"/>
          <p:nvPr>
            <p:ph idx="8" type="title"/>
          </p:nvPr>
        </p:nvSpPr>
        <p:spPr>
          <a:xfrm>
            <a:off x="720000" y="539400"/>
            <a:ext cx="7704000" cy="51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5" name="Google Shape;125;p15"/>
          <p:cNvGrpSpPr/>
          <p:nvPr/>
        </p:nvGrpSpPr>
        <p:grpSpPr>
          <a:xfrm>
            <a:off x="719100" y="539400"/>
            <a:ext cx="7705800" cy="4064700"/>
            <a:chOff x="719100" y="539400"/>
            <a:chExt cx="7705800" cy="4064700"/>
          </a:xfrm>
        </p:grpSpPr>
        <p:cxnSp>
          <p:nvCxnSpPr>
            <p:cNvPr id="126" name="Google Shape;126;p15"/>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27" name="Google Shape;127;p15"/>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2">
    <p:spTree>
      <p:nvGrpSpPr>
        <p:cNvPr id="128" name="Shape 128"/>
        <p:cNvGrpSpPr/>
        <p:nvPr/>
      </p:nvGrpSpPr>
      <p:grpSpPr>
        <a:xfrm>
          <a:off x="0" y="0"/>
          <a:ext cx="0" cy="0"/>
          <a:chOff x="0" y="0"/>
          <a:chExt cx="0" cy="0"/>
        </a:xfrm>
      </p:grpSpPr>
      <p:sp>
        <p:nvSpPr>
          <p:cNvPr id="129" name="Google Shape;129;p16"/>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 name="Google Shape;130;p16"/>
          <p:cNvGrpSpPr/>
          <p:nvPr/>
        </p:nvGrpSpPr>
        <p:grpSpPr>
          <a:xfrm>
            <a:off x="719100" y="539400"/>
            <a:ext cx="7705800" cy="4064700"/>
            <a:chOff x="719100" y="539400"/>
            <a:chExt cx="7705800" cy="4064700"/>
          </a:xfrm>
        </p:grpSpPr>
        <p:cxnSp>
          <p:nvCxnSpPr>
            <p:cNvPr id="131" name="Google Shape;131;p16"/>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6"/>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133" name="Google Shape;133;p16"/>
          <p:cNvSpPr txBox="1"/>
          <p:nvPr>
            <p:ph type="title"/>
          </p:nvPr>
        </p:nvSpPr>
        <p:spPr>
          <a:xfrm>
            <a:off x="720000" y="539400"/>
            <a:ext cx="7704000" cy="51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3">
    <p:spTree>
      <p:nvGrpSpPr>
        <p:cNvPr id="134" name="Shape 134"/>
        <p:cNvGrpSpPr/>
        <p:nvPr/>
      </p:nvGrpSpPr>
      <p:grpSpPr>
        <a:xfrm>
          <a:off x="0" y="0"/>
          <a:ext cx="0" cy="0"/>
          <a:chOff x="0" y="0"/>
          <a:chExt cx="0" cy="0"/>
        </a:xfrm>
      </p:grpSpPr>
      <p:sp>
        <p:nvSpPr>
          <p:cNvPr id="135" name="Google Shape;135;p17"/>
          <p:cNvSpPr/>
          <p:nvPr/>
        </p:nvSpPr>
        <p:spPr>
          <a:xfrm rot="54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17"/>
          <p:cNvGrpSpPr/>
          <p:nvPr/>
        </p:nvGrpSpPr>
        <p:grpSpPr>
          <a:xfrm>
            <a:off x="719100" y="539400"/>
            <a:ext cx="7705800" cy="4064700"/>
            <a:chOff x="719100" y="539400"/>
            <a:chExt cx="7705800" cy="4064700"/>
          </a:xfrm>
        </p:grpSpPr>
        <p:cxnSp>
          <p:nvCxnSpPr>
            <p:cNvPr id="137" name="Google Shape;137;p17"/>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38" name="Google Shape;138;p17"/>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139" name="Google Shape;139;p17"/>
          <p:cNvSpPr txBox="1"/>
          <p:nvPr>
            <p:ph type="title"/>
          </p:nvPr>
        </p:nvSpPr>
        <p:spPr>
          <a:xfrm>
            <a:off x="720000" y="539400"/>
            <a:ext cx="7704000" cy="517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_AND_BODY_1">
    <p:spTree>
      <p:nvGrpSpPr>
        <p:cNvPr id="140" name="Shape 140"/>
        <p:cNvGrpSpPr/>
        <p:nvPr/>
      </p:nvGrpSpPr>
      <p:grpSpPr>
        <a:xfrm>
          <a:off x="0" y="0"/>
          <a:ext cx="0" cy="0"/>
          <a:chOff x="0" y="0"/>
          <a:chExt cx="0" cy="0"/>
        </a:xfrm>
      </p:grpSpPr>
      <p:sp>
        <p:nvSpPr>
          <p:cNvPr id="141" name="Google Shape;141;p18"/>
          <p:cNvSpPr/>
          <p:nvPr/>
        </p:nvSpPr>
        <p:spPr>
          <a:xfrm rot="5400000">
            <a:off x="8243792" y="4413356"/>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ph type="title"/>
          </p:nvPr>
        </p:nvSpPr>
        <p:spPr>
          <a:xfrm>
            <a:off x="720000" y="53807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3" name="Google Shape;143;p18"/>
          <p:cNvSpPr txBox="1"/>
          <p:nvPr>
            <p:ph idx="1" type="body"/>
          </p:nvPr>
        </p:nvSpPr>
        <p:spPr>
          <a:xfrm>
            <a:off x="720000" y="1203200"/>
            <a:ext cx="7704000" cy="9099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sz="1200"/>
            </a:lvl1pPr>
            <a:lvl2pPr indent="-304800" lvl="1" marL="914400" rtl="0">
              <a:spcBef>
                <a:spcPts val="0"/>
              </a:spcBef>
              <a:spcAft>
                <a:spcPts val="0"/>
              </a:spcAft>
              <a:buSzPts val="1200"/>
              <a:buFont typeface="Roboto Condensed Light"/>
              <a:buChar char="○"/>
              <a:defRPr/>
            </a:lvl2pPr>
            <a:lvl3pPr indent="-304800" lvl="2" marL="1371600" rtl="0">
              <a:spcBef>
                <a:spcPts val="0"/>
              </a:spcBef>
              <a:spcAft>
                <a:spcPts val="0"/>
              </a:spcAft>
              <a:buSzPts val="1200"/>
              <a:buFont typeface="Roboto Condensed Light"/>
              <a:buChar char="■"/>
              <a:defRPr/>
            </a:lvl3pPr>
            <a:lvl4pPr indent="-304800" lvl="3" marL="1828800" rtl="0">
              <a:spcBef>
                <a:spcPts val="0"/>
              </a:spcBef>
              <a:spcAft>
                <a:spcPts val="0"/>
              </a:spcAft>
              <a:buSzPts val="1200"/>
              <a:buFont typeface="Roboto Condensed Light"/>
              <a:buChar char="●"/>
              <a:defRPr/>
            </a:lvl4pPr>
            <a:lvl5pPr indent="-304800" lvl="4" marL="2286000" rtl="0">
              <a:spcBef>
                <a:spcPts val="0"/>
              </a:spcBef>
              <a:spcAft>
                <a:spcPts val="0"/>
              </a:spcAft>
              <a:buSzPts val="1200"/>
              <a:buFont typeface="Roboto Condensed Light"/>
              <a:buChar char="○"/>
              <a:defRPr/>
            </a:lvl5pPr>
            <a:lvl6pPr indent="-304800" lvl="5" marL="2743200" rtl="0">
              <a:spcBef>
                <a:spcPts val="0"/>
              </a:spcBef>
              <a:spcAft>
                <a:spcPts val="0"/>
              </a:spcAft>
              <a:buSzPts val="1200"/>
              <a:buFont typeface="Roboto Condensed Light"/>
              <a:buChar char="■"/>
              <a:defRPr/>
            </a:lvl6pPr>
            <a:lvl7pPr indent="-304800" lvl="6" marL="3200400" rtl="0">
              <a:spcBef>
                <a:spcPts val="0"/>
              </a:spcBef>
              <a:spcAft>
                <a:spcPts val="0"/>
              </a:spcAft>
              <a:buSzPts val="1200"/>
              <a:buFont typeface="Roboto Condensed Light"/>
              <a:buChar char="●"/>
              <a:defRPr/>
            </a:lvl7pPr>
            <a:lvl8pPr indent="-304800" lvl="7" marL="3657600" rtl="0">
              <a:spcBef>
                <a:spcPts val="0"/>
              </a:spcBef>
              <a:spcAft>
                <a:spcPts val="0"/>
              </a:spcAft>
              <a:buSzPts val="1200"/>
              <a:buFont typeface="Roboto Condensed Light"/>
              <a:buChar char="○"/>
              <a:defRPr/>
            </a:lvl8pPr>
            <a:lvl9pPr indent="-304800" lvl="8" marL="4114800" rtl="0">
              <a:spcBef>
                <a:spcPts val="0"/>
              </a:spcBef>
              <a:spcAft>
                <a:spcPts val="0"/>
              </a:spcAft>
              <a:buSzPts val="1200"/>
              <a:buFont typeface="Roboto Condensed Light"/>
              <a:buChar char="■"/>
              <a:defRPr/>
            </a:lvl9pPr>
          </a:lstStyle>
          <a:p/>
        </p:txBody>
      </p:sp>
      <p:grpSp>
        <p:nvGrpSpPr>
          <p:cNvPr id="144" name="Google Shape;144;p18"/>
          <p:cNvGrpSpPr/>
          <p:nvPr/>
        </p:nvGrpSpPr>
        <p:grpSpPr>
          <a:xfrm>
            <a:off x="719100" y="539400"/>
            <a:ext cx="7705800" cy="4064700"/>
            <a:chOff x="719100" y="539400"/>
            <a:chExt cx="7705800" cy="4064700"/>
          </a:xfrm>
        </p:grpSpPr>
        <p:cxnSp>
          <p:nvCxnSpPr>
            <p:cNvPr id="145" name="Google Shape;145;p18"/>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46" name="Google Shape;146;p18"/>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_1">
    <p:spTree>
      <p:nvGrpSpPr>
        <p:cNvPr id="147" name="Shape 147"/>
        <p:cNvGrpSpPr/>
        <p:nvPr/>
      </p:nvGrpSpPr>
      <p:grpSpPr>
        <a:xfrm>
          <a:off x="0" y="0"/>
          <a:ext cx="0" cy="0"/>
          <a:chOff x="0" y="0"/>
          <a:chExt cx="0" cy="0"/>
        </a:xfrm>
      </p:grpSpPr>
      <p:sp>
        <p:nvSpPr>
          <p:cNvPr id="148" name="Google Shape;148;p19"/>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9"/>
          <p:cNvSpPr txBox="1"/>
          <p:nvPr>
            <p:ph type="title"/>
          </p:nvPr>
        </p:nvSpPr>
        <p:spPr>
          <a:xfrm>
            <a:off x="720000" y="53807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0" name="Google Shape;150;p19"/>
          <p:cNvSpPr txBox="1"/>
          <p:nvPr>
            <p:ph idx="1" type="body"/>
          </p:nvPr>
        </p:nvSpPr>
        <p:spPr>
          <a:xfrm>
            <a:off x="720000" y="1203200"/>
            <a:ext cx="7704000" cy="22896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Char char="●"/>
              <a:defRPr sz="1200"/>
            </a:lvl1pPr>
            <a:lvl2pPr indent="-304800" lvl="1" marL="914400" rtl="0">
              <a:spcBef>
                <a:spcPts val="0"/>
              </a:spcBef>
              <a:spcAft>
                <a:spcPts val="0"/>
              </a:spcAft>
              <a:buSzPts val="1200"/>
              <a:buFont typeface="Roboto Condensed Light"/>
              <a:buChar char="○"/>
              <a:defRPr/>
            </a:lvl2pPr>
            <a:lvl3pPr indent="-304800" lvl="2" marL="1371600" rtl="0">
              <a:spcBef>
                <a:spcPts val="0"/>
              </a:spcBef>
              <a:spcAft>
                <a:spcPts val="0"/>
              </a:spcAft>
              <a:buSzPts val="1200"/>
              <a:buFont typeface="Roboto Condensed Light"/>
              <a:buChar char="■"/>
              <a:defRPr/>
            </a:lvl3pPr>
            <a:lvl4pPr indent="-304800" lvl="3" marL="1828800" rtl="0">
              <a:spcBef>
                <a:spcPts val="0"/>
              </a:spcBef>
              <a:spcAft>
                <a:spcPts val="0"/>
              </a:spcAft>
              <a:buSzPts val="1200"/>
              <a:buFont typeface="Roboto Condensed Light"/>
              <a:buChar char="●"/>
              <a:defRPr/>
            </a:lvl4pPr>
            <a:lvl5pPr indent="-304800" lvl="4" marL="2286000" rtl="0">
              <a:spcBef>
                <a:spcPts val="0"/>
              </a:spcBef>
              <a:spcAft>
                <a:spcPts val="0"/>
              </a:spcAft>
              <a:buSzPts val="1200"/>
              <a:buFont typeface="Roboto Condensed Light"/>
              <a:buChar char="○"/>
              <a:defRPr/>
            </a:lvl5pPr>
            <a:lvl6pPr indent="-304800" lvl="5" marL="2743200" rtl="0">
              <a:spcBef>
                <a:spcPts val="0"/>
              </a:spcBef>
              <a:spcAft>
                <a:spcPts val="0"/>
              </a:spcAft>
              <a:buSzPts val="1200"/>
              <a:buFont typeface="Roboto Condensed Light"/>
              <a:buChar char="■"/>
              <a:defRPr/>
            </a:lvl6pPr>
            <a:lvl7pPr indent="-304800" lvl="6" marL="3200400" rtl="0">
              <a:spcBef>
                <a:spcPts val="0"/>
              </a:spcBef>
              <a:spcAft>
                <a:spcPts val="0"/>
              </a:spcAft>
              <a:buSzPts val="1200"/>
              <a:buFont typeface="Roboto Condensed Light"/>
              <a:buChar char="●"/>
              <a:defRPr/>
            </a:lvl7pPr>
            <a:lvl8pPr indent="-304800" lvl="7" marL="3657600" rtl="0">
              <a:spcBef>
                <a:spcPts val="0"/>
              </a:spcBef>
              <a:spcAft>
                <a:spcPts val="0"/>
              </a:spcAft>
              <a:buSzPts val="1200"/>
              <a:buFont typeface="Roboto Condensed Light"/>
              <a:buChar char="○"/>
              <a:defRPr/>
            </a:lvl8pPr>
            <a:lvl9pPr indent="-304800" lvl="8" marL="4114800" rtl="0">
              <a:spcBef>
                <a:spcPts val="0"/>
              </a:spcBef>
              <a:spcAft>
                <a:spcPts val="0"/>
              </a:spcAft>
              <a:buSzPts val="1200"/>
              <a:buFont typeface="Roboto Condensed Light"/>
              <a:buChar char="■"/>
              <a:defRPr/>
            </a:lvl9pPr>
          </a:lstStyle>
          <a:p/>
        </p:txBody>
      </p:sp>
      <p:grpSp>
        <p:nvGrpSpPr>
          <p:cNvPr id="151" name="Google Shape;151;p19"/>
          <p:cNvGrpSpPr/>
          <p:nvPr/>
        </p:nvGrpSpPr>
        <p:grpSpPr>
          <a:xfrm>
            <a:off x="719100" y="539400"/>
            <a:ext cx="7705800" cy="4064700"/>
            <a:chOff x="719100" y="539400"/>
            <a:chExt cx="7705800" cy="4064700"/>
          </a:xfrm>
        </p:grpSpPr>
        <p:cxnSp>
          <p:nvCxnSpPr>
            <p:cNvPr id="152" name="Google Shape;152;p19"/>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53" name="Google Shape;153;p19"/>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154" name="Shape 154"/>
        <p:cNvGrpSpPr/>
        <p:nvPr/>
      </p:nvGrpSpPr>
      <p:grpSpPr>
        <a:xfrm>
          <a:off x="0" y="0"/>
          <a:ext cx="0" cy="0"/>
          <a:chOff x="0" y="0"/>
          <a:chExt cx="0" cy="0"/>
        </a:xfrm>
      </p:grpSpPr>
      <p:sp>
        <p:nvSpPr>
          <p:cNvPr id="155" name="Google Shape;155;p20"/>
          <p:cNvSpPr/>
          <p:nvPr/>
        </p:nvSpPr>
        <p:spPr>
          <a:xfrm rot="5400000">
            <a:off x="8309239"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 name="Google Shape;156;p20"/>
          <p:cNvGrpSpPr/>
          <p:nvPr/>
        </p:nvGrpSpPr>
        <p:grpSpPr>
          <a:xfrm>
            <a:off x="719100" y="539400"/>
            <a:ext cx="7705800" cy="4064700"/>
            <a:chOff x="719100" y="539400"/>
            <a:chExt cx="7705800" cy="4064700"/>
          </a:xfrm>
        </p:grpSpPr>
        <p:cxnSp>
          <p:nvCxnSpPr>
            <p:cNvPr id="157" name="Google Shape;157;p20"/>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58" name="Google Shape;158;p20"/>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sp>
        <p:nvSpPr>
          <p:cNvPr id="159" name="Google Shape;159;p20"/>
          <p:cNvSpPr txBox="1"/>
          <p:nvPr>
            <p:ph type="ctrTitle"/>
          </p:nvPr>
        </p:nvSpPr>
        <p:spPr>
          <a:xfrm>
            <a:off x="2998200" y="601750"/>
            <a:ext cx="4892400" cy="1280100"/>
          </a:xfrm>
          <a:prstGeom prst="rect">
            <a:avLst/>
          </a:prstGeom>
        </p:spPr>
        <p:txBody>
          <a:bodyPr anchorCtr="0" anchor="ctr" bIns="91425" lIns="91425" spcFirstLastPara="1" rIns="91425" wrap="square" tIns="91425">
            <a:noAutofit/>
          </a:bodyPr>
          <a:lstStyle>
            <a:lvl1pPr lvl="0" rtl="0">
              <a:spcBef>
                <a:spcPts val="0"/>
              </a:spcBef>
              <a:spcAft>
                <a:spcPts val="0"/>
              </a:spcAft>
              <a:buSzPts val="8500"/>
              <a:buNone/>
              <a:defRPr sz="72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60" name="Google Shape;160;p20"/>
          <p:cNvSpPr txBox="1"/>
          <p:nvPr>
            <p:ph idx="1" type="subTitle"/>
          </p:nvPr>
        </p:nvSpPr>
        <p:spPr>
          <a:xfrm>
            <a:off x="2998200" y="1794116"/>
            <a:ext cx="4892400" cy="399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800">
                <a:solidFill>
                  <a:schemeClr val="dk1"/>
                </a:solidFill>
                <a:latin typeface="Poppins SemiBold"/>
                <a:ea typeface="Poppins SemiBold"/>
                <a:cs typeface="Poppins SemiBold"/>
                <a:sym typeface="Poppins SemiBold"/>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61" name="Google Shape;161;p20"/>
          <p:cNvSpPr txBox="1"/>
          <p:nvPr>
            <p:ph idx="2" type="subTitle"/>
          </p:nvPr>
        </p:nvSpPr>
        <p:spPr>
          <a:xfrm>
            <a:off x="2998200" y="2198653"/>
            <a:ext cx="4892400" cy="744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62" name="Google Shape;162;p20"/>
          <p:cNvSpPr txBox="1"/>
          <p:nvPr>
            <p:ph idx="3" type="subTitle"/>
          </p:nvPr>
        </p:nvSpPr>
        <p:spPr>
          <a:xfrm>
            <a:off x="2998200" y="4218175"/>
            <a:ext cx="4892400" cy="385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63" name="Google Shape;163;p20"/>
          <p:cNvSpPr txBox="1"/>
          <p:nvPr/>
        </p:nvSpPr>
        <p:spPr>
          <a:xfrm>
            <a:off x="2998200" y="3688925"/>
            <a:ext cx="4892400" cy="554100"/>
          </a:xfrm>
          <a:prstGeom prst="rect">
            <a:avLst/>
          </a:prstGeom>
          <a:noFill/>
          <a:ln>
            <a:noFill/>
          </a:ln>
        </p:spPr>
        <p:txBody>
          <a:bodyPr anchorCtr="0" anchor="ctr"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Livvic"/>
                <a:ea typeface="Livvic"/>
                <a:cs typeface="Livvic"/>
                <a:sym typeface="Livvic"/>
              </a:rPr>
              <a:t>CREDITS: This presentation template was created by </a:t>
            </a:r>
            <a:r>
              <a:rPr b="1" lang="en" sz="1200" u="sng">
                <a:solidFill>
                  <a:schemeClr val="dk1"/>
                </a:solidFill>
                <a:latin typeface="Livvic"/>
                <a:ea typeface="Livvic"/>
                <a:cs typeface="Livvic"/>
                <a:sym typeface="Livvic"/>
                <a:hlinkClick r:id="rId2">
                  <a:extLst>
                    <a:ext uri="{A12FA001-AC4F-418D-AE19-62706E023703}">
                      <ahyp:hlinkClr val="tx"/>
                    </a:ext>
                  </a:extLst>
                </a:hlinkClick>
              </a:rPr>
              <a:t>Slidesgo</a:t>
            </a:r>
            <a:r>
              <a:rPr b="1" lang="en" sz="1200" u="sng">
                <a:solidFill>
                  <a:schemeClr val="dk1"/>
                </a:solidFill>
                <a:latin typeface="Livvic"/>
                <a:ea typeface="Livvic"/>
                <a:cs typeface="Livvic"/>
                <a:sym typeface="Livvic"/>
              </a:rPr>
              <a:t>,</a:t>
            </a:r>
            <a:r>
              <a:rPr lang="en" sz="1200">
                <a:solidFill>
                  <a:schemeClr val="dk1"/>
                </a:solidFill>
                <a:latin typeface="Livvic"/>
                <a:ea typeface="Livvic"/>
                <a:cs typeface="Livvic"/>
                <a:sym typeface="Livvic"/>
              </a:rPr>
              <a:t> and includes icons by </a:t>
            </a:r>
            <a:r>
              <a:rPr b="1" lang="en" sz="1200" u="sng">
                <a:solidFill>
                  <a:schemeClr val="dk1"/>
                </a:solidFill>
                <a:latin typeface="Livvic"/>
                <a:ea typeface="Livvic"/>
                <a:cs typeface="Livvic"/>
                <a:sym typeface="Livvic"/>
                <a:hlinkClick r:id="rId3">
                  <a:extLst>
                    <a:ext uri="{A12FA001-AC4F-418D-AE19-62706E023703}">
                      <ahyp:hlinkClr val="tx"/>
                    </a:ext>
                  </a:extLst>
                </a:hlinkClick>
              </a:rPr>
              <a:t>Flaticon</a:t>
            </a:r>
            <a:r>
              <a:rPr b="1" lang="en" sz="1200" u="sng">
                <a:solidFill>
                  <a:schemeClr val="dk1"/>
                </a:solidFill>
                <a:latin typeface="Livvic"/>
                <a:ea typeface="Livvic"/>
                <a:cs typeface="Livvic"/>
                <a:sym typeface="Livvic"/>
              </a:rPr>
              <a:t>,</a:t>
            </a:r>
            <a:r>
              <a:rPr lang="en" sz="1200">
                <a:solidFill>
                  <a:schemeClr val="dk1"/>
                </a:solidFill>
                <a:latin typeface="Livvic"/>
                <a:ea typeface="Livvic"/>
                <a:cs typeface="Livvic"/>
                <a:sym typeface="Livvic"/>
              </a:rPr>
              <a:t> and infographics &amp; images by </a:t>
            </a:r>
            <a:r>
              <a:rPr b="1" lang="en" sz="1200" u="sng">
                <a:solidFill>
                  <a:schemeClr val="dk1"/>
                </a:solidFill>
                <a:latin typeface="Livvic"/>
                <a:ea typeface="Livvic"/>
                <a:cs typeface="Livvic"/>
                <a:sym typeface="Livvic"/>
                <a:hlinkClick r:id="rId4">
                  <a:extLst>
                    <a:ext uri="{A12FA001-AC4F-418D-AE19-62706E023703}">
                      <ahyp:hlinkClr val="tx"/>
                    </a:ext>
                  </a:extLst>
                </a:hlinkClick>
              </a:rPr>
              <a:t>Freepik</a:t>
            </a:r>
            <a:endParaRPr b="1" sz="1200" u="sng">
              <a:solidFill>
                <a:schemeClr val="dk1"/>
              </a:solidFill>
              <a:latin typeface="Livvic"/>
              <a:ea typeface="Livvic"/>
              <a:cs typeface="Livvic"/>
              <a:sym typeface="Livvic"/>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164" name="Shape 164"/>
        <p:cNvGrpSpPr/>
        <p:nvPr/>
      </p:nvGrpSpPr>
      <p:grpSpPr>
        <a:xfrm>
          <a:off x="0" y="0"/>
          <a:ext cx="0" cy="0"/>
          <a:chOff x="0" y="0"/>
          <a:chExt cx="0" cy="0"/>
        </a:xfrm>
      </p:grpSpPr>
      <p:sp>
        <p:nvSpPr>
          <p:cNvPr id="165" name="Google Shape;165;p21"/>
          <p:cNvSpPr/>
          <p:nvPr/>
        </p:nvSpPr>
        <p:spPr>
          <a:xfrm rot="5400000">
            <a:off x="8309239" y="3486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21"/>
          <p:cNvGrpSpPr/>
          <p:nvPr/>
        </p:nvGrpSpPr>
        <p:grpSpPr>
          <a:xfrm>
            <a:off x="719100" y="539400"/>
            <a:ext cx="7705800" cy="4064700"/>
            <a:chOff x="719100" y="539400"/>
            <a:chExt cx="7705800" cy="4064700"/>
          </a:xfrm>
        </p:grpSpPr>
        <p:cxnSp>
          <p:nvCxnSpPr>
            <p:cNvPr id="167" name="Google Shape;167;p21"/>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68" name="Google Shape;168;p21"/>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grpSp>
        <p:nvGrpSpPr>
          <p:cNvPr id="169" name="Google Shape;169;p21"/>
          <p:cNvGrpSpPr/>
          <p:nvPr/>
        </p:nvGrpSpPr>
        <p:grpSpPr>
          <a:xfrm rot="5400000">
            <a:off x="-430099" y="3200731"/>
            <a:ext cx="2284753" cy="1607435"/>
            <a:chOff x="5539150" y="3176875"/>
            <a:chExt cx="2029449" cy="1427308"/>
          </a:xfrm>
        </p:grpSpPr>
        <p:sp>
          <p:nvSpPr>
            <p:cNvPr id="170" name="Google Shape;170;p21"/>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1"/>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1"/>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1"/>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2">
    <p:spTree>
      <p:nvGrpSpPr>
        <p:cNvPr id="173" name="Shape 173"/>
        <p:cNvGrpSpPr/>
        <p:nvPr/>
      </p:nvGrpSpPr>
      <p:grpSpPr>
        <a:xfrm>
          <a:off x="0" y="0"/>
          <a:ext cx="0" cy="0"/>
          <a:chOff x="0" y="0"/>
          <a:chExt cx="0" cy="0"/>
        </a:xfrm>
      </p:grpSpPr>
      <p:sp>
        <p:nvSpPr>
          <p:cNvPr id="174" name="Google Shape;174;p22"/>
          <p:cNvSpPr/>
          <p:nvPr/>
        </p:nvSpPr>
        <p:spPr>
          <a:xfrm rot="-5400000">
            <a:off x="529251" y="4413362"/>
            <a:ext cx="381489" cy="381489"/>
          </a:xfrm>
          <a:custGeom>
            <a:rect b="b" l="l" r="r" t="t"/>
            <a:pathLst>
              <a:path extrusionOk="0" h="23817" w="23817">
                <a:moveTo>
                  <a:pt x="23817" y="0"/>
                </a:moveTo>
                <a:cubicBezTo>
                  <a:pt x="10662" y="0"/>
                  <a:pt x="0" y="10662"/>
                  <a:pt x="0" y="23817"/>
                </a:cubicBezTo>
                <a:lnTo>
                  <a:pt x="23817" y="23817"/>
                </a:lnTo>
                <a:lnTo>
                  <a:pt x="23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22"/>
          <p:cNvGrpSpPr/>
          <p:nvPr/>
        </p:nvGrpSpPr>
        <p:grpSpPr>
          <a:xfrm>
            <a:off x="719100" y="539400"/>
            <a:ext cx="7705800" cy="4064700"/>
            <a:chOff x="719100" y="539400"/>
            <a:chExt cx="7705800" cy="4064700"/>
          </a:xfrm>
        </p:grpSpPr>
        <p:cxnSp>
          <p:nvCxnSpPr>
            <p:cNvPr id="176" name="Google Shape;176;p22"/>
            <p:cNvCxnSpPr/>
            <p:nvPr/>
          </p:nvCxnSpPr>
          <p:spPr>
            <a:xfrm>
              <a:off x="719100" y="539400"/>
              <a:ext cx="7705800" cy="0"/>
            </a:xfrm>
            <a:prstGeom prst="straightConnector1">
              <a:avLst/>
            </a:prstGeom>
            <a:noFill/>
            <a:ln cap="flat" cmpd="sng" w="9525">
              <a:solidFill>
                <a:schemeClr val="dk1"/>
              </a:solidFill>
              <a:prstDash val="solid"/>
              <a:round/>
              <a:headEnd len="med" w="med" type="none"/>
              <a:tailEnd len="med" w="med" type="none"/>
            </a:ln>
          </p:spPr>
        </p:cxnSp>
        <p:cxnSp>
          <p:nvCxnSpPr>
            <p:cNvPr id="177" name="Google Shape;177;p22"/>
            <p:cNvCxnSpPr/>
            <p:nvPr/>
          </p:nvCxnSpPr>
          <p:spPr>
            <a:xfrm>
              <a:off x="719100" y="4604100"/>
              <a:ext cx="7705800" cy="0"/>
            </a:xfrm>
            <a:prstGeom prst="straightConnector1">
              <a:avLst/>
            </a:prstGeom>
            <a:noFill/>
            <a:ln cap="flat" cmpd="sng" w="9525">
              <a:solidFill>
                <a:schemeClr val="dk1"/>
              </a:solidFill>
              <a:prstDash val="solid"/>
              <a:round/>
              <a:headEnd len="med" w="med" type="none"/>
              <a:tailEnd len="med" w="med" type="none"/>
            </a:ln>
          </p:spPr>
        </p:cxnSp>
      </p:grpSp>
      <p:grpSp>
        <p:nvGrpSpPr>
          <p:cNvPr id="178" name="Google Shape;178;p22"/>
          <p:cNvGrpSpPr/>
          <p:nvPr/>
        </p:nvGrpSpPr>
        <p:grpSpPr>
          <a:xfrm flipH="1" rot="10800000">
            <a:off x="6949440" y="209181"/>
            <a:ext cx="2284753" cy="1607435"/>
            <a:chOff x="5539150" y="3176875"/>
            <a:chExt cx="2029449" cy="1427308"/>
          </a:xfrm>
        </p:grpSpPr>
        <p:sp>
          <p:nvSpPr>
            <p:cNvPr id="179" name="Google Shape;179;p22"/>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1"/>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1"/>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39400"/>
            <a:ext cx="7704000" cy="51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1pPr>
            <a:lvl2pPr lvl="1">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2pPr>
            <a:lvl3pPr lvl="2">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3pPr>
            <a:lvl4pPr lvl="3">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4pPr>
            <a:lvl5pPr lvl="4">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5pPr>
            <a:lvl6pPr lvl="5">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6pPr>
            <a:lvl7pPr lvl="6">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7pPr>
            <a:lvl8pPr lvl="7">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8pPr>
            <a:lvl9pPr lvl="8">
              <a:spcBef>
                <a:spcPts val="0"/>
              </a:spcBef>
              <a:spcAft>
                <a:spcPts val="0"/>
              </a:spcAft>
              <a:buClr>
                <a:schemeClr val="dk1"/>
              </a:buClr>
              <a:buSzPts val="3000"/>
              <a:buFont typeface="Poppins"/>
              <a:buNone/>
              <a:defRPr b="1" sz="30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1pPr>
            <a:lvl2pPr indent="-304800" lvl="1" marL="9144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2pPr>
            <a:lvl3pPr indent="-304800" lvl="2" marL="13716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3pPr>
            <a:lvl4pPr indent="-304800" lvl="3" marL="18288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4pPr>
            <a:lvl5pPr indent="-304800" lvl="4" marL="22860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5pPr>
            <a:lvl6pPr indent="-304800" lvl="5" marL="27432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6pPr>
            <a:lvl7pPr indent="-304800" lvl="6" marL="32004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7pPr>
            <a:lvl8pPr indent="-304800" lvl="7" marL="36576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8pPr>
            <a:lvl9pPr indent="-304800" lvl="8" marL="4114800">
              <a:lnSpc>
                <a:spcPct val="115000"/>
              </a:lnSpc>
              <a:spcBef>
                <a:spcPts val="0"/>
              </a:spcBef>
              <a:spcAft>
                <a:spcPts val="0"/>
              </a:spcAft>
              <a:buClr>
                <a:schemeClr val="dk1"/>
              </a:buClr>
              <a:buSzPts val="1200"/>
              <a:buFont typeface="Livvic"/>
              <a:buChar char="■"/>
              <a:defRPr sz="1200">
                <a:solidFill>
                  <a:schemeClr val="dk1"/>
                </a:solidFill>
                <a:latin typeface="Livvic"/>
                <a:ea typeface="Livvic"/>
                <a:cs typeface="Livvic"/>
                <a:sym typeface="Livv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italianbusinessregister.it/en/annual-accoun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onlinelibrary.wiley.com/doi/10.1111/j.1540-6261.1968.tb00843.x" TargetMode="External"/><Relationship Id="rId4" Type="http://schemas.openxmlformats.org/officeDocument/2006/relationships/hyperlink" Target="https://www-jstor-org.proxy.library.nyu.edu/stable/2490395"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doi.org/10.2307/249017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www.investopedia.com/terms/p/profitabilityratios.asp#:~:text=There%20are%20two%20main%20types,the%20company%20and%20its%20shareholders." TargetMode="External"/><Relationship Id="rId4" Type="http://schemas.openxmlformats.org/officeDocument/2006/relationships/hyperlink" Target="https://www.investopedia.com/terms/a/altman.asp#:~:text=How%20Is%20the%20Altman%20Z,*(sales%20/%20total%20asse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ttps://www.nber.org/papers/w18367" TargetMode="External"/><Relationship Id="rId4" Type="http://schemas.openxmlformats.org/officeDocument/2006/relationships/hyperlink" Target="https://mebfaber.com/wp-content/uploads/2020/11/Altman_Z_score_models_final.pdf"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corporatefinanceinstitute.com/resources/career-map/sell-side/risk-management/expected-loss-definition-calculation-importance/?utm_source=chatgpt.com" TargetMode="External"/><Relationship Id="rId4" Type="http://schemas.openxmlformats.org/officeDocument/2006/relationships/hyperlink" Target="https://www.federalreserve.gov/pubs/feds/2003/200362/200362pap.pdf?utm_source=chatgpt.com" TargetMode="External"/><Relationship Id="rId5" Type="http://schemas.openxmlformats.org/officeDocument/2006/relationships/hyperlink" Target="https://academic.oup.com/book/2180/chapter-abstract/142191838?redirectedFrom=fulltext&amp;login=fals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www.imf.org/en/-/media/files/publications/dp/2021/english/pdeoraifea.pdf" TargetMode="External"/><Relationship Id="rId4" Type="http://schemas.openxmlformats.org/officeDocument/2006/relationships/hyperlink" Target="https://finreglab.org/wp-content/uploads/2023/12/FinRegLab_2021-09-16_Research-Report_The-Use-of-Machine-Learning-for-Credit-Underwriting_Market-and-Data-Science-Context.pd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hyperlink" Target="https://gdpr-info.eu/art-22-gdpr/" TargetMode="External"/><Relationship Id="rId4" Type="http://schemas.openxmlformats.org/officeDocument/2006/relationships/hyperlink" Target="https://proceedings.neurips.cc/paper_files/paper/2017/file/8a20a8621978632d76c43dfd28b67767-Paper.pdf" TargetMode="External"/><Relationship Id="rId5" Type="http://schemas.openxmlformats.org/officeDocument/2006/relationships/hyperlink" Target="https://fairmlbook.org" TargetMode="External"/><Relationship Id="rId6" Type="http://schemas.openxmlformats.org/officeDocument/2006/relationships/hyperlink" Target="https://fairmlbook.org" TargetMode="External"/><Relationship Id="rId7" Type="http://schemas.openxmlformats.org/officeDocument/2006/relationships/hyperlink" Target="https://fairmlbook.or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3"/>
          <p:cNvSpPr txBox="1"/>
          <p:nvPr>
            <p:ph type="ctrTitle"/>
          </p:nvPr>
        </p:nvSpPr>
        <p:spPr>
          <a:xfrm>
            <a:off x="1120175" y="951399"/>
            <a:ext cx="5874300" cy="255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Team Lavender</a:t>
            </a:r>
            <a:endParaRPr sz="5500"/>
          </a:p>
          <a:p>
            <a:pPr indent="0" lvl="0" marL="0" rtl="0" algn="l">
              <a:spcBef>
                <a:spcPts val="0"/>
              </a:spcBef>
              <a:spcAft>
                <a:spcPts val="0"/>
              </a:spcAft>
              <a:buNone/>
            </a:pPr>
            <a:r>
              <a:rPr lang="en" sz="5500"/>
              <a:t>Pitch Deck</a:t>
            </a:r>
            <a:endParaRPr sz="5500"/>
          </a:p>
        </p:txBody>
      </p:sp>
      <p:sp>
        <p:nvSpPr>
          <p:cNvPr id="187" name="Google Shape;187;p23"/>
          <p:cNvSpPr txBox="1"/>
          <p:nvPr>
            <p:ph idx="1" type="subTitle"/>
          </p:nvPr>
        </p:nvSpPr>
        <p:spPr>
          <a:xfrm>
            <a:off x="1237375" y="3620702"/>
            <a:ext cx="3969300" cy="615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Mustafa Poonawala (msp9471),</a:t>
            </a:r>
            <a:endParaRPr/>
          </a:p>
          <a:p>
            <a:pPr indent="0" lvl="0" marL="0" rtl="0" algn="l">
              <a:spcBef>
                <a:spcPts val="0"/>
              </a:spcBef>
              <a:spcAft>
                <a:spcPts val="0"/>
              </a:spcAft>
              <a:buNone/>
            </a:pPr>
            <a:r>
              <a:rPr lang="en"/>
              <a:t>Yash Jadhav (yj3076)</a:t>
            </a:r>
            <a:endParaRPr/>
          </a:p>
        </p:txBody>
      </p:sp>
      <p:grpSp>
        <p:nvGrpSpPr>
          <p:cNvPr id="188" name="Google Shape;188;p23"/>
          <p:cNvGrpSpPr/>
          <p:nvPr/>
        </p:nvGrpSpPr>
        <p:grpSpPr>
          <a:xfrm>
            <a:off x="7406640" y="0"/>
            <a:ext cx="1763123" cy="2853109"/>
            <a:chOff x="7400700" y="0"/>
            <a:chExt cx="1747050" cy="2853109"/>
          </a:xfrm>
        </p:grpSpPr>
        <p:sp>
          <p:nvSpPr>
            <p:cNvPr id="189" name="Google Shape;189;p23"/>
            <p:cNvSpPr/>
            <p:nvPr/>
          </p:nvSpPr>
          <p:spPr>
            <a:xfrm rot="5400000">
              <a:off x="7402546" y="1107904"/>
              <a:ext cx="1743359" cy="1747050"/>
            </a:xfrm>
            <a:custGeom>
              <a:rect b="b" l="l" r="r" t="t"/>
              <a:pathLst>
                <a:path extrusionOk="0" h="23818" w="23818">
                  <a:moveTo>
                    <a:pt x="0" y="1"/>
                  </a:moveTo>
                  <a:lnTo>
                    <a:pt x="0" y="23817"/>
                  </a:lnTo>
                  <a:cubicBezTo>
                    <a:pt x="13155" y="23817"/>
                    <a:pt x="23817" y="13155"/>
                    <a:pt x="23817" y="1"/>
                  </a:cubicBezTo>
                  <a:close/>
                </a:path>
              </a:pathLst>
            </a:custGeom>
            <a:gradFill>
              <a:gsLst>
                <a:gs pos="0">
                  <a:srgbClr val="174B67">
                    <a:alpha val="34901"/>
                  </a:srgbClr>
                </a:gs>
                <a:gs pos="100000">
                  <a:srgbClr val="174B67">
                    <a:alpha val="5882"/>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3"/>
            <p:cNvSpPr/>
            <p:nvPr/>
          </p:nvSpPr>
          <p:spPr>
            <a:xfrm rot="5400000">
              <a:off x="8036028" y="1107829"/>
              <a:ext cx="1109800" cy="1113645"/>
            </a:xfrm>
            <a:custGeom>
              <a:rect b="b" l="l" r="r" t="t"/>
              <a:pathLst>
                <a:path extrusionOk="0" h="11910" w="11909">
                  <a:moveTo>
                    <a:pt x="0" y="1"/>
                  </a:moveTo>
                  <a:lnTo>
                    <a:pt x="0" y="11909"/>
                  </a:lnTo>
                  <a:cubicBezTo>
                    <a:pt x="6581" y="11909"/>
                    <a:pt x="11909" y="6581"/>
                    <a:pt x="11909" y="1"/>
                  </a:cubicBezTo>
                  <a:close/>
                </a:path>
              </a:pathLst>
            </a:custGeom>
            <a:gradFill>
              <a:gsLst>
                <a:gs pos="0">
                  <a:srgbClr val="174B67">
                    <a:alpha val="14901"/>
                    <a:alpha val="15000"/>
                  </a:srgbClr>
                </a:gs>
                <a:gs pos="100000">
                  <a:srgbClr val="174B67">
                    <a:alpha val="30196"/>
                    <a:alpha val="15000"/>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3"/>
            <p:cNvSpPr/>
            <p:nvPr/>
          </p:nvSpPr>
          <p:spPr>
            <a:xfrm rot="5400000">
              <a:off x="8036028" y="-1922"/>
              <a:ext cx="1109800" cy="1113645"/>
            </a:xfrm>
            <a:custGeom>
              <a:rect b="b" l="l" r="r" t="t"/>
              <a:pathLst>
                <a:path extrusionOk="0" h="11910" w="11909">
                  <a:moveTo>
                    <a:pt x="0" y="1"/>
                  </a:moveTo>
                  <a:cubicBezTo>
                    <a:pt x="0" y="6581"/>
                    <a:pt x="5334" y="11909"/>
                    <a:pt x="11908" y="11909"/>
                  </a:cubicBezTo>
                  <a:lnTo>
                    <a:pt x="11908" y="1"/>
                  </a:lnTo>
                  <a:close/>
                </a:path>
              </a:pathLst>
            </a:custGeom>
            <a:gradFill>
              <a:gsLst>
                <a:gs pos="0">
                  <a:srgbClr val="293F5D">
                    <a:alpha val="20000"/>
                  </a:srgbClr>
                </a:gs>
                <a:gs pos="100000">
                  <a:srgbClr val="4B4F73">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2851238" y="1831650"/>
            <a:ext cx="4732200" cy="148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Business Understanding</a:t>
            </a:r>
            <a:endParaRPr/>
          </a:p>
        </p:txBody>
      </p:sp>
      <p:sp>
        <p:nvSpPr>
          <p:cNvPr id="197" name="Google Shape;197;p24"/>
          <p:cNvSpPr txBox="1"/>
          <p:nvPr>
            <p:ph idx="2" type="title"/>
          </p:nvPr>
        </p:nvSpPr>
        <p:spPr>
          <a:xfrm>
            <a:off x="1560550" y="2083050"/>
            <a:ext cx="977400" cy="9774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98" name="Google Shape;198;p24"/>
          <p:cNvSpPr/>
          <p:nvPr/>
        </p:nvSpPr>
        <p:spPr>
          <a:xfrm rot="-5400000">
            <a:off x="7763042" y="326808"/>
            <a:ext cx="878151" cy="224535"/>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921"/>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4"/>
          <p:cNvSpPr/>
          <p:nvPr/>
        </p:nvSpPr>
        <p:spPr>
          <a:xfrm rot="-5400000">
            <a:off x="8410265" y="144464"/>
            <a:ext cx="878151" cy="589219"/>
          </a:xfrm>
          <a:custGeom>
            <a:rect b="b" l="l" r="r" t="t"/>
            <a:pathLst>
              <a:path extrusionOk="0" h="12463" w="47635">
                <a:moveTo>
                  <a:pt x="1" y="1"/>
                </a:moveTo>
                <a:lnTo>
                  <a:pt x="1" y="12463"/>
                </a:lnTo>
                <a:lnTo>
                  <a:pt x="47634" y="12463"/>
                </a:lnTo>
                <a:lnTo>
                  <a:pt x="47634" y="1"/>
                </a:lnTo>
                <a:close/>
              </a:path>
            </a:pathLst>
          </a:custGeom>
          <a:gradFill>
            <a:gsLst>
              <a:gs pos="0">
                <a:srgbClr val="FBF3ED">
                  <a:alpha val="30196"/>
                </a:srgbClr>
              </a:gs>
              <a:gs pos="100000">
                <a:srgbClr val="FBF3ED">
                  <a:alpha val="50196"/>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p:nvPr/>
        </p:nvSpPr>
        <p:spPr>
          <a:xfrm rot="-5400000">
            <a:off x="7995465" y="318918"/>
            <a:ext cx="878151" cy="240314"/>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137"/>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p:nvPr/>
        </p:nvSpPr>
        <p:spPr>
          <a:xfrm>
            <a:off x="5066500" y="4549700"/>
            <a:ext cx="405300" cy="654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206" name="Google Shape;206;p25"/>
          <p:cNvSpPr txBox="1"/>
          <p:nvPr>
            <p:ph type="title"/>
          </p:nvPr>
        </p:nvSpPr>
        <p:spPr>
          <a:xfrm>
            <a:off x="332100"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The Business Problem</a:t>
            </a:r>
            <a:endParaRPr sz="2000">
              <a:latin typeface="Livvic"/>
              <a:ea typeface="Livvic"/>
              <a:cs typeface="Livvic"/>
              <a:sym typeface="Livvic"/>
            </a:endParaRPr>
          </a:p>
        </p:txBody>
      </p:sp>
      <p:sp>
        <p:nvSpPr>
          <p:cNvPr id="207" name="Google Shape;207;p25"/>
          <p:cNvSpPr txBox="1"/>
          <p:nvPr/>
        </p:nvSpPr>
        <p:spPr>
          <a:xfrm>
            <a:off x="121600" y="582550"/>
            <a:ext cx="5198100" cy="4449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The client, </a:t>
            </a:r>
            <a:r>
              <a:rPr b="1" lang="en" sz="1100">
                <a:solidFill>
                  <a:schemeClr val="dk1"/>
                </a:solidFill>
                <a:latin typeface="Livvic"/>
                <a:ea typeface="Livvic"/>
                <a:cs typeface="Livvic"/>
                <a:sym typeface="Livvic"/>
              </a:rPr>
              <a:t>Banca Massiccia</a:t>
            </a:r>
            <a:r>
              <a:rPr lang="en" sz="1100">
                <a:solidFill>
                  <a:schemeClr val="dk1"/>
                </a:solidFill>
                <a:latin typeface="Livvic"/>
                <a:ea typeface="Livvic"/>
                <a:cs typeface="Livvic"/>
                <a:sym typeface="Livvic"/>
              </a:rPr>
              <a:t>, is a large Italian bank seeking to reduce losses from bad loans. Their goal is to get better predictions of the </a:t>
            </a:r>
            <a:r>
              <a:rPr b="1" lang="en" sz="1100">
                <a:solidFill>
                  <a:schemeClr val="dk1"/>
                </a:solidFill>
                <a:latin typeface="Livvic"/>
                <a:ea typeface="Livvic"/>
                <a:cs typeface="Livvic"/>
                <a:sym typeface="Livvic"/>
              </a:rPr>
              <a:t>one-year probability of default (PD)</a:t>
            </a:r>
            <a:r>
              <a:rPr lang="en" sz="1100">
                <a:solidFill>
                  <a:schemeClr val="dk1"/>
                </a:solidFill>
                <a:latin typeface="Livvic"/>
                <a:ea typeface="Livvic"/>
                <a:cs typeface="Livvic"/>
                <a:sym typeface="Livvic"/>
              </a:rPr>
              <a:t> for corporate borrowers.</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This project solves three distinct problems for the bank:</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Financial Problem:</a:t>
            </a:r>
            <a:r>
              <a:rPr lang="en" sz="1100">
                <a:solidFill>
                  <a:schemeClr val="dk1"/>
                </a:solidFill>
                <a:latin typeface="Livvic"/>
                <a:ea typeface="Livvic"/>
                <a:cs typeface="Livvic"/>
                <a:sym typeface="Livvic"/>
              </a:rPr>
              <a:t> The bank aims to implement true r</a:t>
            </a:r>
            <a:r>
              <a:rPr b="1" lang="en" sz="1100">
                <a:solidFill>
                  <a:schemeClr val="dk1"/>
                </a:solidFill>
                <a:latin typeface="Livvic"/>
                <a:ea typeface="Livvic"/>
                <a:cs typeface="Livvic"/>
                <a:sym typeface="Livvic"/>
              </a:rPr>
              <a:t>isk-based pricing</a:t>
            </a:r>
            <a:r>
              <a:rPr lang="en" sz="1100">
                <a:solidFill>
                  <a:schemeClr val="dk1"/>
                </a:solidFill>
                <a:latin typeface="Livvic"/>
                <a:ea typeface="Livvic"/>
                <a:cs typeface="Livvic"/>
                <a:sym typeface="Livvic"/>
              </a:rPr>
              <a:t>. Without a reliable and calibrated PD, they cannot accurately price credit risk, which leads to financial losses from under-pricing risky borrowers and opportunity costs from over-pricing safe borrowers who then move to competitors.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Operational Problem: </a:t>
            </a:r>
            <a:r>
              <a:rPr lang="en" sz="1100">
                <a:solidFill>
                  <a:schemeClr val="dk1"/>
                </a:solidFill>
                <a:latin typeface="Livvic"/>
                <a:ea typeface="Livvic"/>
                <a:cs typeface="Livvic"/>
                <a:sym typeface="Livvic"/>
              </a:rPr>
              <a:t>Although statistical methods are used, the current underwriting process still depends heavily on human judgment and manual review, making it slow, subjective, and difficult to reproduce consistently. The bank needs an automated, objective, and consistent PD-generation tool to support faster and more reliable decision-making.</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1000"/>
              </a:spcAft>
              <a:buClr>
                <a:schemeClr val="dk1"/>
              </a:buClr>
              <a:buSzPts val="1100"/>
              <a:buChar char="●"/>
            </a:pPr>
            <a:r>
              <a:rPr b="1" lang="en" sz="1100">
                <a:solidFill>
                  <a:schemeClr val="dk1"/>
                </a:solidFill>
                <a:latin typeface="Livvic"/>
                <a:ea typeface="Livvic"/>
                <a:cs typeface="Livvic"/>
                <a:sym typeface="Livvic"/>
              </a:rPr>
              <a:t>Regulatory Problem:</a:t>
            </a:r>
            <a:r>
              <a:rPr lang="en" sz="1100">
                <a:solidFill>
                  <a:schemeClr val="dk1"/>
                </a:solidFill>
                <a:latin typeface="Livvic"/>
                <a:ea typeface="Livvic"/>
                <a:cs typeface="Livvic"/>
                <a:sym typeface="Livvic"/>
              </a:rPr>
              <a:t> International accounting standards such as IFRS 9 require banks to calculate Expected Credit Loss (ECL), a formula that mandates a statistically valid and properly calibrated PD. Compliance with these standards is non-negotiable, making a robust PD model essential for accurate provisioning and regulatory reporting.</a:t>
            </a:r>
            <a:endParaRPr sz="1100">
              <a:solidFill>
                <a:schemeClr val="dk1"/>
              </a:solidFill>
              <a:latin typeface="Livvic"/>
              <a:ea typeface="Livvic"/>
              <a:cs typeface="Livvic"/>
              <a:sym typeface="Livvic"/>
            </a:endParaRPr>
          </a:p>
        </p:txBody>
      </p:sp>
      <p:sp>
        <p:nvSpPr>
          <p:cNvPr id="208" name="Google Shape;208;p25"/>
          <p:cNvSpPr/>
          <p:nvPr/>
        </p:nvSpPr>
        <p:spPr>
          <a:xfrm>
            <a:off x="5406400" y="111938"/>
            <a:ext cx="3632100" cy="815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ivvic"/>
                <a:ea typeface="Livvic"/>
                <a:cs typeface="Livvic"/>
                <a:sym typeface="Livvic"/>
              </a:rPr>
              <a:t>Client: Banca Massiccia </a:t>
            </a:r>
            <a:endParaRPr sz="1200">
              <a:latin typeface="Livvic"/>
              <a:ea typeface="Livvic"/>
              <a:cs typeface="Livvic"/>
              <a:sym typeface="Livvic"/>
            </a:endParaRPr>
          </a:p>
        </p:txBody>
      </p:sp>
      <p:sp>
        <p:nvSpPr>
          <p:cNvPr id="209" name="Google Shape;209;p25"/>
          <p:cNvSpPr/>
          <p:nvPr/>
        </p:nvSpPr>
        <p:spPr>
          <a:xfrm>
            <a:off x="5406400" y="1081738"/>
            <a:ext cx="3632100" cy="882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ivvic"/>
                <a:ea typeface="Livvic"/>
                <a:cs typeface="Livvic"/>
                <a:sym typeface="Livvic"/>
              </a:rPr>
              <a:t>Goal: Predict 1 Year Probability of Default (PD) </a:t>
            </a:r>
            <a:endParaRPr sz="1200">
              <a:latin typeface="Livvic"/>
              <a:ea typeface="Livvic"/>
              <a:cs typeface="Livvic"/>
              <a:sym typeface="Livvic"/>
            </a:endParaRPr>
          </a:p>
        </p:txBody>
      </p:sp>
      <p:sp>
        <p:nvSpPr>
          <p:cNvPr id="210" name="Google Shape;210;p25"/>
          <p:cNvSpPr/>
          <p:nvPr/>
        </p:nvSpPr>
        <p:spPr>
          <a:xfrm>
            <a:off x="5406400" y="2118138"/>
            <a:ext cx="3632100" cy="882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ivvic"/>
                <a:ea typeface="Livvic"/>
                <a:cs typeface="Livvic"/>
                <a:sym typeface="Livvic"/>
              </a:rPr>
              <a:t>Financial Problem: Need Reliable PD for Risk-Based Pricing</a:t>
            </a:r>
            <a:endParaRPr sz="1200">
              <a:latin typeface="Livvic"/>
              <a:ea typeface="Livvic"/>
              <a:cs typeface="Livvic"/>
              <a:sym typeface="Livvic"/>
            </a:endParaRPr>
          </a:p>
        </p:txBody>
      </p:sp>
      <p:sp>
        <p:nvSpPr>
          <p:cNvPr id="211" name="Google Shape;211;p25"/>
          <p:cNvSpPr/>
          <p:nvPr/>
        </p:nvSpPr>
        <p:spPr>
          <a:xfrm>
            <a:off x="5406700" y="3175388"/>
            <a:ext cx="3632100" cy="84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ivvic"/>
                <a:ea typeface="Livvic"/>
                <a:cs typeface="Livvic"/>
                <a:sym typeface="Livvic"/>
              </a:rPr>
              <a:t>Operational Problem: Heavy Human Judgment, Slow and Inconsistent</a:t>
            </a:r>
            <a:endParaRPr sz="1200">
              <a:latin typeface="Livvic"/>
              <a:ea typeface="Livvic"/>
              <a:cs typeface="Livvic"/>
              <a:sym typeface="Livvic"/>
            </a:endParaRPr>
          </a:p>
        </p:txBody>
      </p:sp>
      <p:sp>
        <p:nvSpPr>
          <p:cNvPr id="212" name="Google Shape;212;p25"/>
          <p:cNvSpPr/>
          <p:nvPr/>
        </p:nvSpPr>
        <p:spPr>
          <a:xfrm>
            <a:off x="5406700" y="4190938"/>
            <a:ext cx="3632100" cy="84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Livvic"/>
                <a:ea typeface="Livvic"/>
                <a:cs typeface="Livvic"/>
                <a:sym typeface="Livvic"/>
              </a:rPr>
              <a:t>Regulatory Problem: IFRS 9 Requires Calibrated PD for ECL</a:t>
            </a:r>
            <a:endParaRPr sz="1200">
              <a:latin typeface="Livvic"/>
              <a:ea typeface="Livvic"/>
              <a:cs typeface="Livvic"/>
              <a:sym typeface="Livvic"/>
            </a:endParaRPr>
          </a:p>
        </p:txBody>
      </p:sp>
      <p:cxnSp>
        <p:nvCxnSpPr>
          <p:cNvPr id="213" name="Google Shape;213;p25"/>
          <p:cNvCxnSpPr>
            <a:stCxn id="208" idx="2"/>
            <a:endCxn id="209" idx="0"/>
          </p:cNvCxnSpPr>
          <p:nvPr/>
        </p:nvCxnSpPr>
        <p:spPr>
          <a:xfrm>
            <a:off x="7222450" y="927638"/>
            <a:ext cx="0" cy="154200"/>
          </a:xfrm>
          <a:prstGeom prst="straightConnector1">
            <a:avLst/>
          </a:prstGeom>
          <a:noFill/>
          <a:ln cap="flat" cmpd="sng" w="9525">
            <a:solidFill>
              <a:schemeClr val="dk2"/>
            </a:solidFill>
            <a:prstDash val="solid"/>
            <a:round/>
            <a:headEnd len="med" w="med" type="none"/>
            <a:tailEnd len="med" w="med" type="triangle"/>
          </a:ln>
        </p:spPr>
      </p:cxnSp>
      <p:cxnSp>
        <p:nvCxnSpPr>
          <p:cNvPr id="214" name="Google Shape;214;p25"/>
          <p:cNvCxnSpPr>
            <a:endCxn id="210" idx="0"/>
          </p:cNvCxnSpPr>
          <p:nvPr/>
        </p:nvCxnSpPr>
        <p:spPr>
          <a:xfrm>
            <a:off x="7222450" y="1963938"/>
            <a:ext cx="0" cy="154200"/>
          </a:xfrm>
          <a:prstGeom prst="straightConnector1">
            <a:avLst/>
          </a:prstGeom>
          <a:noFill/>
          <a:ln cap="flat" cmpd="sng" w="9525">
            <a:solidFill>
              <a:schemeClr val="dk2"/>
            </a:solidFill>
            <a:prstDash val="solid"/>
            <a:round/>
            <a:headEnd len="med" w="med" type="none"/>
            <a:tailEnd len="med" w="med" type="triangle"/>
          </a:ln>
        </p:spPr>
      </p:cxnSp>
      <p:cxnSp>
        <p:nvCxnSpPr>
          <p:cNvPr id="215" name="Google Shape;215;p25"/>
          <p:cNvCxnSpPr>
            <a:endCxn id="211" idx="0"/>
          </p:cNvCxnSpPr>
          <p:nvPr/>
        </p:nvCxnSpPr>
        <p:spPr>
          <a:xfrm>
            <a:off x="7222450" y="3000488"/>
            <a:ext cx="300" cy="174900"/>
          </a:xfrm>
          <a:prstGeom prst="straightConnector1">
            <a:avLst/>
          </a:prstGeom>
          <a:noFill/>
          <a:ln cap="flat" cmpd="sng" w="9525">
            <a:solidFill>
              <a:schemeClr val="dk2"/>
            </a:solidFill>
            <a:prstDash val="solid"/>
            <a:round/>
            <a:headEnd len="med" w="med" type="none"/>
            <a:tailEnd len="med" w="med" type="triangle"/>
          </a:ln>
        </p:spPr>
      </p:cxnSp>
      <p:cxnSp>
        <p:nvCxnSpPr>
          <p:cNvPr id="216" name="Google Shape;216;p25"/>
          <p:cNvCxnSpPr>
            <a:endCxn id="212" idx="0"/>
          </p:cNvCxnSpPr>
          <p:nvPr/>
        </p:nvCxnSpPr>
        <p:spPr>
          <a:xfrm>
            <a:off x="7222750" y="4016038"/>
            <a:ext cx="0" cy="174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p:nvPr/>
        </p:nvSpPr>
        <p:spPr>
          <a:xfrm>
            <a:off x="463350" y="4306525"/>
            <a:ext cx="8217300" cy="570600"/>
          </a:xfrm>
          <a:prstGeom prst="rect">
            <a:avLst/>
          </a:prstGeom>
          <a:solidFill>
            <a:schemeClr val="lt1"/>
          </a:solidFill>
          <a:ln cap="flat" cmpd="sng" w="8400">
            <a:solidFill>
              <a:schemeClr val="lt1"/>
            </a:solidFill>
            <a:prstDash val="solid"/>
            <a:round/>
            <a:headEnd len="sm" w="sm" type="none"/>
            <a:tailEnd len="sm" w="sm" type="none"/>
          </a:ln>
        </p:spPr>
        <p:txBody>
          <a:bodyPr anchorCtr="0" anchor="ctr" bIns="80500" lIns="80500" spcFirstLastPara="1" rIns="80500" wrap="square" tIns="80500">
            <a:noAutofit/>
          </a:bodyPr>
          <a:lstStyle/>
          <a:p>
            <a:pPr indent="0" lvl="0" marL="0" rtl="0" algn="ctr">
              <a:spcBef>
                <a:spcPts val="0"/>
              </a:spcBef>
              <a:spcAft>
                <a:spcPts val="0"/>
              </a:spcAft>
              <a:buNone/>
            </a:pPr>
            <a:r>
              <a:t/>
            </a:r>
            <a:endParaRPr sz="1232">
              <a:latin typeface="Livvic"/>
              <a:ea typeface="Livvic"/>
              <a:cs typeface="Livvic"/>
              <a:sym typeface="Livvic"/>
            </a:endParaRPr>
          </a:p>
        </p:txBody>
      </p:sp>
      <p:sp>
        <p:nvSpPr>
          <p:cNvPr id="222" name="Google Shape;222;p26"/>
          <p:cNvSpPr txBox="1"/>
          <p:nvPr>
            <p:ph type="title"/>
          </p:nvPr>
        </p:nvSpPr>
        <p:spPr>
          <a:xfrm>
            <a:off x="476900" y="0"/>
            <a:ext cx="7547100" cy="461700"/>
          </a:xfrm>
          <a:prstGeom prst="rect">
            <a:avLst/>
          </a:prstGeom>
        </p:spPr>
        <p:txBody>
          <a:bodyPr anchorCtr="0" anchor="b" bIns="91425" lIns="91425" spcFirstLastPara="1" rIns="91425" wrap="square" tIns="91425">
            <a:spAutoFit/>
          </a:bodyPr>
          <a:lstStyle/>
          <a:p>
            <a:pPr indent="0" lvl="0" marL="0" rtl="0" algn="l">
              <a:lnSpc>
                <a:spcPct val="115000"/>
              </a:lnSpc>
              <a:spcBef>
                <a:spcPts val="1400"/>
              </a:spcBef>
              <a:spcAft>
                <a:spcPts val="400"/>
              </a:spcAft>
              <a:buNone/>
            </a:pPr>
            <a:r>
              <a:rPr lang="en" sz="1800">
                <a:latin typeface="Livvic"/>
                <a:ea typeface="Livvic"/>
                <a:cs typeface="Livvic"/>
                <a:sym typeface="Livvic"/>
              </a:rPr>
              <a:t>How Our Solution Precisely Addresses the Problem</a:t>
            </a:r>
            <a:endParaRPr sz="3000"/>
          </a:p>
        </p:txBody>
      </p:sp>
      <p:sp>
        <p:nvSpPr>
          <p:cNvPr id="223" name="Google Shape;223;p26"/>
          <p:cNvSpPr/>
          <p:nvPr/>
        </p:nvSpPr>
        <p:spPr>
          <a:xfrm>
            <a:off x="592200" y="635200"/>
            <a:ext cx="7959600" cy="3181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A simple "approve/deny" (classification) model would </a:t>
            </a:r>
            <a:r>
              <a:rPr b="1" lang="en" sz="1100">
                <a:solidFill>
                  <a:schemeClr val="dk1"/>
                </a:solidFill>
                <a:latin typeface="Livvic"/>
                <a:ea typeface="Livvic"/>
                <a:cs typeface="Livvic"/>
                <a:sym typeface="Livvic"/>
              </a:rPr>
              <a:t>fail</a:t>
            </a:r>
            <a:r>
              <a:rPr lang="en" sz="1100">
                <a:solidFill>
                  <a:schemeClr val="dk1"/>
                </a:solidFill>
                <a:latin typeface="Livvic"/>
                <a:ea typeface="Livvic"/>
                <a:cs typeface="Livvic"/>
                <a:sym typeface="Livvic"/>
              </a:rPr>
              <a:t> to solve the bank's problem. They don't just need a </a:t>
            </a:r>
            <a:r>
              <a:rPr i="1" lang="en" sz="1100">
                <a:solidFill>
                  <a:schemeClr val="dk1"/>
                </a:solidFill>
                <a:latin typeface="Livvic"/>
                <a:ea typeface="Livvic"/>
                <a:cs typeface="Livvic"/>
                <a:sym typeface="Livvic"/>
              </a:rPr>
              <a:t>ranking</a:t>
            </a:r>
            <a:r>
              <a:rPr lang="en" sz="1100">
                <a:solidFill>
                  <a:schemeClr val="dk1"/>
                </a:solidFill>
                <a:latin typeface="Livvic"/>
                <a:ea typeface="Livvic"/>
                <a:cs typeface="Livvic"/>
                <a:sym typeface="Livvic"/>
              </a:rPr>
              <a:t>; they need a </a:t>
            </a:r>
            <a:r>
              <a:rPr i="1" lang="en" sz="1100">
                <a:solidFill>
                  <a:schemeClr val="dk1"/>
                </a:solidFill>
                <a:latin typeface="Livvic"/>
                <a:ea typeface="Livvic"/>
                <a:cs typeface="Livvic"/>
                <a:sym typeface="Livvic"/>
              </a:rPr>
              <a:t>real, usable probability</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Our solution is a </a:t>
            </a:r>
            <a:r>
              <a:rPr b="1" lang="en" sz="1100">
                <a:solidFill>
                  <a:schemeClr val="dk1"/>
                </a:solidFill>
                <a:latin typeface="Livvic"/>
                <a:ea typeface="Livvic"/>
                <a:cs typeface="Livvic"/>
                <a:sym typeface="Livvic"/>
              </a:rPr>
              <a:t>two-stage, finance-aware pipeline</a:t>
            </a:r>
            <a:r>
              <a:rPr lang="en" sz="1100">
                <a:solidFill>
                  <a:schemeClr val="dk1"/>
                </a:solidFill>
                <a:latin typeface="Livvic"/>
                <a:ea typeface="Livvic"/>
                <a:cs typeface="Livvic"/>
                <a:sym typeface="Livvic"/>
              </a:rPr>
              <a:t> that delivers the exact, usable PD the bank requires.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Livvic"/>
                <a:ea typeface="Livvic"/>
                <a:cs typeface="Livvic"/>
                <a:sym typeface="Livvic"/>
              </a:rPr>
              <a:t>Stage 1: XGBoost Risk Engine: </a:t>
            </a:r>
            <a:r>
              <a:rPr lang="en" sz="1100">
                <a:solidFill>
                  <a:schemeClr val="dk1"/>
                </a:solidFill>
                <a:latin typeface="Livvic"/>
                <a:ea typeface="Livvic"/>
                <a:cs typeface="Livvic"/>
                <a:sym typeface="Livvic"/>
              </a:rPr>
              <a:t> We use an XGBClassifier to ingest our </a:t>
            </a:r>
            <a:r>
              <a:rPr b="1" lang="en" sz="1100">
                <a:solidFill>
                  <a:schemeClr val="dk1"/>
                </a:solidFill>
                <a:latin typeface="Livvic"/>
                <a:ea typeface="Livvic"/>
                <a:cs typeface="Livvic"/>
                <a:sym typeface="Livvic"/>
              </a:rPr>
              <a:t>12 final financial features</a:t>
            </a:r>
            <a:r>
              <a:rPr lang="en" sz="1100">
                <a:solidFill>
                  <a:schemeClr val="dk1"/>
                </a:solidFill>
                <a:latin typeface="Livvic"/>
                <a:ea typeface="Livvic"/>
                <a:cs typeface="Livvic"/>
                <a:sym typeface="Livvic"/>
              </a:rPr>
              <a:t> (like altman_z and cfroa_w). This model excels at finding the complex, </a:t>
            </a:r>
            <a:r>
              <a:rPr b="1" lang="en" sz="1100">
                <a:solidFill>
                  <a:schemeClr val="dk1"/>
                </a:solidFill>
                <a:latin typeface="Livvic"/>
                <a:ea typeface="Livvic"/>
                <a:cs typeface="Livvic"/>
                <a:sym typeface="Livvic"/>
              </a:rPr>
              <a:t>non-linear</a:t>
            </a:r>
            <a:r>
              <a:rPr lang="en" sz="1100">
                <a:solidFill>
                  <a:schemeClr val="dk1"/>
                </a:solidFill>
                <a:latin typeface="Livvic"/>
                <a:ea typeface="Livvic"/>
                <a:cs typeface="Livvic"/>
                <a:sym typeface="Livvic"/>
              </a:rPr>
              <a:t> risk patterns that traditional models miss, achieving a high discriminatory power (AUC: </a:t>
            </a:r>
            <a:r>
              <a:rPr b="1" lang="en" sz="1100">
                <a:solidFill>
                  <a:schemeClr val="dk1"/>
                </a:solidFill>
                <a:latin typeface="Livvic"/>
                <a:ea typeface="Livvic"/>
                <a:cs typeface="Livvic"/>
                <a:sym typeface="Livvic"/>
              </a:rPr>
              <a:t>0.837</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AutoNum type="arabicPeriod"/>
            </a:pPr>
            <a:r>
              <a:rPr b="1" lang="en" sz="1100">
                <a:solidFill>
                  <a:schemeClr val="dk1"/>
                </a:solidFill>
                <a:latin typeface="Livvic"/>
                <a:ea typeface="Livvic"/>
                <a:cs typeface="Livvic"/>
                <a:sym typeface="Livvic"/>
              </a:rPr>
              <a:t>Stage 2: Isotonic Calibration: </a:t>
            </a:r>
            <a:r>
              <a:rPr lang="en" sz="1100">
                <a:solidFill>
                  <a:schemeClr val="dk1"/>
                </a:solidFill>
                <a:latin typeface="Livvic"/>
                <a:ea typeface="Livvic"/>
                <a:cs typeface="Livvic"/>
                <a:sym typeface="Livvic"/>
              </a:rPr>
              <a:t>This is our key differentiator. The raw XGBoost score is not a real probability. We feed that score into our custom </a:t>
            </a:r>
            <a:r>
              <a:rPr lang="en" sz="1100">
                <a:solidFill>
                  <a:schemeClr val="dk1"/>
                </a:solidFill>
                <a:latin typeface="Livvic"/>
                <a:ea typeface="Livvic"/>
                <a:cs typeface="Livvic"/>
                <a:sym typeface="Livvic"/>
              </a:rPr>
              <a:t>PDModel Calibrator</a:t>
            </a:r>
            <a:r>
              <a:rPr lang="en" sz="1100">
                <a:solidFill>
                  <a:schemeClr val="dk1"/>
                </a:solidFill>
                <a:latin typeface="Livvic"/>
                <a:ea typeface="Livvic"/>
                <a:cs typeface="Livvic"/>
                <a:sym typeface="Livvic"/>
              </a:rPr>
              <a:t> (which uses </a:t>
            </a:r>
            <a:r>
              <a:rPr lang="en" sz="1100">
                <a:solidFill>
                  <a:schemeClr val="dk1"/>
                </a:solidFill>
                <a:latin typeface="Livvic"/>
                <a:ea typeface="Livvic"/>
                <a:cs typeface="Livvic"/>
                <a:sym typeface="Livvic"/>
              </a:rPr>
              <a:t>Isotonic Regression</a:t>
            </a:r>
            <a:r>
              <a:rPr lang="en" sz="1100">
                <a:solidFill>
                  <a:schemeClr val="dk1"/>
                </a:solidFill>
                <a:latin typeface="Livvic"/>
                <a:ea typeface="Livvic"/>
                <a:cs typeface="Livvic"/>
                <a:sym typeface="Livvic"/>
              </a:rPr>
              <a:t>) to convert it into a </a:t>
            </a:r>
            <a:r>
              <a:rPr b="1" lang="en" sz="1100">
                <a:solidFill>
                  <a:schemeClr val="dk1"/>
                </a:solidFill>
                <a:latin typeface="Livvic"/>
                <a:ea typeface="Livvic"/>
                <a:cs typeface="Livvic"/>
                <a:sym typeface="Livvic"/>
              </a:rPr>
              <a:t>true, reliable PD</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This two-stage model directly solves all three business problems: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Livvic"/>
                <a:ea typeface="Livvic"/>
                <a:cs typeface="Livvic"/>
                <a:sym typeface="Livvic"/>
              </a:rPr>
              <a:t>The </a:t>
            </a:r>
            <a:r>
              <a:rPr b="1" lang="en" sz="1100">
                <a:solidFill>
                  <a:schemeClr val="dk1"/>
                </a:solidFill>
                <a:latin typeface="Livvic"/>
                <a:ea typeface="Livvic"/>
                <a:cs typeface="Livvic"/>
                <a:sym typeface="Livvic"/>
              </a:rPr>
              <a:t>calibrated PD</a:t>
            </a:r>
            <a:r>
              <a:rPr lang="en" sz="1100">
                <a:solidFill>
                  <a:schemeClr val="dk1"/>
                </a:solidFill>
                <a:latin typeface="Livvic"/>
                <a:ea typeface="Livvic"/>
                <a:cs typeface="Livvic"/>
                <a:sym typeface="Livvic"/>
              </a:rPr>
              <a:t> is the direct input for their ECL and risk-based pricing formulas.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The entire pipeline is automated in harness.py, solving the slow, manual operational problem.</a:t>
            </a:r>
            <a:endParaRPr b="1" sz="1100">
              <a:solidFill>
                <a:schemeClr val="dk1"/>
              </a:solidFill>
              <a:latin typeface="Livvic"/>
              <a:ea typeface="Livvic"/>
              <a:cs typeface="Livvic"/>
              <a:sym typeface="Livvic"/>
            </a:endParaRPr>
          </a:p>
        </p:txBody>
      </p:sp>
      <p:sp>
        <p:nvSpPr>
          <p:cNvPr id="224" name="Google Shape;224;p26"/>
          <p:cNvSpPr/>
          <p:nvPr/>
        </p:nvSpPr>
        <p:spPr>
          <a:xfrm>
            <a:off x="592225" y="3990200"/>
            <a:ext cx="1439400" cy="730200"/>
          </a:xfrm>
          <a:prstGeom prst="roundRect">
            <a:avLst>
              <a:gd fmla="val 16667" name="adj"/>
            </a:avLst>
          </a:prstGeom>
          <a:solidFill>
            <a:schemeClr val="lt2"/>
          </a:solidFill>
          <a:ln cap="flat" cmpd="sng" w="8750">
            <a:solidFill>
              <a:schemeClr val="dk2"/>
            </a:solidFill>
            <a:prstDash val="solid"/>
            <a:round/>
            <a:headEnd len="sm" w="sm" type="none"/>
            <a:tailEnd len="sm" w="sm" type="none"/>
          </a:ln>
        </p:spPr>
        <p:txBody>
          <a:bodyPr anchorCtr="0" anchor="ctr" bIns="83800" lIns="83800" spcFirstLastPara="1" rIns="83800" wrap="square" tIns="83800">
            <a:noAutofit/>
          </a:bodyPr>
          <a:lstStyle/>
          <a:p>
            <a:pPr indent="0" lvl="0" marL="0" rtl="0" algn="ctr">
              <a:spcBef>
                <a:spcPts val="0"/>
              </a:spcBef>
              <a:spcAft>
                <a:spcPts val="0"/>
              </a:spcAft>
              <a:buNone/>
            </a:pPr>
            <a:r>
              <a:rPr lang="en" sz="1283">
                <a:latin typeface="Livvic"/>
                <a:ea typeface="Livvic"/>
                <a:cs typeface="Livvic"/>
                <a:sym typeface="Livvic"/>
              </a:rPr>
              <a:t>Stage 1A:</a:t>
            </a:r>
            <a:endParaRPr sz="1283">
              <a:latin typeface="Livvic"/>
              <a:ea typeface="Livvic"/>
              <a:cs typeface="Livvic"/>
              <a:sym typeface="Livvic"/>
            </a:endParaRPr>
          </a:p>
          <a:p>
            <a:pPr indent="0" lvl="0" marL="0" rtl="0" algn="ctr">
              <a:spcBef>
                <a:spcPts val="0"/>
              </a:spcBef>
              <a:spcAft>
                <a:spcPts val="0"/>
              </a:spcAft>
              <a:buNone/>
            </a:pPr>
            <a:r>
              <a:rPr lang="en" sz="1283">
                <a:latin typeface="Livvic"/>
                <a:ea typeface="Livvic"/>
                <a:cs typeface="Livvic"/>
                <a:sym typeface="Livvic"/>
              </a:rPr>
              <a:t>XGBoost Risk Engine</a:t>
            </a:r>
            <a:endParaRPr sz="1283">
              <a:latin typeface="Livvic"/>
              <a:ea typeface="Livvic"/>
              <a:cs typeface="Livvic"/>
              <a:sym typeface="Livvic"/>
            </a:endParaRPr>
          </a:p>
        </p:txBody>
      </p:sp>
      <p:sp>
        <p:nvSpPr>
          <p:cNvPr id="225" name="Google Shape;225;p26"/>
          <p:cNvSpPr/>
          <p:nvPr/>
        </p:nvSpPr>
        <p:spPr>
          <a:xfrm>
            <a:off x="2222263" y="3990200"/>
            <a:ext cx="1439400" cy="730200"/>
          </a:xfrm>
          <a:prstGeom prst="roundRect">
            <a:avLst>
              <a:gd fmla="val 16667" name="adj"/>
            </a:avLst>
          </a:prstGeom>
          <a:solidFill>
            <a:schemeClr val="lt2"/>
          </a:solidFill>
          <a:ln cap="flat" cmpd="sng" w="8750">
            <a:solidFill>
              <a:schemeClr val="dk2"/>
            </a:solidFill>
            <a:prstDash val="solid"/>
            <a:round/>
            <a:headEnd len="sm" w="sm" type="none"/>
            <a:tailEnd len="sm" w="sm" type="none"/>
          </a:ln>
        </p:spPr>
        <p:txBody>
          <a:bodyPr anchorCtr="0" anchor="ctr" bIns="83800" lIns="83800" spcFirstLastPara="1" rIns="83800" wrap="square" tIns="83800">
            <a:noAutofit/>
          </a:bodyPr>
          <a:lstStyle/>
          <a:p>
            <a:pPr indent="0" lvl="0" marL="0" rtl="0" algn="ctr">
              <a:spcBef>
                <a:spcPts val="0"/>
              </a:spcBef>
              <a:spcAft>
                <a:spcPts val="0"/>
              </a:spcAft>
              <a:buNone/>
            </a:pPr>
            <a:r>
              <a:rPr lang="en" sz="1283">
                <a:latin typeface="Livvic"/>
                <a:ea typeface="Livvic"/>
                <a:cs typeface="Livvic"/>
                <a:sym typeface="Livvic"/>
              </a:rPr>
              <a:t>Stage 1B:</a:t>
            </a:r>
            <a:endParaRPr sz="1283">
              <a:latin typeface="Livvic"/>
              <a:ea typeface="Livvic"/>
              <a:cs typeface="Livvic"/>
              <a:sym typeface="Livvic"/>
            </a:endParaRPr>
          </a:p>
          <a:p>
            <a:pPr indent="0" lvl="0" marL="0" rtl="0" algn="ctr">
              <a:spcBef>
                <a:spcPts val="0"/>
              </a:spcBef>
              <a:spcAft>
                <a:spcPts val="0"/>
              </a:spcAft>
              <a:buNone/>
            </a:pPr>
            <a:r>
              <a:rPr lang="en" sz="1283">
                <a:latin typeface="Livvic"/>
                <a:ea typeface="Livvic"/>
                <a:cs typeface="Livvic"/>
                <a:sym typeface="Livvic"/>
              </a:rPr>
              <a:t>Ingest Financial Features</a:t>
            </a:r>
            <a:endParaRPr sz="1283">
              <a:latin typeface="Livvic"/>
              <a:ea typeface="Livvic"/>
              <a:cs typeface="Livvic"/>
              <a:sym typeface="Livvic"/>
            </a:endParaRPr>
          </a:p>
        </p:txBody>
      </p:sp>
      <p:sp>
        <p:nvSpPr>
          <p:cNvPr id="226" name="Google Shape;226;p26"/>
          <p:cNvSpPr/>
          <p:nvPr/>
        </p:nvSpPr>
        <p:spPr>
          <a:xfrm>
            <a:off x="3852301" y="3990200"/>
            <a:ext cx="1439400" cy="730200"/>
          </a:xfrm>
          <a:prstGeom prst="roundRect">
            <a:avLst>
              <a:gd fmla="val 16667" name="adj"/>
            </a:avLst>
          </a:prstGeom>
          <a:solidFill>
            <a:schemeClr val="lt2"/>
          </a:solidFill>
          <a:ln cap="flat" cmpd="sng" w="8750">
            <a:solidFill>
              <a:schemeClr val="dk2"/>
            </a:solidFill>
            <a:prstDash val="solid"/>
            <a:round/>
            <a:headEnd len="sm" w="sm" type="none"/>
            <a:tailEnd len="sm" w="sm" type="none"/>
          </a:ln>
        </p:spPr>
        <p:txBody>
          <a:bodyPr anchorCtr="0" anchor="ctr" bIns="83800" lIns="83800" spcFirstLastPara="1" rIns="83800" wrap="square" tIns="83800">
            <a:noAutofit/>
          </a:bodyPr>
          <a:lstStyle/>
          <a:p>
            <a:pPr indent="0" lvl="0" marL="0" rtl="0" algn="ctr">
              <a:spcBef>
                <a:spcPts val="0"/>
              </a:spcBef>
              <a:spcAft>
                <a:spcPts val="0"/>
              </a:spcAft>
              <a:buNone/>
            </a:pPr>
            <a:r>
              <a:rPr lang="en" sz="1283">
                <a:latin typeface="Livvic"/>
                <a:ea typeface="Livvic"/>
                <a:cs typeface="Livvic"/>
                <a:sym typeface="Livvic"/>
              </a:rPr>
              <a:t>Stage 1C:</a:t>
            </a:r>
            <a:endParaRPr sz="1283">
              <a:latin typeface="Livvic"/>
              <a:ea typeface="Livvic"/>
              <a:cs typeface="Livvic"/>
              <a:sym typeface="Livvic"/>
            </a:endParaRPr>
          </a:p>
          <a:p>
            <a:pPr indent="0" lvl="0" marL="0" rtl="0" algn="ctr">
              <a:spcBef>
                <a:spcPts val="0"/>
              </a:spcBef>
              <a:spcAft>
                <a:spcPts val="0"/>
              </a:spcAft>
              <a:buNone/>
            </a:pPr>
            <a:r>
              <a:rPr lang="en" sz="1283">
                <a:latin typeface="Livvic"/>
                <a:ea typeface="Livvic"/>
                <a:cs typeface="Livvic"/>
                <a:sym typeface="Livvic"/>
              </a:rPr>
              <a:t>Find Non Linear Risk Patterns</a:t>
            </a:r>
            <a:endParaRPr sz="1283">
              <a:latin typeface="Livvic"/>
              <a:ea typeface="Livvic"/>
              <a:cs typeface="Livvic"/>
              <a:sym typeface="Livvic"/>
            </a:endParaRPr>
          </a:p>
        </p:txBody>
      </p:sp>
      <p:sp>
        <p:nvSpPr>
          <p:cNvPr id="227" name="Google Shape;227;p26"/>
          <p:cNvSpPr/>
          <p:nvPr/>
        </p:nvSpPr>
        <p:spPr>
          <a:xfrm>
            <a:off x="5482338" y="3990200"/>
            <a:ext cx="1439400" cy="730200"/>
          </a:xfrm>
          <a:prstGeom prst="roundRect">
            <a:avLst>
              <a:gd fmla="val 16667" name="adj"/>
            </a:avLst>
          </a:prstGeom>
          <a:solidFill>
            <a:schemeClr val="lt2"/>
          </a:solidFill>
          <a:ln cap="flat" cmpd="sng" w="8750">
            <a:solidFill>
              <a:schemeClr val="dk2"/>
            </a:solidFill>
            <a:prstDash val="solid"/>
            <a:round/>
            <a:headEnd len="sm" w="sm" type="none"/>
            <a:tailEnd len="sm" w="sm" type="none"/>
          </a:ln>
        </p:spPr>
        <p:txBody>
          <a:bodyPr anchorCtr="0" anchor="ctr" bIns="83800" lIns="83800" spcFirstLastPara="1" rIns="83800" wrap="square" tIns="83800">
            <a:noAutofit/>
          </a:bodyPr>
          <a:lstStyle/>
          <a:p>
            <a:pPr indent="0" lvl="0" marL="0" rtl="0" algn="ctr">
              <a:spcBef>
                <a:spcPts val="0"/>
              </a:spcBef>
              <a:spcAft>
                <a:spcPts val="0"/>
              </a:spcAft>
              <a:buNone/>
            </a:pPr>
            <a:r>
              <a:rPr lang="en" sz="1283">
                <a:latin typeface="Livvic"/>
                <a:ea typeface="Livvic"/>
                <a:cs typeface="Livvic"/>
                <a:sym typeface="Livvic"/>
              </a:rPr>
              <a:t>Stage 2:</a:t>
            </a:r>
            <a:endParaRPr sz="1283">
              <a:latin typeface="Livvic"/>
              <a:ea typeface="Livvic"/>
              <a:cs typeface="Livvic"/>
              <a:sym typeface="Livvic"/>
            </a:endParaRPr>
          </a:p>
          <a:p>
            <a:pPr indent="0" lvl="0" marL="0" rtl="0" algn="ctr">
              <a:spcBef>
                <a:spcPts val="0"/>
              </a:spcBef>
              <a:spcAft>
                <a:spcPts val="0"/>
              </a:spcAft>
              <a:buNone/>
            </a:pPr>
            <a:r>
              <a:rPr lang="en" sz="1283">
                <a:latin typeface="Livvic"/>
                <a:ea typeface="Livvic"/>
                <a:cs typeface="Livvic"/>
                <a:sym typeface="Livvic"/>
              </a:rPr>
              <a:t>Regression Calibration</a:t>
            </a:r>
            <a:endParaRPr sz="1283">
              <a:latin typeface="Livvic"/>
              <a:ea typeface="Livvic"/>
              <a:cs typeface="Livvic"/>
              <a:sym typeface="Livvic"/>
            </a:endParaRPr>
          </a:p>
        </p:txBody>
      </p:sp>
      <p:sp>
        <p:nvSpPr>
          <p:cNvPr id="228" name="Google Shape;228;p26"/>
          <p:cNvSpPr/>
          <p:nvPr/>
        </p:nvSpPr>
        <p:spPr>
          <a:xfrm>
            <a:off x="7112376" y="3990200"/>
            <a:ext cx="1439400" cy="730200"/>
          </a:xfrm>
          <a:prstGeom prst="roundRect">
            <a:avLst>
              <a:gd fmla="val 16667" name="adj"/>
            </a:avLst>
          </a:prstGeom>
          <a:solidFill>
            <a:schemeClr val="lt2"/>
          </a:solidFill>
          <a:ln cap="flat" cmpd="sng" w="8750">
            <a:solidFill>
              <a:schemeClr val="dk2"/>
            </a:solidFill>
            <a:prstDash val="solid"/>
            <a:round/>
            <a:headEnd len="sm" w="sm" type="none"/>
            <a:tailEnd len="sm" w="sm" type="none"/>
          </a:ln>
        </p:spPr>
        <p:txBody>
          <a:bodyPr anchorCtr="0" anchor="ctr" bIns="83800" lIns="83800" spcFirstLastPara="1" rIns="83800" wrap="square" tIns="83800">
            <a:noAutofit/>
          </a:bodyPr>
          <a:lstStyle/>
          <a:p>
            <a:pPr indent="0" lvl="0" marL="0" rtl="0" algn="ctr">
              <a:spcBef>
                <a:spcPts val="0"/>
              </a:spcBef>
              <a:spcAft>
                <a:spcPts val="0"/>
              </a:spcAft>
              <a:buNone/>
            </a:pPr>
            <a:r>
              <a:rPr lang="en" sz="1283">
                <a:latin typeface="Livvic"/>
                <a:ea typeface="Livvic"/>
                <a:cs typeface="Livvic"/>
                <a:sym typeface="Livvic"/>
              </a:rPr>
              <a:t>Converts Raw Score → True PD</a:t>
            </a:r>
            <a:endParaRPr sz="1283">
              <a:latin typeface="Livvic"/>
              <a:ea typeface="Livvic"/>
              <a:cs typeface="Livvic"/>
              <a:sym typeface="Livvic"/>
            </a:endParaRPr>
          </a:p>
        </p:txBody>
      </p:sp>
      <p:cxnSp>
        <p:nvCxnSpPr>
          <p:cNvPr id="229" name="Google Shape;229;p26"/>
          <p:cNvCxnSpPr>
            <a:stCxn id="224" idx="3"/>
            <a:endCxn id="225" idx="1"/>
          </p:cNvCxnSpPr>
          <p:nvPr/>
        </p:nvCxnSpPr>
        <p:spPr>
          <a:xfrm>
            <a:off x="2031625" y="4355300"/>
            <a:ext cx="190500" cy="0"/>
          </a:xfrm>
          <a:prstGeom prst="straightConnector1">
            <a:avLst/>
          </a:prstGeom>
          <a:noFill/>
          <a:ln cap="flat" cmpd="sng" w="9925">
            <a:solidFill>
              <a:schemeClr val="dk2"/>
            </a:solidFill>
            <a:prstDash val="solid"/>
            <a:round/>
            <a:headEnd len="med" w="med" type="none"/>
            <a:tailEnd len="med" w="med" type="triangle"/>
          </a:ln>
        </p:spPr>
      </p:cxnSp>
      <p:cxnSp>
        <p:nvCxnSpPr>
          <p:cNvPr id="230" name="Google Shape;230;p26"/>
          <p:cNvCxnSpPr>
            <a:endCxn id="226" idx="1"/>
          </p:cNvCxnSpPr>
          <p:nvPr/>
        </p:nvCxnSpPr>
        <p:spPr>
          <a:xfrm>
            <a:off x="3661801" y="4355300"/>
            <a:ext cx="190500" cy="0"/>
          </a:xfrm>
          <a:prstGeom prst="straightConnector1">
            <a:avLst/>
          </a:prstGeom>
          <a:noFill/>
          <a:ln cap="flat" cmpd="sng" w="9925">
            <a:solidFill>
              <a:schemeClr val="dk2"/>
            </a:solidFill>
            <a:prstDash val="solid"/>
            <a:round/>
            <a:headEnd len="med" w="med" type="none"/>
            <a:tailEnd len="med" w="med" type="triangle"/>
          </a:ln>
        </p:spPr>
      </p:cxnSp>
      <p:cxnSp>
        <p:nvCxnSpPr>
          <p:cNvPr id="231" name="Google Shape;231;p26"/>
          <p:cNvCxnSpPr>
            <a:stCxn id="226" idx="3"/>
            <a:endCxn id="227" idx="1"/>
          </p:cNvCxnSpPr>
          <p:nvPr/>
        </p:nvCxnSpPr>
        <p:spPr>
          <a:xfrm>
            <a:off x="5291701" y="4355300"/>
            <a:ext cx="190500" cy="0"/>
          </a:xfrm>
          <a:prstGeom prst="straightConnector1">
            <a:avLst/>
          </a:prstGeom>
          <a:noFill/>
          <a:ln cap="flat" cmpd="sng" w="9925">
            <a:solidFill>
              <a:schemeClr val="dk2"/>
            </a:solidFill>
            <a:prstDash val="solid"/>
            <a:round/>
            <a:headEnd len="med" w="med" type="none"/>
            <a:tailEnd len="med" w="med" type="triangle"/>
          </a:ln>
        </p:spPr>
      </p:cxnSp>
      <p:cxnSp>
        <p:nvCxnSpPr>
          <p:cNvPr id="232" name="Google Shape;232;p26"/>
          <p:cNvCxnSpPr>
            <a:endCxn id="228" idx="1"/>
          </p:cNvCxnSpPr>
          <p:nvPr/>
        </p:nvCxnSpPr>
        <p:spPr>
          <a:xfrm>
            <a:off x="6921876" y="4355300"/>
            <a:ext cx="190500" cy="0"/>
          </a:xfrm>
          <a:prstGeom prst="straightConnector1">
            <a:avLst/>
          </a:prstGeom>
          <a:noFill/>
          <a:ln cap="flat" cmpd="sng" w="99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p:nvPr/>
        </p:nvSpPr>
        <p:spPr>
          <a:xfrm>
            <a:off x="321150" y="4357175"/>
            <a:ext cx="8501700" cy="547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238" name="Google Shape;238;p27"/>
          <p:cNvSpPr txBox="1"/>
          <p:nvPr>
            <p:ph type="title"/>
          </p:nvPr>
        </p:nvSpPr>
        <p:spPr>
          <a:xfrm>
            <a:off x="462650" y="0"/>
            <a:ext cx="63408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400"/>
              </a:spcBef>
              <a:spcAft>
                <a:spcPts val="400"/>
              </a:spcAft>
              <a:buNone/>
            </a:pPr>
            <a:r>
              <a:rPr lang="en" sz="2000">
                <a:latin typeface="Livvic"/>
                <a:ea typeface="Livvic"/>
                <a:cs typeface="Livvic"/>
                <a:sym typeface="Livvic"/>
              </a:rPr>
              <a:t>Our Hybrid Approach vs. Past Work </a:t>
            </a:r>
            <a:endParaRPr sz="2000">
              <a:latin typeface="Livvic"/>
              <a:ea typeface="Livvic"/>
              <a:cs typeface="Livvic"/>
              <a:sym typeface="Livvic"/>
            </a:endParaRPr>
          </a:p>
        </p:txBody>
      </p:sp>
      <p:sp>
        <p:nvSpPr>
          <p:cNvPr id="239" name="Google Shape;239;p27"/>
          <p:cNvSpPr txBox="1"/>
          <p:nvPr/>
        </p:nvSpPr>
        <p:spPr>
          <a:xfrm>
            <a:off x="38400" y="531525"/>
            <a:ext cx="9067200" cy="480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Our approach is a hybrid that is superior to both the traditional finance and the "ML-only" methods, which both fall into critical traps.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Traditional Finance Approach (</a:t>
            </a:r>
            <a:r>
              <a:rPr b="1" lang="en" sz="1100">
                <a:solidFill>
                  <a:schemeClr val="dk1"/>
                </a:solidFill>
                <a:latin typeface="Livvic"/>
                <a:ea typeface="Livvic"/>
                <a:cs typeface="Livvic"/>
                <a:sym typeface="Livvic"/>
              </a:rPr>
              <a:t>e.g: </a:t>
            </a:r>
            <a:r>
              <a:rPr b="1" lang="en" sz="1100">
                <a:solidFill>
                  <a:schemeClr val="dk1"/>
                </a:solidFill>
                <a:latin typeface="Livvic"/>
                <a:ea typeface="Livvic"/>
                <a:cs typeface="Livvic"/>
                <a:sym typeface="Livvic"/>
              </a:rPr>
              <a:t>Logistic Regression): </a:t>
            </a:r>
            <a:r>
              <a:rPr lang="en" sz="1100">
                <a:solidFill>
                  <a:schemeClr val="dk1"/>
                </a:solidFill>
                <a:latin typeface="Livvic"/>
                <a:ea typeface="Livvic"/>
                <a:cs typeface="Livvic"/>
                <a:sym typeface="Livvic"/>
              </a:rPr>
              <a:t>This is the long-standing industry standard.</a:t>
            </a:r>
            <a:endParaRPr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AutoNum type="arabicPeriod"/>
            </a:pPr>
            <a:r>
              <a:rPr b="1" lang="en" sz="1100">
                <a:solidFill>
                  <a:schemeClr val="dk1"/>
                </a:solidFill>
                <a:latin typeface="Livvic"/>
                <a:ea typeface="Livvic"/>
                <a:cs typeface="Livvic"/>
                <a:sym typeface="Livvic"/>
              </a:rPr>
              <a:t>Good Idea We Kept: </a:t>
            </a:r>
            <a:r>
              <a:rPr lang="en" sz="1100">
                <a:solidFill>
                  <a:schemeClr val="dk1"/>
                </a:solidFill>
                <a:latin typeface="Livvic"/>
                <a:ea typeface="Livvic"/>
                <a:cs typeface="Livvic"/>
                <a:sym typeface="Livvic"/>
              </a:rPr>
              <a:t>Traditional models are grounded in financial theory. We preserved this strength by engineering finance-aware variables, such as the Altman Z-score, as core inputs.</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The Trap: Logistic regression is linear. </a:t>
            </a:r>
            <a:r>
              <a:rPr lang="en" sz="1100">
                <a:solidFill>
                  <a:schemeClr val="dk1"/>
                </a:solidFill>
                <a:latin typeface="Livvic"/>
                <a:ea typeface="Livvic"/>
                <a:cs typeface="Livvic"/>
                <a:sym typeface="Livvic"/>
              </a:rPr>
              <a:t>It cannot capture the </a:t>
            </a:r>
            <a:r>
              <a:rPr lang="en" sz="1100">
                <a:solidFill>
                  <a:schemeClr val="dk1"/>
                </a:solidFill>
                <a:latin typeface="Livvic"/>
                <a:ea typeface="Livvic"/>
                <a:cs typeface="Livvic"/>
                <a:sym typeface="Livvic"/>
              </a:rPr>
              <a:t>nonlinear</a:t>
            </a:r>
            <a:r>
              <a:rPr lang="en" sz="1100">
                <a:solidFill>
                  <a:schemeClr val="dk1"/>
                </a:solidFill>
                <a:latin typeface="Livvic"/>
                <a:ea typeface="Livvic"/>
                <a:cs typeface="Livvic"/>
                <a:sym typeface="Livvic"/>
              </a:rPr>
              <a:t> interactions that drive real credit risk (e.g., high leverage is acceptable if cash flow is strong, but dangerous when cash flow is weak).</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"ML-Only" Approach (e.g: Raw XGBoost):</a:t>
            </a:r>
            <a:r>
              <a:rPr lang="en" sz="1100">
                <a:solidFill>
                  <a:schemeClr val="dk1"/>
                </a:solidFill>
                <a:latin typeface="Livvic"/>
                <a:ea typeface="Livvic"/>
                <a:cs typeface="Livvic"/>
                <a:sym typeface="Livvic"/>
              </a:rPr>
              <a:t> Many modern FinTechs fall into this trap.</a:t>
            </a:r>
            <a:endParaRPr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AutoNum type="arabicPeriod"/>
            </a:pPr>
            <a:r>
              <a:rPr b="1" lang="en" sz="1100">
                <a:solidFill>
                  <a:schemeClr val="dk1"/>
                </a:solidFill>
                <a:latin typeface="Livvic"/>
                <a:ea typeface="Livvic"/>
                <a:cs typeface="Livvic"/>
                <a:sym typeface="Livvic"/>
              </a:rPr>
              <a:t>What They Do:</a:t>
            </a:r>
            <a:r>
              <a:rPr lang="en" sz="1100">
                <a:solidFill>
                  <a:schemeClr val="dk1"/>
                </a:solidFill>
                <a:latin typeface="Livvic"/>
                <a:ea typeface="Livvic"/>
                <a:cs typeface="Livvic"/>
                <a:sym typeface="Livvic"/>
              </a:rPr>
              <a:t> They use a powerful algorithm like XGBoost to achieve high discriminatory power (e.g., AUC 0.837) and stop there. </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The Trap:</a:t>
            </a:r>
            <a:r>
              <a:rPr lang="en" sz="1100">
                <a:solidFill>
                  <a:schemeClr val="dk1"/>
                </a:solidFill>
                <a:latin typeface="Livvic"/>
                <a:ea typeface="Livvic"/>
                <a:cs typeface="Livvic"/>
                <a:sym typeface="Livvic"/>
              </a:rPr>
              <a:t> </a:t>
            </a:r>
            <a:r>
              <a:rPr lang="en" sz="1100">
                <a:solidFill>
                  <a:schemeClr val="dk1"/>
                </a:solidFill>
              </a:rPr>
              <a:t>The model remains a black box, and its raw scores are uncalibrated. Without calibration, the output cannot be used for pricing or IFRS-9 ECL calculations. They build a strong engine but do not connect it to the controls the bank actually needs.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Our Hybrid Approach:</a:t>
            </a:r>
            <a:r>
              <a:rPr lang="en" sz="1100">
                <a:solidFill>
                  <a:schemeClr val="dk1"/>
                </a:solidFill>
                <a:latin typeface="Livvic"/>
                <a:ea typeface="Livvic"/>
                <a:cs typeface="Livvic"/>
                <a:sym typeface="Livvic"/>
              </a:rPr>
              <a:t> Our Solution combines the strengths of both worlds.</a:t>
            </a:r>
            <a:endParaRPr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AutoNum type="arabicPeriod"/>
            </a:pPr>
            <a:r>
              <a:rPr b="1" lang="en" sz="1100">
                <a:solidFill>
                  <a:schemeClr val="dk1"/>
                </a:solidFill>
                <a:latin typeface="Livvic"/>
                <a:ea typeface="Livvic"/>
                <a:cs typeface="Livvic"/>
                <a:sym typeface="Livvic"/>
              </a:rPr>
              <a:t>Accuracy:</a:t>
            </a:r>
            <a:r>
              <a:rPr lang="en" sz="1100">
                <a:solidFill>
                  <a:schemeClr val="dk1"/>
                </a:solidFill>
                <a:latin typeface="Livvic"/>
                <a:ea typeface="Livvic"/>
                <a:cs typeface="Livvic"/>
                <a:sym typeface="Livvic"/>
              </a:rPr>
              <a:t> We use XGBoost to capture the complex, non-linear relationships that traditional models miss.</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Interpretability:</a:t>
            </a:r>
            <a:r>
              <a:rPr lang="en" sz="1100">
                <a:solidFill>
                  <a:schemeClr val="dk1"/>
                </a:solidFill>
                <a:latin typeface="Livvic"/>
                <a:ea typeface="Livvic"/>
                <a:cs typeface="Livvic"/>
                <a:sym typeface="Livvic"/>
              </a:rPr>
              <a:t> We restrict the model to only 12 finance, aware features, preserving transparency and avoiding “feature bloat.”</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SzPts val="1100"/>
              <a:buAutoNum type="arabicPeriod"/>
            </a:pPr>
            <a:r>
              <a:rPr b="1" lang="en" sz="1100">
                <a:solidFill>
                  <a:schemeClr val="dk1"/>
                </a:solidFill>
                <a:latin typeface="Livvic"/>
                <a:ea typeface="Livvic"/>
                <a:cs typeface="Livvic"/>
                <a:sym typeface="Livvic"/>
              </a:rPr>
              <a:t>Business Usability:</a:t>
            </a:r>
            <a:r>
              <a:rPr lang="en" sz="1100">
                <a:solidFill>
                  <a:schemeClr val="dk1"/>
                </a:solidFill>
                <a:latin typeface="Livvic"/>
                <a:ea typeface="Livvic"/>
                <a:cs typeface="Livvic"/>
                <a:sym typeface="Livvic"/>
              </a:rPr>
              <a:t> We add the </a:t>
            </a:r>
            <a:r>
              <a:rPr lang="en" sz="1100">
                <a:solidFill>
                  <a:schemeClr val="dk1"/>
                </a:solidFill>
                <a:latin typeface="Livvic"/>
                <a:ea typeface="Livvic"/>
                <a:cs typeface="Livvic"/>
                <a:sym typeface="Livvic"/>
              </a:rPr>
              <a:t>PDModel Calibrator</a:t>
            </a:r>
            <a:r>
              <a:rPr lang="en" sz="1100">
                <a:solidFill>
                  <a:schemeClr val="dk1"/>
                </a:solidFill>
                <a:latin typeface="Livvic"/>
                <a:ea typeface="Livvic"/>
                <a:cs typeface="Livvic"/>
                <a:sym typeface="Livvic"/>
              </a:rPr>
              <a:t>, converting raw XGBoost scores into a </a:t>
            </a:r>
            <a:r>
              <a:rPr b="1" lang="en" sz="1100">
                <a:solidFill>
                  <a:schemeClr val="dk1"/>
                </a:solidFill>
                <a:latin typeface="Livvic"/>
                <a:ea typeface="Livvic"/>
                <a:cs typeface="Livvic"/>
                <a:sym typeface="Livvic"/>
              </a:rPr>
              <a:t>true, reliable, calibrated PD</a:t>
            </a:r>
            <a:r>
              <a:rPr lang="en" sz="1100">
                <a:solidFill>
                  <a:schemeClr val="dk1"/>
                </a:solidFill>
                <a:latin typeface="Livvic"/>
                <a:ea typeface="Livvic"/>
                <a:cs typeface="Livvic"/>
                <a:sym typeface="Livvic"/>
              </a:rPr>
              <a:t> suitable for pricing, ECL, and regulatory reporting.</a:t>
            </a:r>
            <a:endParaRPr sz="1100">
              <a:solidFill>
                <a:schemeClr val="dk1"/>
              </a:solidFill>
              <a:latin typeface="Livvic"/>
              <a:ea typeface="Livvic"/>
              <a:cs typeface="Livvic"/>
              <a:sym typeface="Livvic"/>
            </a:endParaRPr>
          </a:p>
          <a:p>
            <a:pPr indent="0" lvl="0" marL="457200" rtl="0" algn="l">
              <a:lnSpc>
                <a:spcPct val="115000"/>
              </a:lnSpc>
              <a:spcBef>
                <a:spcPts val="1200"/>
              </a:spcBef>
              <a:spcAft>
                <a:spcPts val="1200"/>
              </a:spcAft>
              <a:buNone/>
            </a:pPr>
            <a:r>
              <a:rPr lang="en" sz="1100">
                <a:solidFill>
                  <a:schemeClr val="dk1"/>
                </a:solidFill>
                <a:latin typeface="Livvic"/>
                <a:ea typeface="Livvic"/>
                <a:cs typeface="Livvic"/>
                <a:sym typeface="Livvic"/>
              </a:rPr>
              <a:t>This “last-mile” step is what makes our PDs not only accurate but also </a:t>
            </a:r>
            <a:r>
              <a:rPr b="1" lang="en" sz="1100">
                <a:solidFill>
                  <a:schemeClr val="dk1"/>
                </a:solidFill>
                <a:latin typeface="Livvic"/>
                <a:ea typeface="Livvic"/>
                <a:cs typeface="Livvic"/>
                <a:sym typeface="Livvic"/>
              </a:rPr>
              <a:t>actionable</a:t>
            </a:r>
            <a:r>
              <a:rPr lang="en" sz="1100">
                <a:solidFill>
                  <a:schemeClr val="dk1"/>
                </a:solidFill>
                <a:latin typeface="Livvic"/>
                <a:ea typeface="Livvic"/>
                <a:cs typeface="Livvic"/>
                <a:sym typeface="Livvic"/>
              </a:rPr>
              <a:t> for the bank.</a:t>
            </a:r>
            <a:br>
              <a:rPr lang="en" sz="1100"/>
            </a:br>
            <a:endParaRPr sz="1100">
              <a:solidFill>
                <a:schemeClr val="dk1"/>
              </a:solidFill>
              <a:latin typeface="Livvic"/>
              <a:ea typeface="Livvic"/>
              <a:cs typeface="Livvic"/>
              <a:sym typeface="Livv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ph idx="8" type="title"/>
          </p:nvPr>
        </p:nvSpPr>
        <p:spPr>
          <a:xfrm>
            <a:off x="676500" y="2068575"/>
            <a:ext cx="3895500" cy="1480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4500"/>
              <a:t>Problem Formulation</a:t>
            </a:r>
            <a:endParaRPr sz="4500"/>
          </a:p>
        </p:txBody>
      </p:sp>
      <p:sp>
        <p:nvSpPr>
          <p:cNvPr id="245" name="Google Shape;245;p28"/>
          <p:cNvSpPr txBox="1"/>
          <p:nvPr>
            <p:ph type="title"/>
          </p:nvPr>
        </p:nvSpPr>
        <p:spPr>
          <a:xfrm>
            <a:off x="3528400" y="1091175"/>
            <a:ext cx="977400" cy="977400"/>
          </a:xfrm>
          <a:prstGeom prst="rect">
            <a:avLst/>
          </a:prstGeom>
          <a:solidFill>
            <a:schemeClr val="lt2"/>
          </a:solidFill>
        </p:spPr>
        <p:txBody>
          <a:bodyPr anchorCtr="0" anchor="b" bIns="91425" lIns="91425" spcFirstLastPara="1" rIns="91425" wrap="square" tIns="91425">
            <a:noAutofit/>
          </a:bodyPr>
          <a:lstStyle/>
          <a:p>
            <a:pPr indent="0" lvl="0" marL="0" rtl="0" algn="l">
              <a:spcBef>
                <a:spcPts val="0"/>
              </a:spcBef>
              <a:spcAft>
                <a:spcPts val="0"/>
              </a:spcAft>
              <a:buNone/>
            </a:pPr>
            <a:r>
              <a:rPr lang="en" sz="5000"/>
              <a:t>02</a:t>
            </a:r>
            <a:endParaRPr sz="5000"/>
          </a:p>
        </p:txBody>
      </p:sp>
      <p:sp>
        <p:nvSpPr>
          <p:cNvPr id="246" name="Google Shape;246;p28"/>
          <p:cNvSpPr/>
          <p:nvPr/>
        </p:nvSpPr>
        <p:spPr>
          <a:xfrm>
            <a:off x="4681700" y="756300"/>
            <a:ext cx="3657600" cy="3657600"/>
          </a:xfrm>
          <a:prstGeom prst="rect">
            <a:avLst/>
          </a:prstGeom>
          <a:solidFill>
            <a:srgbClr val="EEF0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600">
                <a:solidFill>
                  <a:schemeClr val="dk1"/>
                </a:solidFill>
                <a:latin typeface="Livvic"/>
                <a:ea typeface="Livvic"/>
                <a:cs typeface="Livvic"/>
                <a:sym typeface="Livvic"/>
              </a:rPr>
              <a:t>Section Overview</a:t>
            </a:r>
            <a:endParaRPr b="1" sz="1600">
              <a:solidFill>
                <a:schemeClr val="dk1"/>
              </a:solidFill>
              <a:latin typeface="Livvic"/>
              <a:ea typeface="Livvic"/>
              <a:cs typeface="Livvic"/>
              <a:sym typeface="Livvic"/>
            </a:endParaRPr>
          </a:p>
          <a:p>
            <a:pPr indent="-304800" lvl="0" marL="457200" rtl="0" algn="l">
              <a:lnSpc>
                <a:spcPct val="115000"/>
              </a:lnSpc>
              <a:spcBef>
                <a:spcPts val="1200"/>
              </a:spcBef>
              <a:spcAft>
                <a:spcPts val="0"/>
              </a:spcAft>
              <a:buClr>
                <a:schemeClr val="dk1"/>
              </a:buClr>
              <a:buSzPts val="1200"/>
              <a:buFont typeface="Livvic"/>
              <a:buChar char="●"/>
            </a:pPr>
            <a:r>
              <a:rPr lang="en" sz="1200">
                <a:solidFill>
                  <a:schemeClr val="dk1"/>
                </a:solidFill>
                <a:latin typeface="Livvic"/>
                <a:ea typeface="Livvic"/>
                <a:cs typeface="Livvic"/>
                <a:sym typeface="Livvic"/>
              </a:rPr>
              <a:t>Define what “default” means in our dataset and how we constructed the 12-month prediction target.</a:t>
            </a:r>
            <a:endParaRPr sz="1200">
              <a:solidFill>
                <a:schemeClr val="dk1"/>
              </a:solidFill>
              <a:latin typeface="Livvic"/>
              <a:ea typeface="Livvic"/>
              <a:cs typeface="Livvic"/>
              <a:sym typeface="Livvic"/>
            </a:endParaRPr>
          </a:p>
          <a:p>
            <a:pPr indent="-304800" lvl="0" marL="457200" rtl="0" algn="l">
              <a:lnSpc>
                <a:spcPct val="115000"/>
              </a:lnSpc>
              <a:spcBef>
                <a:spcPts val="1000"/>
              </a:spcBef>
              <a:spcAft>
                <a:spcPts val="0"/>
              </a:spcAft>
              <a:buClr>
                <a:schemeClr val="dk1"/>
              </a:buClr>
              <a:buSzPts val="1200"/>
              <a:buFont typeface="Livvic"/>
              <a:buChar char="●"/>
            </a:pPr>
            <a:r>
              <a:rPr lang="en" sz="1200">
                <a:solidFill>
                  <a:schemeClr val="dk1"/>
                </a:solidFill>
                <a:latin typeface="Livvic"/>
                <a:ea typeface="Livvic"/>
                <a:cs typeface="Livvic"/>
                <a:sym typeface="Livvic"/>
              </a:rPr>
              <a:t>Specify the prediction horizon the bank cares about and align the setup with how financial data becomes available in practice.</a:t>
            </a:r>
            <a:endParaRPr sz="1200">
              <a:solidFill>
                <a:schemeClr val="dk1"/>
              </a:solidFill>
              <a:latin typeface="Livvic"/>
              <a:ea typeface="Livvic"/>
              <a:cs typeface="Livvic"/>
              <a:sym typeface="Livvic"/>
            </a:endParaRPr>
          </a:p>
          <a:p>
            <a:pPr indent="-304800" lvl="0" marL="457200" rtl="0" algn="l">
              <a:lnSpc>
                <a:spcPct val="115000"/>
              </a:lnSpc>
              <a:spcBef>
                <a:spcPts val="1000"/>
              </a:spcBef>
              <a:spcAft>
                <a:spcPts val="0"/>
              </a:spcAft>
              <a:buClr>
                <a:schemeClr val="dk1"/>
              </a:buClr>
              <a:buSzPts val="1200"/>
              <a:buFont typeface="Livvic"/>
              <a:buChar char="●"/>
            </a:pPr>
            <a:r>
              <a:rPr lang="en" sz="1200">
                <a:solidFill>
                  <a:schemeClr val="dk1"/>
                </a:solidFill>
                <a:latin typeface="Livvic"/>
                <a:ea typeface="Livvic"/>
                <a:cs typeface="Livvic"/>
                <a:sym typeface="Livvic"/>
              </a:rPr>
              <a:t>Structure the data so the model learns from information that would realistically be known at underwriting time.</a:t>
            </a:r>
            <a:endParaRPr sz="1200">
              <a:solidFill>
                <a:schemeClr val="dk1"/>
              </a:solidFill>
              <a:latin typeface="Livvic"/>
              <a:ea typeface="Livvic"/>
              <a:cs typeface="Livvic"/>
              <a:sym typeface="Livvic"/>
            </a:endParaRPr>
          </a:p>
          <a:p>
            <a:pPr indent="-298450" lvl="0" marL="457200" rtl="0" algn="l">
              <a:lnSpc>
                <a:spcPct val="115000"/>
              </a:lnSpc>
              <a:spcBef>
                <a:spcPts val="1200"/>
              </a:spcBef>
              <a:spcAft>
                <a:spcPts val="1000"/>
              </a:spcAft>
              <a:buClr>
                <a:schemeClr val="dk1"/>
              </a:buClr>
              <a:buSzPts val="1100"/>
              <a:buChar char="●"/>
            </a:pPr>
            <a:r>
              <a:rPr lang="en" sz="1200">
                <a:solidFill>
                  <a:schemeClr val="dk1"/>
                </a:solidFill>
                <a:latin typeface="Livvic"/>
                <a:ea typeface="Livvic"/>
                <a:cs typeface="Livvic"/>
                <a:sym typeface="Livvic"/>
              </a:rPr>
              <a:t>Incorporate financial intuition to ensure the model captures economic drivers of distress rather than patterns in raw accounting values.</a:t>
            </a:r>
            <a:endParaRPr>
              <a:solidFill>
                <a:schemeClr val="dk1"/>
              </a:solidFill>
              <a:latin typeface="Livvic"/>
              <a:ea typeface="Livvic"/>
              <a:cs typeface="Livvic"/>
              <a:sym typeface="Livv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ph type="title"/>
          </p:nvPr>
        </p:nvSpPr>
        <p:spPr>
          <a:xfrm>
            <a:off x="798450" y="-11300"/>
            <a:ext cx="7547100" cy="6465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3000"/>
              <a:t>Defining the Prediction Problem</a:t>
            </a:r>
            <a:endParaRPr sz="3000"/>
          </a:p>
        </p:txBody>
      </p:sp>
      <p:sp>
        <p:nvSpPr>
          <p:cNvPr id="252" name="Google Shape;252;p29"/>
          <p:cNvSpPr txBox="1"/>
          <p:nvPr>
            <p:ph idx="1" type="subTitle"/>
          </p:nvPr>
        </p:nvSpPr>
        <p:spPr>
          <a:xfrm>
            <a:off x="476963" y="691925"/>
            <a:ext cx="8190300" cy="554100"/>
          </a:xfrm>
          <a:prstGeom prst="rect">
            <a:avLst/>
          </a:prstGeom>
          <a:solidFill>
            <a:schemeClr val="lt2"/>
          </a:solidFill>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200"/>
              <a:t>Goal : </a:t>
            </a:r>
            <a:r>
              <a:rPr lang="en" sz="1200"/>
              <a:t>Estimate the probability that a borrower will default within the next 12 months using only the financial information that would have been available at the time of the lending decision.</a:t>
            </a:r>
            <a:endParaRPr b="1" sz="1200"/>
          </a:p>
        </p:txBody>
      </p:sp>
      <p:sp>
        <p:nvSpPr>
          <p:cNvPr id="253" name="Google Shape;253;p29"/>
          <p:cNvSpPr/>
          <p:nvPr/>
        </p:nvSpPr>
        <p:spPr>
          <a:xfrm>
            <a:off x="476975" y="1302750"/>
            <a:ext cx="8190300" cy="2086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100">
                <a:solidFill>
                  <a:schemeClr val="dk1"/>
                </a:solidFill>
                <a:latin typeface="Livvic"/>
                <a:ea typeface="Livvic"/>
                <a:cs typeface="Livvic"/>
                <a:sym typeface="Livvic"/>
              </a:rPr>
              <a:t>How we defined the prediction task</a:t>
            </a:r>
            <a:endParaRPr b="1"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Firms in Italy typically publish approved financial statements </a:t>
            </a:r>
            <a:r>
              <a:rPr b="1" lang="en" sz="1100" u="sng">
                <a:solidFill>
                  <a:schemeClr val="hlink"/>
                </a:solidFill>
                <a:latin typeface="Livvic"/>
                <a:ea typeface="Livvic"/>
                <a:cs typeface="Livvic"/>
                <a:sym typeface="Livvic"/>
                <a:hlinkClick r:id="rId3"/>
              </a:rPr>
              <a:t>120–180 days after fiscal year-end</a:t>
            </a:r>
            <a:endParaRPr i="1" sz="1100" u="sng">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To reflect this reporting lag, we defined an </a:t>
            </a:r>
            <a:r>
              <a:rPr b="1" lang="en" sz="1100">
                <a:solidFill>
                  <a:schemeClr val="dk1"/>
                </a:solidFill>
                <a:latin typeface="Livvic"/>
                <a:ea typeface="Livvic"/>
                <a:cs typeface="Livvic"/>
                <a:sym typeface="Livvic"/>
              </a:rPr>
              <a:t>“available date”</a:t>
            </a:r>
            <a:r>
              <a:rPr lang="en" sz="1100">
                <a:solidFill>
                  <a:schemeClr val="dk1"/>
                </a:solidFill>
                <a:latin typeface="Livvic"/>
                <a:ea typeface="Livvic"/>
                <a:cs typeface="Livvic"/>
                <a:sym typeface="Livvic"/>
              </a:rPr>
              <a:t> = </a:t>
            </a:r>
            <a:r>
              <a:rPr i="1" lang="en" sz="1100">
                <a:solidFill>
                  <a:schemeClr val="dk1"/>
                </a:solidFill>
                <a:latin typeface="Livvic"/>
                <a:ea typeface="Livvic"/>
                <a:cs typeface="Livvic"/>
                <a:sym typeface="Livvic"/>
              </a:rPr>
              <a:t>statement date + 4 months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A firm-year is labeled as a </a:t>
            </a:r>
            <a:r>
              <a:rPr b="1" lang="en" sz="1100">
                <a:solidFill>
                  <a:schemeClr val="dk1"/>
                </a:solidFill>
                <a:latin typeface="Livvic"/>
                <a:ea typeface="Livvic"/>
                <a:cs typeface="Livvic"/>
                <a:sym typeface="Livvic"/>
              </a:rPr>
              <a:t>default</a:t>
            </a:r>
            <a:r>
              <a:rPr lang="en" sz="1100">
                <a:solidFill>
                  <a:schemeClr val="dk1"/>
                </a:solidFill>
                <a:latin typeface="Livvic"/>
                <a:ea typeface="Livvic"/>
                <a:cs typeface="Livvic"/>
                <a:sym typeface="Livvic"/>
              </a:rPr>
              <a:t> if a default event occurs </a:t>
            </a:r>
            <a:r>
              <a:rPr b="1" lang="en" sz="1100">
                <a:solidFill>
                  <a:schemeClr val="dk1"/>
                </a:solidFill>
                <a:latin typeface="Livvic"/>
                <a:ea typeface="Livvic"/>
                <a:cs typeface="Livvic"/>
                <a:sym typeface="Livvic"/>
              </a:rPr>
              <a:t>within 12 months after this available date</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This means the model predicts from “available date </a:t>
            </a:r>
            <a:r>
              <a:rPr lang="en" sz="1100">
                <a:solidFill>
                  <a:schemeClr val="dk1"/>
                </a:solidFill>
                <a:latin typeface="Livvic"/>
                <a:ea typeface="Livvic"/>
                <a:cs typeface="Livvic"/>
                <a:sym typeface="Livvic"/>
              </a:rPr>
              <a:t>→ </a:t>
            </a:r>
            <a:r>
              <a:rPr lang="en" sz="1100">
                <a:solidFill>
                  <a:schemeClr val="dk1"/>
                </a:solidFill>
                <a:latin typeface="Livvic"/>
                <a:ea typeface="Livvic"/>
                <a:cs typeface="Livvic"/>
                <a:sym typeface="Livvic"/>
              </a:rPr>
              <a:t>12 months ahead,” not from December to December, ensuring the prediction window reflects real underwriting timing.</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This comes under a</a:t>
            </a:r>
            <a:r>
              <a:rPr b="1" lang="en" sz="1100">
                <a:solidFill>
                  <a:schemeClr val="dk1"/>
                </a:solidFill>
                <a:latin typeface="Livvic"/>
                <a:ea typeface="Livvic"/>
                <a:cs typeface="Livvic"/>
                <a:sym typeface="Livvic"/>
              </a:rPr>
              <a:t> Supervised Learning Task</a:t>
            </a:r>
            <a:r>
              <a:rPr lang="en" sz="1100">
                <a:solidFill>
                  <a:schemeClr val="dk1"/>
                </a:solidFill>
                <a:latin typeface="Livvic"/>
                <a:ea typeface="Livvic"/>
                <a:cs typeface="Livvic"/>
                <a:sym typeface="Livvic"/>
              </a:rPr>
              <a:t> where the model will learn to predict default based on the given financial variables of a given year and the target variable that i.e whether a firm will default or not within a year.</a:t>
            </a:r>
            <a:endParaRPr sz="1100">
              <a:solidFill>
                <a:schemeClr val="dk1"/>
              </a:solidFill>
              <a:latin typeface="Livvic"/>
              <a:ea typeface="Livvic"/>
              <a:cs typeface="Livvic"/>
              <a:sym typeface="Livvic"/>
            </a:endParaRPr>
          </a:p>
        </p:txBody>
      </p:sp>
      <p:sp>
        <p:nvSpPr>
          <p:cNvPr id="254" name="Google Shape;254;p29"/>
          <p:cNvSpPr/>
          <p:nvPr/>
        </p:nvSpPr>
        <p:spPr>
          <a:xfrm>
            <a:off x="476963" y="3460125"/>
            <a:ext cx="8190300" cy="15507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100">
                <a:solidFill>
                  <a:schemeClr val="dk1"/>
                </a:solidFill>
                <a:latin typeface="Livvic"/>
                <a:ea typeface="Livvic"/>
                <a:cs typeface="Livvic"/>
                <a:sym typeface="Livvic"/>
              </a:rPr>
              <a:t>Why this setup matters</a:t>
            </a:r>
            <a:endParaRPr b="1"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Aligns the model with the bank’s operational question: </a:t>
            </a:r>
            <a:endParaRPr sz="1100">
              <a:solidFill>
                <a:schemeClr val="dk1"/>
              </a:solidFill>
              <a:latin typeface="Livvic"/>
              <a:ea typeface="Livvic"/>
              <a:cs typeface="Livvic"/>
              <a:sym typeface="Livvic"/>
            </a:endParaRPr>
          </a:p>
          <a:p>
            <a:pPr indent="457200" lvl="0" marL="0" rtl="0" algn="l">
              <a:lnSpc>
                <a:spcPct val="150000"/>
              </a:lnSpc>
              <a:spcBef>
                <a:spcPts val="0"/>
              </a:spcBef>
              <a:spcAft>
                <a:spcPts val="0"/>
              </a:spcAft>
              <a:buNone/>
            </a:pPr>
            <a:r>
              <a:rPr b="1" lang="en" sz="1100">
                <a:solidFill>
                  <a:schemeClr val="dk1"/>
                </a:solidFill>
                <a:latin typeface="Livvic"/>
                <a:ea typeface="Livvic"/>
                <a:cs typeface="Livvic"/>
                <a:sym typeface="Livvic"/>
              </a:rPr>
              <a:t>“Given the information available today, what is the default risk over the next year?”</a:t>
            </a:r>
            <a:endParaRPr b="1"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Avoids look-ahead bias and prevents the model from benefiting from future information.</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Produces predictions suitable for real-world lending, pricing, and risk-management use.</a:t>
            </a:r>
            <a:endParaRPr sz="1100">
              <a:solidFill>
                <a:schemeClr val="dk1"/>
              </a:solidFill>
              <a:latin typeface="Livvic"/>
              <a:ea typeface="Livvic"/>
              <a:cs typeface="Livvic"/>
              <a:sym typeface="Livv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p:nvPr/>
        </p:nvSpPr>
        <p:spPr>
          <a:xfrm>
            <a:off x="4285050" y="304800"/>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260" name="Google Shape;260;p30"/>
          <p:cNvSpPr/>
          <p:nvPr/>
        </p:nvSpPr>
        <p:spPr>
          <a:xfrm>
            <a:off x="462250" y="4478825"/>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261" name="Google Shape;261;p30"/>
          <p:cNvSpPr/>
          <p:nvPr/>
        </p:nvSpPr>
        <p:spPr>
          <a:xfrm>
            <a:off x="8136425" y="4360850"/>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pic>
        <p:nvPicPr>
          <p:cNvPr id="262" name="Google Shape;262;p30"/>
          <p:cNvPicPr preferRelativeResize="0"/>
          <p:nvPr/>
        </p:nvPicPr>
        <p:blipFill>
          <a:blip r:embed="rId3">
            <a:alphaModFix/>
          </a:blip>
          <a:stretch>
            <a:fillRect/>
          </a:stretch>
        </p:blipFill>
        <p:spPr>
          <a:xfrm>
            <a:off x="775975" y="448250"/>
            <a:ext cx="3745800" cy="2468880"/>
          </a:xfrm>
          <a:prstGeom prst="rect">
            <a:avLst/>
          </a:prstGeom>
          <a:noFill/>
          <a:ln cap="flat" cmpd="sng" w="28575">
            <a:solidFill>
              <a:schemeClr val="dk1"/>
            </a:solidFill>
            <a:prstDash val="solid"/>
            <a:round/>
            <a:headEnd len="sm" w="sm" type="none"/>
            <a:tailEnd len="sm" w="sm" type="none"/>
          </a:ln>
        </p:spPr>
      </p:pic>
      <p:pic>
        <p:nvPicPr>
          <p:cNvPr id="263" name="Google Shape;263;p30"/>
          <p:cNvPicPr preferRelativeResize="0"/>
          <p:nvPr/>
        </p:nvPicPr>
        <p:blipFill>
          <a:blip r:embed="rId4">
            <a:alphaModFix/>
          </a:blip>
          <a:stretch>
            <a:fillRect/>
          </a:stretch>
        </p:blipFill>
        <p:spPr>
          <a:xfrm>
            <a:off x="4618975" y="446483"/>
            <a:ext cx="3749040" cy="2472417"/>
          </a:xfrm>
          <a:prstGeom prst="rect">
            <a:avLst/>
          </a:prstGeom>
          <a:noFill/>
          <a:ln cap="flat" cmpd="sng" w="28575">
            <a:solidFill>
              <a:schemeClr val="dk1"/>
            </a:solidFill>
            <a:prstDash val="solid"/>
            <a:round/>
            <a:headEnd len="sm" w="sm" type="none"/>
            <a:tailEnd len="sm" w="sm" type="none"/>
          </a:ln>
        </p:spPr>
      </p:pic>
      <p:sp>
        <p:nvSpPr>
          <p:cNvPr id="264" name="Google Shape;264;p30"/>
          <p:cNvSpPr txBox="1"/>
          <p:nvPr>
            <p:ph idx="4294967295" type="subTitle"/>
          </p:nvPr>
        </p:nvSpPr>
        <p:spPr>
          <a:xfrm>
            <a:off x="775950" y="3725300"/>
            <a:ext cx="7592100" cy="1160700"/>
          </a:xfrm>
          <a:prstGeom prst="rect">
            <a:avLst/>
          </a:prstGeom>
          <a:solidFill>
            <a:schemeClr val="lt2"/>
          </a:solidFill>
        </p:spPr>
        <p:txBody>
          <a:bodyPr anchorCtr="0" anchor="t" bIns="91425" lIns="91425" spcFirstLastPara="1" rIns="91425" wrap="square" tIns="91425">
            <a:spAutoFit/>
          </a:bodyPr>
          <a:lstStyle/>
          <a:p>
            <a:pPr indent="0" lvl="0" marL="0" rtl="0" algn="l">
              <a:spcBef>
                <a:spcPts val="1200"/>
              </a:spcBef>
              <a:spcAft>
                <a:spcPts val="0"/>
              </a:spcAft>
              <a:buNone/>
            </a:pPr>
            <a:r>
              <a:rPr b="1" lang="en"/>
              <a:t>Figure 1: 12-month default rate by financial statement year. The default rate rises through 2009–2010 and declines afterward. The overall default rate in the dataset is 1.09%.</a:t>
            </a:r>
            <a:endParaRPr b="1"/>
          </a:p>
          <a:p>
            <a:pPr indent="0" lvl="0" marL="0" rtl="0" algn="l">
              <a:spcBef>
                <a:spcPts val="1200"/>
              </a:spcBef>
              <a:spcAft>
                <a:spcPts val="1200"/>
              </a:spcAft>
              <a:buNone/>
            </a:pPr>
            <a:r>
              <a:rPr b="1" lang="en"/>
              <a:t>Figure 2: Class distribution of the target variable. The dataset is highly imbalanced, with 1,009,771 non-default observations and 11,156 defaults. </a:t>
            </a:r>
            <a:endParaRPr b="1"/>
          </a:p>
        </p:txBody>
      </p:sp>
      <p:sp>
        <p:nvSpPr>
          <p:cNvPr id="265" name="Google Shape;265;p30"/>
          <p:cNvSpPr txBox="1"/>
          <p:nvPr>
            <p:ph idx="4294967295" type="subTitle"/>
          </p:nvPr>
        </p:nvSpPr>
        <p:spPr>
          <a:xfrm>
            <a:off x="2189700" y="3025050"/>
            <a:ext cx="1018800" cy="323100"/>
          </a:xfrm>
          <a:prstGeom prst="rect">
            <a:avLst/>
          </a:prstGeom>
          <a:solidFill>
            <a:schemeClr val="lt2"/>
          </a:solidFill>
        </p:spPr>
        <p:txBody>
          <a:bodyPr anchorCtr="0" anchor="t" bIns="91425" lIns="91425" spcFirstLastPara="1" rIns="91425" wrap="square" tIns="91425">
            <a:spAutoFit/>
          </a:bodyPr>
          <a:lstStyle/>
          <a:p>
            <a:pPr indent="0" lvl="0" marL="0" rtl="0" algn="ctr">
              <a:spcBef>
                <a:spcPts val="0"/>
              </a:spcBef>
              <a:spcAft>
                <a:spcPts val="1200"/>
              </a:spcAft>
              <a:buClr>
                <a:schemeClr val="dk1"/>
              </a:buClr>
              <a:buSzPts val="1100"/>
              <a:buFont typeface="Arial"/>
              <a:buNone/>
            </a:pPr>
            <a:r>
              <a:rPr b="1" lang="en" sz="900"/>
              <a:t>Figure 1</a:t>
            </a:r>
            <a:endParaRPr b="1" sz="900"/>
          </a:p>
        </p:txBody>
      </p:sp>
      <p:sp>
        <p:nvSpPr>
          <p:cNvPr id="266" name="Google Shape;266;p30"/>
          <p:cNvSpPr txBox="1"/>
          <p:nvPr>
            <p:ph idx="4294967295" type="subTitle"/>
          </p:nvPr>
        </p:nvSpPr>
        <p:spPr>
          <a:xfrm>
            <a:off x="6034325" y="3025050"/>
            <a:ext cx="1018800" cy="323100"/>
          </a:xfrm>
          <a:prstGeom prst="rect">
            <a:avLst/>
          </a:prstGeom>
          <a:solidFill>
            <a:schemeClr val="lt2"/>
          </a:solidFill>
        </p:spPr>
        <p:txBody>
          <a:bodyPr anchorCtr="0" anchor="t" bIns="91425" lIns="91425" spcFirstLastPara="1" rIns="91425" wrap="square" tIns="91425">
            <a:spAutoFit/>
          </a:bodyPr>
          <a:lstStyle/>
          <a:p>
            <a:pPr indent="0" lvl="0" marL="0" rtl="0" algn="ctr">
              <a:spcBef>
                <a:spcPts val="0"/>
              </a:spcBef>
              <a:spcAft>
                <a:spcPts val="1200"/>
              </a:spcAft>
              <a:buClr>
                <a:schemeClr val="dk1"/>
              </a:buClr>
              <a:buSzPts val="1100"/>
              <a:buFont typeface="Arial"/>
              <a:buNone/>
            </a:pPr>
            <a:r>
              <a:rPr b="1" lang="en" sz="900"/>
              <a:t>Figure 2</a:t>
            </a:r>
            <a:endParaRPr b="1"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p:nvPr/>
        </p:nvSpPr>
        <p:spPr>
          <a:xfrm>
            <a:off x="462250" y="4478825"/>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272" name="Google Shape;272;p31"/>
          <p:cNvSpPr txBox="1"/>
          <p:nvPr>
            <p:ph type="title"/>
          </p:nvPr>
        </p:nvSpPr>
        <p:spPr>
          <a:xfrm>
            <a:off x="798450" y="-11300"/>
            <a:ext cx="7547100" cy="6465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3000"/>
              <a:t>Importance of Financial Theory</a:t>
            </a:r>
            <a:endParaRPr sz="3000"/>
          </a:p>
        </p:txBody>
      </p:sp>
      <p:sp>
        <p:nvSpPr>
          <p:cNvPr id="273" name="Google Shape;273;p31"/>
          <p:cNvSpPr txBox="1"/>
          <p:nvPr>
            <p:ph idx="1" type="subTitle"/>
          </p:nvPr>
        </p:nvSpPr>
        <p:spPr>
          <a:xfrm>
            <a:off x="476850" y="2183400"/>
            <a:ext cx="8190300" cy="1116000"/>
          </a:xfrm>
          <a:prstGeom prst="rect">
            <a:avLst/>
          </a:prstGeom>
          <a:solidFill>
            <a:schemeClr val="lt2"/>
          </a:solidFill>
        </p:spPr>
        <p:txBody>
          <a:bodyPr anchorCtr="0" anchor="ctr"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sz="1100"/>
              <a:t>What the academic literature shows</a:t>
            </a:r>
            <a:endParaRPr b="1" sz="1100"/>
          </a:p>
          <a:p>
            <a:pPr indent="-298450" lvl="0" marL="457200" rtl="0" algn="l">
              <a:lnSpc>
                <a:spcPct val="150000"/>
              </a:lnSpc>
              <a:spcBef>
                <a:spcPts val="0"/>
              </a:spcBef>
              <a:spcAft>
                <a:spcPts val="0"/>
              </a:spcAft>
              <a:buClr>
                <a:schemeClr val="dk1"/>
              </a:buClr>
              <a:buSzPts val="1100"/>
              <a:buAutoNum type="arabicPeriod"/>
            </a:pPr>
            <a:r>
              <a:rPr lang="en" sz="1100" u="sng">
                <a:solidFill>
                  <a:schemeClr val="hlink"/>
                </a:solidFill>
                <a:hlinkClick r:id="rId3"/>
              </a:rPr>
              <a:t>Altman (1968): Liquidity, leverage, and profitability ratios discriminate strongly between bankrupt vs. non-bankrupt firms</a:t>
            </a:r>
            <a:r>
              <a:rPr lang="en" sz="1100"/>
              <a:t>.</a:t>
            </a:r>
            <a:endParaRPr sz="1100"/>
          </a:p>
          <a:p>
            <a:pPr indent="-298450" lvl="0" marL="457200" rtl="0" algn="l">
              <a:lnSpc>
                <a:spcPct val="150000"/>
              </a:lnSpc>
              <a:spcBef>
                <a:spcPts val="0"/>
              </a:spcBef>
              <a:spcAft>
                <a:spcPts val="0"/>
              </a:spcAft>
              <a:buClr>
                <a:schemeClr val="dk1"/>
              </a:buClr>
              <a:buSzPts val="1100"/>
              <a:buAutoNum type="arabicPeriod"/>
            </a:pPr>
            <a:r>
              <a:rPr lang="en" sz="1100" u="sng">
                <a:solidFill>
                  <a:schemeClr val="hlink"/>
                </a:solidFill>
                <a:hlinkClick r:id="rId4"/>
              </a:rPr>
              <a:t>Ohlson (1980): Leverage, liquidity, and performance ratios are statistically significant predictors of corporate failure</a:t>
            </a:r>
            <a:r>
              <a:rPr lang="en" sz="1100"/>
              <a:t>.</a:t>
            </a:r>
            <a:endParaRPr sz="1100"/>
          </a:p>
        </p:txBody>
      </p:sp>
      <p:sp>
        <p:nvSpPr>
          <p:cNvPr id="274" name="Google Shape;274;p31"/>
          <p:cNvSpPr/>
          <p:nvPr/>
        </p:nvSpPr>
        <p:spPr>
          <a:xfrm>
            <a:off x="476838" y="635200"/>
            <a:ext cx="8190300" cy="14799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100">
                <a:solidFill>
                  <a:schemeClr val="dk1"/>
                </a:solidFill>
                <a:latin typeface="Livvic"/>
                <a:ea typeface="Livvic"/>
                <a:cs typeface="Livvic"/>
                <a:sym typeface="Livvic"/>
              </a:rPr>
              <a:t>Why not use raw financial statement values?</a:t>
            </a:r>
            <a:endParaRPr b="1"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AutoNum type="arabicPeriod"/>
            </a:pPr>
            <a:r>
              <a:rPr lang="en" sz="1100">
                <a:solidFill>
                  <a:schemeClr val="dk1"/>
                </a:solidFill>
                <a:latin typeface="Livvic"/>
                <a:ea typeface="Livvic"/>
                <a:cs typeface="Livvic"/>
                <a:sym typeface="Livvic"/>
              </a:rPr>
              <a:t>Raw items (assets, liabilities, revenues) scale with firm size and are not comparable across firms.</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AutoNum type="arabicPeriod"/>
            </a:pPr>
            <a:r>
              <a:rPr lang="en" sz="1100">
                <a:solidFill>
                  <a:schemeClr val="dk1"/>
                </a:solidFill>
                <a:latin typeface="Livvic"/>
                <a:ea typeface="Livvic"/>
                <a:cs typeface="Livvic"/>
                <a:sym typeface="Livvic"/>
              </a:rPr>
              <a:t>Default risk is tied to economic conditions, solvency, liquidity, profitability, not the absolute magnitude of balance-sheet items.</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AutoNum type="arabicPeriod"/>
            </a:pPr>
            <a:r>
              <a:rPr lang="en" sz="1100">
                <a:solidFill>
                  <a:schemeClr val="dk1"/>
                </a:solidFill>
                <a:latin typeface="Livvic"/>
                <a:ea typeface="Livvic"/>
                <a:cs typeface="Livvic"/>
                <a:sym typeface="Livvic"/>
              </a:rPr>
              <a:t>Financial ratios normalize values and reveal structural relationships that theory links to distress.</a:t>
            </a:r>
            <a:endParaRPr sz="1100">
              <a:solidFill>
                <a:schemeClr val="dk1"/>
              </a:solidFill>
              <a:latin typeface="Livvic"/>
              <a:ea typeface="Livvic"/>
              <a:cs typeface="Livvic"/>
              <a:sym typeface="Livvic"/>
            </a:endParaRPr>
          </a:p>
        </p:txBody>
      </p:sp>
      <p:sp>
        <p:nvSpPr>
          <p:cNvPr id="275" name="Google Shape;275;p31"/>
          <p:cNvSpPr/>
          <p:nvPr/>
        </p:nvSpPr>
        <p:spPr>
          <a:xfrm>
            <a:off x="476850" y="3367700"/>
            <a:ext cx="8190300" cy="1296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b="1" lang="en" sz="1100">
                <a:solidFill>
                  <a:schemeClr val="dk1"/>
                </a:solidFill>
                <a:latin typeface="Livvic"/>
                <a:ea typeface="Livvic"/>
                <a:cs typeface="Livvic"/>
                <a:sym typeface="Livvic"/>
              </a:rPr>
              <a:t>Implication for our model</a:t>
            </a:r>
            <a:endParaRPr b="1"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Ratio-based features expose the economic signals</a:t>
            </a:r>
            <a:r>
              <a:rPr lang="en" sz="1100">
                <a:solidFill>
                  <a:schemeClr val="dk1"/>
                </a:solidFill>
                <a:latin typeface="Livvic"/>
                <a:ea typeface="Livvic"/>
                <a:cs typeface="Livvic"/>
                <a:sym typeface="Livvic"/>
              </a:rPr>
              <a:t> associated with credit deterioration (indebtedness, cash sufficiency, earnings power).</a:t>
            </a:r>
            <a:endParaRPr sz="1100">
              <a:solidFill>
                <a:schemeClr val="dk1"/>
              </a:solidFill>
              <a:latin typeface="Livvic"/>
              <a:ea typeface="Livvic"/>
              <a:cs typeface="Livvic"/>
              <a:sym typeface="Livvic"/>
            </a:endParaRPr>
          </a:p>
          <a:p>
            <a:pPr indent="-298450" lvl="0" marL="457200" rtl="0" algn="l">
              <a:lnSpc>
                <a:spcPct val="150000"/>
              </a:lnSpc>
              <a:spcBef>
                <a:spcPts val="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Ratios reduce noise and size effects</a:t>
            </a:r>
            <a:r>
              <a:rPr lang="en" sz="1100">
                <a:solidFill>
                  <a:schemeClr val="dk1"/>
                </a:solidFill>
                <a:latin typeface="Livvic"/>
                <a:ea typeface="Livvic"/>
                <a:cs typeface="Livvic"/>
                <a:sym typeface="Livvic"/>
              </a:rPr>
              <a:t>, enabling the model to learn meaningful, generalizable patterns rather than firm-size artifacts.</a:t>
            </a:r>
            <a:endParaRPr b="1" sz="1100">
              <a:solidFill>
                <a:schemeClr val="dk1"/>
              </a:solidFill>
              <a:latin typeface="Livvic"/>
              <a:ea typeface="Livvic"/>
              <a:cs typeface="Livvic"/>
              <a:sym typeface="Livv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type="title"/>
          </p:nvPr>
        </p:nvSpPr>
        <p:spPr>
          <a:xfrm>
            <a:off x="798450" y="-11300"/>
            <a:ext cx="7547100" cy="6465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3000"/>
              <a:t>Incorporating Financial Intuition</a:t>
            </a:r>
            <a:endParaRPr sz="3000"/>
          </a:p>
        </p:txBody>
      </p:sp>
      <p:sp>
        <p:nvSpPr>
          <p:cNvPr id="281" name="Google Shape;281;p32"/>
          <p:cNvSpPr txBox="1"/>
          <p:nvPr>
            <p:ph idx="1" type="subTitle"/>
          </p:nvPr>
        </p:nvSpPr>
        <p:spPr>
          <a:xfrm>
            <a:off x="476888" y="635200"/>
            <a:ext cx="8190300" cy="554100"/>
          </a:xfrm>
          <a:prstGeom prst="rect">
            <a:avLst/>
          </a:prstGeom>
          <a:solidFill>
            <a:schemeClr val="lt2"/>
          </a:solidFill>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t>We structured our feature engineering around five financial dimensions that prior empirical studies have consistently linked to corporate default risk.</a:t>
            </a:r>
            <a:endParaRPr sz="1200"/>
          </a:p>
        </p:txBody>
      </p:sp>
      <p:sp>
        <p:nvSpPr>
          <p:cNvPr id="282" name="Google Shape;282;p32"/>
          <p:cNvSpPr/>
          <p:nvPr/>
        </p:nvSpPr>
        <p:spPr>
          <a:xfrm>
            <a:off x="476900" y="1269650"/>
            <a:ext cx="8190300" cy="3630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Leverage and Solvency :</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lang="en" sz="1100">
                <a:solidFill>
                  <a:schemeClr val="dk1"/>
                </a:solidFill>
                <a:latin typeface="Livvic"/>
                <a:ea typeface="Livvic"/>
                <a:cs typeface="Livvic"/>
                <a:sym typeface="Livvic"/>
              </a:rPr>
              <a:t>When </a:t>
            </a:r>
            <a:r>
              <a:rPr b="1" lang="en" sz="1100">
                <a:solidFill>
                  <a:schemeClr val="dk1"/>
                </a:solidFill>
                <a:latin typeface="Livvic"/>
                <a:ea typeface="Livvic"/>
                <a:cs typeface="Livvic"/>
                <a:sym typeface="Livvic"/>
              </a:rPr>
              <a:t>leverage is high</a:t>
            </a:r>
            <a:r>
              <a:rPr lang="en" sz="1100">
                <a:solidFill>
                  <a:schemeClr val="dk1"/>
                </a:solidFill>
                <a:latin typeface="Livvic"/>
                <a:ea typeface="Livvic"/>
                <a:cs typeface="Livvic"/>
                <a:sym typeface="Livvic"/>
              </a:rPr>
              <a:t> (more debt relative to equity), a small decline in earnings</a:t>
            </a:r>
            <a:r>
              <a:rPr lang="en" sz="1100">
                <a:solidFill>
                  <a:schemeClr val="dk1"/>
                </a:solidFill>
                <a:latin typeface="Livvic"/>
                <a:ea typeface="Livvic"/>
                <a:cs typeface="Livvic"/>
                <a:sym typeface="Livvic"/>
              </a:rPr>
              <a:t> can wipe out equity</a:t>
            </a:r>
            <a:r>
              <a:rPr lang="en" sz="1100">
                <a:solidFill>
                  <a:schemeClr val="dk1"/>
                </a:solidFill>
                <a:latin typeface="Livvic"/>
                <a:ea typeface="Livvic"/>
                <a:cs typeface="Livvic"/>
                <a:sym typeface="Livvic"/>
              </a:rPr>
              <a:t> → </a:t>
            </a:r>
            <a:r>
              <a:rPr b="1" lang="en" sz="1100">
                <a:solidFill>
                  <a:schemeClr val="dk1"/>
                </a:solidFill>
                <a:latin typeface="Livvic"/>
                <a:ea typeface="Livvic"/>
                <a:cs typeface="Livvic"/>
                <a:sym typeface="Livvic"/>
              </a:rPr>
              <a:t>PD increases.</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lang="en" sz="1100">
                <a:solidFill>
                  <a:schemeClr val="dk1"/>
                </a:solidFill>
                <a:latin typeface="Livvic"/>
                <a:ea typeface="Livvic"/>
                <a:cs typeface="Livvic"/>
                <a:sym typeface="Livvic"/>
              </a:rPr>
              <a:t>Strong equity and </a:t>
            </a:r>
            <a:r>
              <a:rPr b="1" lang="en" sz="1100">
                <a:solidFill>
                  <a:schemeClr val="dk1"/>
                </a:solidFill>
                <a:latin typeface="Livvic"/>
                <a:ea typeface="Livvic"/>
                <a:cs typeface="Livvic"/>
                <a:sym typeface="Livvic"/>
              </a:rPr>
              <a:t>lower leverage </a:t>
            </a:r>
            <a:r>
              <a:rPr lang="en" sz="1100">
                <a:solidFill>
                  <a:schemeClr val="dk1"/>
                </a:solidFill>
                <a:latin typeface="Livvic"/>
                <a:ea typeface="Livvic"/>
                <a:cs typeface="Livvic"/>
                <a:sym typeface="Livvic"/>
              </a:rPr>
              <a:t>give a bigger loss-absorbing buffer → </a:t>
            </a:r>
            <a:r>
              <a:rPr b="1" lang="en" sz="1100">
                <a:solidFill>
                  <a:schemeClr val="dk1"/>
                </a:solidFill>
                <a:latin typeface="Livvic"/>
                <a:ea typeface="Livvic"/>
                <a:cs typeface="Livvic"/>
                <a:sym typeface="Livvic"/>
              </a:rPr>
              <a:t>PD decreases.</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Profitability &amp; Returns</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Low or negat</a:t>
            </a:r>
            <a:r>
              <a:rPr b="1" lang="en" sz="1100">
                <a:solidFill>
                  <a:schemeClr val="dk1"/>
                </a:solidFill>
                <a:latin typeface="Livvic"/>
                <a:ea typeface="Livvic"/>
                <a:cs typeface="Livvic"/>
                <a:sym typeface="Livvic"/>
              </a:rPr>
              <a:t>ive </a:t>
            </a:r>
            <a:r>
              <a:rPr b="1" lang="en" sz="1100">
                <a:solidFill>
                  <a:schemeClr val="dk1"/>
                </a:solidFill>
                <a:latin typeface="Livvic"/>
                <a:ea typeface="Livvic"/>
                <a:cs typeface="Livvic"/>
                <a:sym typeface="Livvic"/>
              </a:rPr>
              <a:t>profitability</a:t>
            </a:r>
            <a:r>
              <a:rPr lang="en" sz="1100">
                <a:solidFill>
                  <a:schemeClr val="dk1"/>
                </a:solidFill>
                <a:latin typeface="Livvic"/>
                <a:ea typeface="Livvic"/>
                <a:cs typeface="Livvic"/>
                <a:sym typeface="Livvic"/>
              </a:rPr>
              <a:t> means the firm cannot generate enough internal cash to service debt and invest → </a:t>
            </a:r>
            <a:r>
              <a:rPr b="1" lang="en" sz="1100">
                <a:solidFill>
                  <a:schemeClr val="dk1"/>
                </a:solidFill>
                <a:latin typeface="Livvic"/>
                <a:ea typeface="Livvic"/>
                <a:cs typeface="Livvic"/>
                <a:sym typeface="Livvic"/>
              </a:rPr>
              <a:t>PD increases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lang="en" sz="1100">
                <a:solidFill>
                  <a:schemeClr val="dk1"/>
                </a:solidFill>
                <a:latin typeface="Livvic"/>
                <a:ea typeface="Livvic"/>
                <a:cs typeface="Livvic"/>
                <a:sym typeface="Livvic"/>
              </a:rPr>
              <a:t>Higher, stable returns (ROA, ROIC, margins) indicate stronger earnings power and resilience to shocks → </a:t>
            </a:r>
            <a:r>
              <a:rPr b="1" lang="en" sz="1100">
                <a:solidFill>
                  <a:schemeClr val="dk1"/>
                </a:solidFill>
                <a:latin typeface="Livvic"/>
                <a:ea typeface="Livvic"/>
                <a:cs typeface="Livvic"/>
                <a:sym typeface="Livvic"/>
              </a:rPr>
              <a:t>PD decreases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Liquidity &amp; Debt-Service Capacity</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Weak liquidity </a:t>
            </a:r>
            <a:r>
              <a:rPr lang="en" sz="1100">
                <a:solidFill>
                  <a:schemeClr val="dk1"/>
                </a:solidFill>
                <a:latin typeface="Livvic"/>
                <a:ea typeface="Livvic"/>
                <a:cs typeface="Livvic"/>
                <a:sym typeface="Livvic"/>
              </a:rPr>
              <a:t>(low cash, low cash-to-assets, low interest-coverage) means even a temporary shock can cause missed payments → </a:t>
            </a:r>
            <a:r>
              <a:rPr b="1" lang="en" sz="1100">
                <a:solidFill>
                  <a:schemeClr val="dk1"/>
                </a:solidFill>
                <a:latin typeface="Livvic"/>
                <a:ea typeface="Livvic"/>
                <a:cs typeface="Livvic"/>
                <a:sym typeface="Livvic"/>
              </a:rPr>
              <a:t>PD increases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1000"/>
              </a:spcAft>
              <a:buClr>
                <a:schemeClr val="dk1"/>
              </a:buClr>
              <a:buSzPts val="1100"/>
              <a:buChar char="●"/>
            </a:pPr>
            <a:r>
              <a:rPr b="1" lang="en" sz="1100">
                <a:solidFill>
                  <a:schemeClr val="dk1"/>
                </a:solidFill>
                <a:latin typeface="Livvic"/>
                <a:ea typeface="Livvic"/>
                <a:cs typeface="Livvic"/>
                <a:sym typeface="Livvic"/>
              </a:rPr>
              <a:t>Ample liquid assets and comfortable interest coverage</a:t>
            </a:r>
            <a:r>
              <a:rPr lang="en" sz="1100">
                <a:solidFill>
                  <a:schemeClr val="dk1"/>
                </a:solidFill>
                <a:latin typeface="Livvic"/>
                <a:ea typeface="Livvic"/>
                <a:cs typeface="Livvic"/>
                <a:sym typeface="Livvic"/>
              </a:rPr>
              <a:t> give the firm room to absorb timing mismatches in cash flows → </a:t>
            </a:r>
            <a:r>
              <a:rPr b="1" lang="en" sz="1100">
                <a:solidFill>
                  <a:schemeClr val="dk1"/>
                </a:solidFill>
                <a:latin typeface="Livvic"/>
                <a:ea typeface="Livvic"/>
                <a:cs typeface="Livvic"/>
                <a:sym typeface="Livvic"/>
              </a:rPr>
              <a:t>PD decreases</a:t>
            </a:r>
            <a:r>
              <a:rPr lang="en" sz="1100">
                <a:solidFill>
                  <a:schemeClr val="dk1"/>
                </a:solidFill>
                <a:latin typeface="Livvic"/>
                <a:ea typeface="Livvic"/>
                <a:cs typeface="Livvic"/>
                <a:sym typeface="Livvic"/>
              </a:rPr>
              <a:t>.</a:t>
            </a:r>
            <a:endParaRPr b="1" sz="1100">
              <a:solidFill>
                <a:schemeClr val="dk1"/>
              </a:solidFill>
              <a:latin typeface="Livvic"/>
              <a:ea typeface="Livvic"/>
              <a:cs typeface="Livvic"/>
              <a:sym typeface="Livv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3"/>
          <p:cNvSpPr txBox="1"/>
          <p:nvPr>
            <p:ph type="title"/>
          </p:nvPr>
        </p:nvSpPr>
        <p:spPr>
          <a:xfrm>
            <a:off x="798450" y="-11300"/>
            <a:ext cx="7547100" cy="6465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3000"/>
              <a:t>Incorporating Financial Intuition</a:t>
            </a:r>
            <a:endParaRPr sz="3000"/>
          </a:p>
        </p:txBody>
      </p:sp>
      <p:sp>
        <p:nvSpPr>
          <p:cNvPr id="288" name="Google Shape;288;p33"/>
          <p:cNvSpPr txBox="1"/>
          <p:nvPr>
            <p:ph idx="1" type="subTitle"/>
          </p:nvPr>
        </p:nvSpPr>
        <p:spPr>
          <a:xfrm>
            <a:off x="476888" y="3801900"/>
            <a:ext cx="8190300" cy="581700"/>
          </a:xfrm>
          <a:prstGeom prst="rect">
            <a:avLst/>
          </a:prstGeom>
          <a:solidFill>
            <a:schemeClr val="lt2"/>
          </a:solidFill>
        </p:spPr>
        <p:txBody>
          <a:bodyPr anchorCtr="0" anchor="ctr" bIns="91425" lIns="91425" spcFirstLastPara="1" rIns="91425" wrap="square" tIns="91425">
            <a:spAutoFit/>
          </a:bodyPr>
          <a:lstStyle/>
          <a:p>
            <a:pPr indent="0" lvl="0" marL="0" rtl="0" algn="l">
              <a:lnSpc>
                <a:spcPct val="115000"/>
              </a:lnSpc>
              <a:spcBef>
                <a:spcPts val="1200"/>
              </a:spcBef>
              <a:spcAft>
                <a:spcPts val="1200"/>
              </a:spcAft>
              <a:buNone/>
            </a:pPr>
            <a:r>
              <a:rPr lang="en" sz="1200"/>
              <a:t>These dimensions guided which ratio families we created and ultimately supported our selection of the 12 final features used in the model.</a:t>
            </a:r>
            <a:endParaRPr sz="1200"/>
          </a:p>
        </p:txBody>
      </p:sp>
      <p:sp>
        <p:nvSpPr>
          <p:cNvPr id="289" name="Google Shape;289;p33"/>
          <p:cNvSpPr/>
          <p:nvPr/>
        </p:nvSpPr>
        <p:spPr>
          <a:xfrm>
            <a:off x="476850" y="635200"/>
            <a:ext cx="8190300" cy="3094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Livvic"/>
              <a:buAutoNum type="arabicPeriod" startAt="4"/>
            </a:pPr>
            <a:r>
              <a:rPr b="1" lang="en" sz="1100">
                <a:solidFill>
                  <a:schemeClr val="dk1"/>
                </a:solidFill>
                <a:latin typeface="Livvic"/>
                <a:ea typeface="Livvic"/>
                <a:cs typeface="Livvic"/>
                <a:sym typeface="Livvic"/>
              </a:rPr>
              <a:t>Cash-Flow Stability / Volatility</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Highly volatile</a:t>
            </a:r>
            <a:r>
              <a:rPr lang="en" sz="1100">
                <a:solidFill>
                  <a:schemeClr val="dk1"/>
                </a:solidFill>
                <a:latin typeface="Livvic"/>
                <a:ea typeface="Livvic"/>
                <a:cs typeface="Livvic"/>
                <a:sym typeface="Livvic"/>
              </a:rPr>
              <a:t> or </a:t>
            </a:r>
            <a:r>
              <a:rPr b="1" lang="en" sz="1100">
                <a:solidFill>
                  <a:schemeClr val="dk1"/>
                </a:solidFill>
                <a:latin typeface="Livvic"/>
                <a:ea typeface="Livvic"/>
                <a:cs typeface="Livvic"/>
                <a:sym typeface="Livvic"/>
              </a:rPr>
              <a:t>consistently low operating cash flow</a:t>
            </a:r>
            <a:r>
              <a:rPr lang="en" sz="1100">
                <a:solidFill>
                  <a:schemeClr val="dk1"/>
                </a:solidFill>
                <a:latin typeface="Livvic"/>
                <a:ea typeface="Livvic"/>
                <a:cs typeface="Livvic"/>
                <a:sym typeface="Livvic"/>
              </a:rPr>
              <a:t> makes it harder to meet fixed obligations in bad periods → </a:t>
            </a:r>
            <a:r>
              <a:rPr b="1" lang="en" sz="1100">
                <a:solidFill>
                  <a:schemeClr val="dk1"/>
                </a:solidFill>
                <a:latin typeface="Livvic"/>
                <a:ea typeface="Livvic"/>
                <a:cs typeface="Livvic"/>
                <a:sym typeface="Livvic"/>
              </a:rPr>
              <a:t>PD increases.</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Stable, predictable operating cash flows </a:t>
            </a:r>
            <a:r>
              <a:rPr lang="en" sz="1100">
                <a:solidFill>
                  <a:schemeClr val="dk1"/>
                </a:solidFill>
                <a:latin typeface="Livvic"/>
                <a:ea typeface="Livvic"/>
                <a:cs typeface="Livvic"/>
                <a:sym typeface="Livvic"/>
              </a:rPr>
              <a:t>support regular debt service and reduce reliance on external financing → </a:t>
            </a:r>
            <a:r>
              <a:rPr b="1" lang="en" sz="1100">
                <a:solidFill>
                  <a:schemeClr val="dk1"/>
                </a:solidFill>
                <a:latin typeface="Livvic"/>
                <a:ea typeface="Livvic"/>
                <a:cs typeface="Livvic"/>
                <a:sym typeface="Livvic"/>
              </a:rPr>
              <a:t>PD decreases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AutoNum type="arabicPeriod" startAt="4"/>
            </a:pPr>
            <a:r>
              <a:rPr b="1" lang="en" sz="1100">
                <a:solidFill>
                  <a:schemeClr val="dk1"/>
                </a:solidFill>
                <a:latin typeface="Livvic"/>
                <a:ea typeface="Livvic"/>
                <a:cs typeface="Livvic"/>
                <a:sym typeface="Livvic"/>
              </a:rPr>
              <a:t>Asset Structure &amp; Debt Structure</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lang="en" sz="1100">
                <a:solidFill>
                  <a:schemeClr val="dk1"/>
                </a:solidFill>
                <a:latin typeface="Livvic"/>
                <a:ea typeface="Livvic"/>
                <a:cs typeface="Livvic"/>
                <a:sym typeface="Livvic"/>
              </a:rPr>
              <a:t>A l</a:t>
            </a:r>
            <a:r>
              <a:rPr b="1" lang="en" sz="1100">
                <a:solidFill>
                  <a:schemeClr val="dk1"/>
                </a:solidFill>
                <a:latin typeface="Livvic"/>
                <a:ea typeface="Livvic"/>
                <a:cs typeface="Livvic"/>
                <a:sym typeface="Livvic"/>
              </a:rPr>
              <a:t>ow share of tangible assets</a:t>
            </a:r>
            <a:r>
              <a:rPr lang="en" sz="1100">
                <a:solidFill>
                  <a:schemeClr val="dk1"/>
                </a:solidFill>
                <a:latin typeface="Livvic"/>
                <a:ea typeface="Livvic"/>
                <a:cs typeface="Livvic"/>
                <a:sym typeface="Livvic"/>
              </a:rPr>
              <a:t> limits collateral and recovery value; </a:t>
            </a:r>
            <a:r>
              <a:rPr b="1" lang="en" sz="1100">
                <a:solidFill>
                  <a:schemeClr val="dk1"/>
                </a:solidFill>
                <a:latin typeface="Livvic"/>
                <a:ea typeface="Livvic"/>
                <a:cs typeface="Livvic"/>
                <a:sym typeface="Livvic"/>
              </a:rPr>
              <a:t>heavy reliance on short-term debt </a:t>
            </a:r>
            <a:r>
              <a:rPr lang="en" sz="1100">
                <a:solidFill>
                  <a:schemeClr val="dk1"/>
                </a:solidFill>
                <a:latin typeface="Livvic"/>
                <a:ea typeface="Livvic"/>
                <a:cs typeface="Livvic"/>
                <a:sym typeface="Livvic"/>
              </a:rPr>
              <a:t>raises refinancing risk → </a:t>
            </a:r>
            <a:r>
              <a:rPr b="1" lang="en" sz="1100">
                <a:solidFill>
                  <a:schemeClr val="dk1"/>
                </a:solidFill>
                <a:latin typeface="Livvic"/>
                <a:ea typeface="Livvic"/>
                <a:cs typeface="Livvic"/>
                <a:sym typeface="Livvic"/>
              </a:rPr>
              <a:t>PD increases.</a:t>
            </a:r>
            <a:endParaRPr b="1" sz="1100">
              <a:solidFill>
                <a:schemeClr val="dk1"/>
              </a:solidFill>
              <a:latin typeface="Livvic"/>
              <a:ea typeface="Livvic"/>
              <a:cs typeface="Livvic"/>
              <a:sym typeface="Livvic"/>
            </a:endParaRPr>
          </a:p>
          <a:p>
            <a:pPr indent="-298450" lvl="0" marL="457200" rtl="0" algn="l">
              <a:lnSpc>
                <a:spcPct val="115000"/>
              </a:lnSpc>
              <a:spcBef>
                <a:spcPts val="1000"/>
              </a:spcBef>
              <a:spcAft>
                <a:spcPts val="1000"/>
              </a:spcAft>
              <a:buClr>
                <a:schemeClr val="dk1"/>
              </a:buClr>
              <a:buSzPts val="1100"/>
              <a:buFont typeface="Livvic"/>
              <a:buChar char="●"/>
            </a:pPr>
            <a:r>
              <a:rPr b="1" lang="en" sz="1100">
                <a:solidFill>
                  <a:schemeClr val="dk1"/>
                </a:solidFill>
                <a:latin typeface="Livvic"/>
                <a:ea typeface="Livvic"/>
                <a:cs typeface="Livvic"/>
                <a:sym typeface="Livvic"/>
              </a:rPr>
              <a:t>More tangible, pledgeable assets</a:t>
            </a:r>
            <a:r>
              <a:rPr lang="en" sz="1100">
                <a:solidFill>
                  <a:schemeClr val="dk1"/>
                </a:solidFill>
                <a:latin typeface="Livvic"/>
                <a:ea typeface="Livvic"/>
                <a:cs typeface="Livvic"/>
                <a:sym typeface="Livvic"/>
              </a:rPr>
              <a:t> and a </a:t>
            </a:r>
            <a:r>
              <a:rPr b="1" lang="en" sz="1100">
                <a:solidFill>
                  <a:schemeClr val="dk1"/>
                </a:solidFill>
                <a:latin typeface="Livvic"/>
                <a:ea typeface="Livvic"/>
                <a:cs typeface="Livvic"/>
                <a:sym typeface="Livvic"/>
              </a:rPr>
              <a:t>higher share of long-term debt</a:t>
            </a:r>
            <a:r>
              <a:rPr lang="en" sz="1100">
                <a:solidFill>
                  <a:schemeClr val="dk1"/>
                </a:solidFill>
                <a:latin typeface="Livvic"/>
                <a:ea typeface="Livvic"/>
                <a:cs typeface="Livvic"/>
                <a:sym typeface="Livvic"/>
              </a:rPr>
              <a:t> reduce rollover risk and improve recovery prospects → </a:t>
            </a:r>
            <a:r>
              <a:rPr b="1" lang="en" sz="1100">
                <a:solidFill>
                  <a:schemeClr val="dk1"/>
                </a:solidFill>
                <a:latin typeface="Livvic"/>
                <a:ea typeface="Livvic"/>
                <a:cs typeface="Livvic"/>
                <a:sym typeface="Livvic"/>
              </a:rPr>
              <a:t>PD decreases</a:t>
            </a:r>
            <a:r>
              <a:rPr lang="en" sz="1100">
                <a:solidFill>
                  <a:schemeClr val="dk1"/>
                </a:solidFill>
                <a:latin typeface="Livvic"/>
                <a:ea typeface="Livvic"/>
                <a:cs typeface="Livvic"/>
                <a:sym typeface="Livvic"/>
              </a:rPr>
              <a:t>.</a:t>
            </a:r>
            <a:endParaRPr b="1" sz="1100">
              <a:solidFill>
                <a:schemeClr val="dk1"/>
              </a:solidFill>
              <a:latin typeface="Livvic"/>
              <a:ea typeface="Livvic"/>
              <a:cs typeface="Livvic"/>
              <a:sym typeface="Livv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4"/>
          <p:cNvSpPr txBox="1"/>
          <p:nvPr>
            <p:ph type="title"/>
          </p:nvPr>
        </p:nvSpPr>
        <p:spPr>
          <a:xfrm>
            <a:off x="432900" y="0"/>
            <a:ext cx="8105100" cy="654000"/>
          </a:xfrm>
          <a:prstGeom prst="rect">
            <a:avLst/>
          </a:prstGeom>
        </p:spPr>
        <p:txBody>
          <a:bodyPr anchorCtr="0" anchor="ctr" bIns="91425" lIns="91425" spcFirstLastPara="1" rIns="91425" wrap="square" tIns="91425">
            <a:noAutofit/>
          </a:bodyPr>
          <a:lstStyle/>
          <a:p>
            <a:pPr indent="0" lvl="0" marL="0" rtl="0" algn="ctr">
              <a:lnSpc>
                <a:spcPct val="115000"/>
              </a:lnSpc>
              <a:spcBef>
                <a:spcPts val="1200"/>
              </a:spcBef>
              <a:spcAft>
                <a:spcPts val="200"/>
              </a:spcAft>
              <a:buNone/>
            </a:pPr>
            <a:r>
              <a:rPr lang="en" sz="2000">
                <a:latin typeface="Livvic"/>
                <a:ea typeface="Livvic"/>
                <a:cs typeface="Livvic"/>
                <a:sym typeface="Livvic"/>
              </a:rPr>
              <a:t>Why Our Approach Outperforms Raw Data Mining </a:t>
            </a:r>
            <a:endParaRPr b="0" sz="2000">
              <a:latin typeface="Poppins Medium"/>
              <a:ea typeface="Poppins Medium"/>
              <a:cs typeface="Poppins Medium"/>
              <a:sym typeface="Poppins Medium"/>
            </a:endParaRPr>
          </a:p>
        </p:txBody>
      </p:sp>
      <p:sp>
        <p:nvSpPr>
          <p:cNvPr id="295" name="Google Shape;295;p34"/>
          <p:cNvSpPr txBox="1"/>
          <p:nvPr/>
        </p:nvSpPr>
        <p:spPr>
          <a:xfrm>
            <a:off x="432900" y="556650"/>
            <a:ext cx="4133700" cy="404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1. Translates accounting data into risk-relevant signals</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Ratios explicitly capture solvency, liquidity, profitability, and cash-flow strength, core economic drivers of default.</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Raw values do not reflect these mechanisms.</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2. Encodes causal structures found in credit-risk research</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Capital structure, earnings volatility, and cash-flow coverage have been repeatedly validated as predictors of distress.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Ratio-based features allow the model to learn from these relationships.</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3. Reduces overfitting and improves generalization</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Raw accounting values vary widely across industries and firm sizes.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Ratios stabilize scale differences and produce features that behave consistently across the dataset.</a:t>
            </a:r>
            <a:endParaRPr sz="1100">
              <a:solidFill>
                <a:schemeClr val="dk1"/>
              </a:solidFill>
              <a:latin typeface="Livvic"/>
              <a:ea typeface="Livvic"/>
              <a:cs typeface="Livvic"/>
              <a:sym typeface="Livvic"/>
            </a:endParaRPr>
          </a:p>
        </p:txBody>
      </p:sp>
      <p:sp>
        <p:nvSpPr>
          <p:cNvPr id="296" name="Google Shape;296;p34"/>
          <p:cNvSpPr txBox="1"/>
          <p:nvPr/>
        </p:nvSpPr>
        <p:spPr>
          <a:xfrm>
            <a:off x="4623625" y="556650"/>
            <a:ext cx="3788100" cy="32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4. Supports interpretability and model credibility</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Ratios provide intuitive explanations (“PD increases when leverage rises”).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Interpretability is essential for governance, validation, and risk-management use cases.</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5. Aligns the prediction task with real underwriting constraints</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By using financially normalized, theory-driven features, the model is more aligned with how risk is assessed and therefore more deployable.</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Key references</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Altman (1968), Ohlson (1980), </a:t>
            </a:r>
            <a:r>
              <a:rPr lang="en" sz="1100" u="sng">
                <a:solidFill>
                  <a:schemeClr val="hlink"/>
                </a:solidFill>
                <a:latin typeface="Livvic"/>
                <a:ea typeface="Livvic"/>
                <a:cs typeface="Livvic"/>
                <a:sym typeface="Livvic"/>
                <a:hlinkClick r:id="rId3"/>
              </a:rPr>
              <a:t>Beaver (1966)</a:t>
            </a:r>
            <a:r>
              <a:rPr lang="en" sz="1100">
                <a:solidFill>
                  <a:schemeClr val="dk1"/>
                </a:solidFill>
                <a:latin typeface="Livvic"/>
                <a:ea typeface="Livvic"/>
                <a:cs typeface="Livvic"/>
                <a:sym typeface="Livvic"/>
              </a:rPr>
              <a:t>, </a:t>
            </a:r>
            <a:endParaRPr sz="1100">
              <a:solidFill>
                <a:schemeClr val="dk1"/>
              </a:solidFill>
              <a:latin typeface="Livvic"/>
              <a:ea typeface="Livvic"/>
              <a:cs typeface="Livvic"/>
              <a:sym typeface="Livvic"/>
            </a:endParaRPr>
          </a:p>
        </p:txBody>
      </p:sp>
      <p:cxnSp>
        <p:nvCxnSpPr>
          <p:cNvPr id="297" name="Google Shape;297;p34"/>
          <p:cNvCxnSpPr/>
          <p:nvPr/>
        </p:nvCxnSpPr>
        <p:spPr>
          <a:xfrm flipH="1">
            <a:off x="4566300" y="599250"/>
            <a:ext cx="11400" cy="39591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ph type="title"/>
          </p:nvPr>
        </p:nvSpPr>
        <p:spPr>
          <a:xfrm>
            <a:off x="4198900" y="2155800"/>
            <a:ext cx="4692300" cy="148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Data Understanding</a:t>
            </a:r>
            <a:endParaRPr/>
          </a:p>
        </p:txBody>
      </p:sp>
      <p:sp>
        <p:nvSpPr>
          <p:cNvPr id="303" name="Google Shape;303;p35"/>
          <p:cNvSpPr txBox="1"/>
          <p:nvPr>
            <p:ph idx="2" type="title"/>
          </p:nvPr>
        </p:nvSpPr>
        <p:spPr>
          <a:xfrm>
            <a:off x="4270325" y="967200"/>
            <a:ext cx="1188600" cy="11886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04" name="Google Shape;304;p35"/>
          <p:cNvSpPr/>
          <p:nvPr/>
        </p:nvSpPr>
        <p:spPr>
          <a:xfrm rot="-5400000">
            <a:off x="7763042" y="326808"/>
            <a:ext cx="878151" cy="224535"/>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921"/>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5"/>
          <p:cNvSpPr/>
          <p:nvPr/>
        </p:nvSpPr>
        <p:spPr>
          <a:xfrm rot="-5400000">
            <a:off x="8410265" y="144464"/>
            <a:ext cx="878151" cy="589219"/>
          </a:xfrm>
          <a:custGeom>
            <a:rect b="b" l="l" r="r" t="t"/>
            <a:pathLst>
              <a:path extrusionOk="0" h="12463" w="47635">
                <a:moveTo>
                  <a:pt x="1" y="1"/>
                </a:moveTo>
                <a:lnTo>
                  <a:pt x="1" y="12463"/>
                </a:lnTo>
                <a:lnTo>
                  <a:pt x="47634" y="12463"/>
                </a:lnTo>
                <a:lnTo>
                  <a:pt x="47634" y="1"/>
                </a:lnTo>
                <a:close/>
              </a:path>
            </a:pathLst>
          </a:custGeom>
          <a:gradFill>
            <a:gsLst>
              <a:gs pos="0">
                <a:srgbClr val="FBF3ED">
                  <a:alpha val="30196"/>
                </a:srgbClr>
              </a:gs>
              <a:gs pos="100000">
                <a:srgbClr val="FBF3ED">
                  <a:alpha val="50196"/>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5"/>
          <p:cNvSpPr/>
          <p:nvPr/>
        </p:nvSpPr>
        <p:spPr>
          <a:xfrm rot="-5400000">
            <a:off x="7995465" y="318918"/>
            <a:ext cx="878151" cy="240314"/>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137"/>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5"/>
          <p:cNvSpPr/>
          <p:nvPr/>
        </p:nvSpPr>
        <p:spPr>
          <a:xfrm>
            <a:off x="413450" y="592200"/>
            <a:ext cx="3730800" cy="3959100"/>
          </a:xfrm>
          <a:prstGeom prst="rect">
            <a:avLst/>
          </a:prstGeom>
          <a:solidFill>
            <a:srgbClr val="EEF0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600">
                <a:solidFill>
                  <a:schemeClr val="dk1"/>
                </a:solidFill>
                <a:latin typeface="Livvic"/>
                <a:ea typeface="Livvic"/>
                <a:cs typeface="Livvic"/>
                <a:sym typeface="Livvic"/>
              </a:rPr>
              <a:t>Section Overview</a:t>
            </a:r>
            <a:endParaRPr b="1" sz="1600">
              <a:solidFill>
                <a:schemeClr val="dk1"/>
              </a:solidFill>
              <a:latin typeface="Livvic"/>
              <a:ea typeface="Livvic"/>
              <a:cs typeface="Livvic"/>
              <a:sym typeface="Livvic"/>
            </a:endParaRPr>
          </a:p>
          <a:p>
            <a:pPr indent="0" lvl="0" marL="0" rtl="0" algn="l">
              <a:lnSpc>
                <a:spcPct val="115000"/>
              </a:lnSpc>
              <a:spcBef>
                <a:spcPts val="400"/>
              </a:spcBef>
              <a:spcAft>
                <a:spcPts val="0"/>
              </a:spcAft>
              <a:buNone/>
            </a:pPr>
            <a:r>
              <a:rPr lang="en" sz="1100">
                <a:solidFill>
                  <a:schemeClr val="dk1"/>
                </a:solidFill>
                <a:latin typeface="Livvic"/>
                <a:ea typeface="Livvic"/>
                <a:cs typeface="Livvic"/>
                <a:sym typeface="Livvic"/>
              </a:rPr>
              <a:t>In this section we,</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Describe the dataset provided by Banca Massiccia</a:t>
            </a:r>
            <a:r>
              <a:rPr lang="en" sz="1100">
                <a:solidFill>
                  <a:schemeClr val="dk1"/>
                </a:solidFill>
                <a:latin typeface="Livvic"/>
                <a:ea typeface="Livvic"/>
                <a:cs typeface="Livvic"/>
                <a:sym typeface="Livvic"/>
              </a:rPr>
              <a:t>, what each firm-year row contains, the types of financial statement variables included, and the overall structure and coverage of the data.</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Identify data quality issues relevant for modeling</a:t>
            </a:r>
            <a:r>
              <a:rPr lang="en" sz="1100">
                <a:solidFill>
                  <a:schemeClr val="dk1"/>
                </a:solidFill>
                <a:latin typeface="Livvic"/>
                <a:ea typeface="Livvic"/>
                <a:cs typeface="Livvic"/>
                <a:sym typeface="Livvic"/>
              </a:rPr>
              <a:t>, including missing values, variables with limited availability, and patterns in missingness between defaulting and non-defaulting firms.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1000"/>
              </a:spcAft>
              <a:buClr>
                <a:schemeClr val="dk1"/>
              </a:buClr>
              <a:buSzPts val="1100"/>
              <a:buFont typeface="Livvic"/>
              <a:buChar char="●"/>
            </a:pPr>
            <a:r>
              <a:rPr b="1" lang="en" sz="1100">
                <a:solidFill>
                  <a:schemeClr val="dk1"/>
                </a:solidFill>
                <a:latin typeface="Livvic"/>
                <a:ea typeface="Livvic"/>
                <a:cs typeface="Livvic"/>
                <a:sym typeface="Livvic"/>
              </a:rPr>
              <a:t>Explain which variables were viable for constructing financial ratios and which were excluded</a:t>
            </a:r>
            <a:r>
              <a:rPr lang="en" sz="1100">
                <a:solidFill>
                  <a:schemeClr val="dk1"/>
                </a:solidFill>
                <a:latin typeface="Livvic"/>
                <a:ea typeface="Livvic"/>
                <a:cs typeface="Livvic"/>
                <a:sym typeface="Livvic"/>
              </a:rPr>
              <a:t>, based on completeness, stability, and economic relevance, setting the foundation for later feature engineering.</a:t>
            </a:r>
            <a:endParaRPr sz="1100">
              <a:solidFill>
                <a:schemeClr val="dk1"/>
              </a:solidFill>
              <a:latin typeface="Livvic"/>
              <a:ea typeface="Livvic"/>
              <a:cs typeface="Livvic"/>
              <a:sym typeface="Livv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txBox="1"/>
          <p:nvPr>
            <p:ph type="title"/>
          </p:nvPr>
        </p:nvSpPr>
        <p:spPr>
          <a:xfrm>
            <a:off x="798450" y="-11300"/>
            <a:ext cx="7547100" cy="6465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3000"/>
              <a:t>Dataset Summary</a:t>
            </a:r>
            <a:endParaRPr sz="3000"/>
          </a:p>
        </p:txBody>
      </p:sp>
      <p:sp>
        <p:nvSpPr>
          <p:cNvPr id="313" name="Google Shape;313;p36"/>
          <p:cNvSpPr/>
          <p:nvPr/>
        </p:nvSpPr>
        <p:spPr>
          <a:xfrm>
            <a:off x="690600" y="635200"/>
            <a:ext cx="7762800" cy="2436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rPr>
              <a:t>Dataset provided by Banca Massiccia:</a:t>
            </a:r>
            <a:endParaRPr b="1" sz="1100">
              <a:solidFill>
                <a:schemeClr val="dk1"/>
              </a:solidFill>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Annual financial statement data for Italian firms, provided at the firm-year level.</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Each row represents </a:t>
            </a:r>
            <a:r>
              <a:rPr b="1" lang="en" sz="1100">
                <a:solidFill>
                  <a:schemeClr val="dk1"/>
                </a:solidFill>
                <a:latin typeface="Livvic"/>
                <a:ea typeface="Livvic"/>
                <a:cs typeface="Livvic"/>
                <a:sym typeface="Livvic"/>
              </a:rPr>
              <a:t>one firm in one fiscal year</a:t>
            </a:r>
            <a:r>
              <a:rPr lang="en" sz="1100">
                <a:solidFill>
                  <a:schemeClr val="dk1"/>
                </a:solidFill>
                <a:latin typeface="Livvic"/>
                <a:ea typeface="Livvic"/>
                <a:cs typeface="Livvic"/>
                <a:sym typeface="Livvic"/>
              </a:rPr>
              <a:t> (“firm-year”) and this is our unit of analysis.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Contains </a:t>
            </a:r>
            <a:r>
              <a:rPr b="1" lang="en" sz="1100">
                <a:solidFill>
                  <a:schemeClr val="dk1"/>
                </a:solidFill>
                <a:latin typeface="Livvic"/>
                <a:ea typeface="Livvic"/>
                <a:cs typeface="Livvic"/>
                <a:sym typeface="Livvic"/>
              </a:rPr>
              <a:t>44 financial statement variables</a:t>
            </a:r>
            <a:r>
              <a:rPr lang="en" sz="1100">
                <a:solidFill>
                  <a:schemeClr val="dk1"/>
                </a:solidFill>
                <a:latin typeface="Livvic"/>
                <a:ea typeface="Livvic"/>
                <a:cs typeface="Livvic"/>
                <a:sym typeface="Livvic"/>
              </a:rPr>
              <a:t> (assets, debt, revenues, profitability measures, cash flow items, etc.) plus identifiers (id, sector, legal structure, city).</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All monetary quantities are reported in </a:t>
            </a:r>
            <a:r>
              <a:rPr b="1" lang="en" sz="1100">
                <a:solidFill>
                  <a:schemeClr val="dk1"/>
                </a:solidFill>
                <a:latin typeface="Livvic"/>
                <a:ea typeface="Livvic"/>
                <a:cs typeface="Livvic"/>
                <a:sym typeface="Livvic"/>
              </a:rPr>
              <a:t>thousands of euros</a:t>
            </a:r>
            <a:r>
              <a:rPr lang="en" sz="1100">
                <a:solidFill>
                  <a:schemeClr val="dk1"/>
                </a:solidFill>
                <a:latin typeface="Livvic"/>
                <a:ea typeface="Livvic"/>
                <a:cs typeface="Livvic"/>
                <a:sym typeface="Livvic"/>
              </a:rPr>
              <a:t>, as specified in the original documentation.</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Coverage includes only:</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Firms with </a:t>
            </a:r>
            <a:r>
              <a:rPr b="1" lang="en" sz="1100">
                <a:solidFill>
                  <a:schemeClr val="dk1"/>
                </a:solidFill>
                <a:latin typeface="Livvic"/>
                <a:ea typeface="Livvic"/>
                <a:cs typeface="Livvic"/>
                <a:sym typeface="Livvic"/>
              </a:rPr>
              <a:t>&gt; €1.5M in assets</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Non-financial</a:t>
            </a:r>
            <a:r>
              <a:rPr lang="en" sz="1100">
                <a:solidFill>
                  <a:schemeClr val="dk1"/>
                </a:solidFill>
                <a:latin typeface="Livvic"/>
                <a:ea typeface="Livvic"/>
                <a:cs typeface="Livvic"/>
                <a:sym typeface="Livvic"/>
              </a:rPr>
              <a:t> industries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The training dataset includes historical default dates up to </a:t>
            </a:r>
            <a:r>
              <a:rPr b="1" lang="en" sz="1100">
                <a:solidFill>
                  <a:schemeClr val="dk1"/>
                </a:solidFill>
                <a:latin typeface="Livvic"/>
                <a:ea typeface="Livvic"/>
                <a:cs typeface="Livvic"/>
                <a:sym typeface="Livvic"/>
              </a:rPr>
              <a:t>12/31/2012</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SzPts val="1100"/>
              <a:buChar char="●"/>
            </a:pPr>
            <a:r>
              <a:rPr lang="en" sz="1100">
                <a:solidFill>
                  <a:schemeClr val="dk1"/>
                </a:solidFill>
                <a:latin typeface="Livvic"/>
                <a:ea typeface="Livvic"/>
                <a:cs typeface="Livvic"/>
                <a:sym typeface="Livvic"/>
              </a:rPr>
              <a:t>The holdout dataset contains the same structure but </a:t>
            </a:r>
            <a:r>
              <a:rPr b="1" lang="en" sz="1100">
                <a:solidFill>
                  <a:schemeClr val="dk1"/>
                </a:solidFill>
                <a:latin typeface="Livvic"/>
                <a:ea typeface="Livvic"/>
                <a:cs typeface="Livvic"/>
                <a:sym typeface="Livvic"/>
              </a:rPr>
              <a:t>no default labels</a:t>
            </a:r>
            <a:r>
              <a:rPr lang="en" sz="1100">
                <a:solidFill>
                  <a:schemeClr val="dk1"/>
                </a:solidFill>
                <a:latin typeface="Livvic"/>
                <a:ea typeface="Livvic"/>
                <a:cs typeface="Livvic"/>
                <a:sym typeface="Livvic"/>
              </a:rPr>
              <a:t>.</a:t>
            </a:r>
            <a:endParaRPr b="1" sz="1100"/>
          </a:p>
        </p:txBody>
      </p:sp>
      <p:sp>
        <p:nvSpPr>
          <p:cNvPr id="314" name="Google Shape;314;p36"/>
          <p:cNvSpPr/>
          <p:nvPr/>
        </p:nvSpPr>
        <p:spPr>
          <a:xfrm>
            <a:off x="690600" y="3197963"/>
            <a:ext cx="7762800" cy="11547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What this means for modeling</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The dataset provides the raw accounting variables required to construct financial ratios (e.g., leverage, profitability, liquidity), but not all line items are equally complete or consistently available.</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Each firm appears across multiple years, with varying lengths of history.</a:t>
            </a:r>
            <a:endParaRPr b="1" sz="1100">
              <a:solidFill>
                <a:schemeClr val="dk1"/>
              </a:solidFill>
              <a:latin typeface="Livvic"/>
              <a:ea typeface="Livvic"/>
              <a:cs typeface="Livvic"/>
              <a:sym typeface="Livv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7"/>
          <p:cNvSpPr txBox="1"/>
          <p:nvPr>
            <p:ph type="title"/>
          </p:nvPr>
        </p:nvSpPr>
        <p:spPr>
          <a:xfrm>
            <a:off x="432900" y="0"/>
            <a:ext cx="4190700" cy="654000"/>
          </a:xfrm>
          <a:prstGeom prst="rect">
            <a:avLst/>
          </a:prstGeom>
        </p:spPr>
        <p:txBody>
          <a:bodyPr anchorCtr="0" anchor="ctr" bIns="91425" lIns="91425" spcFirstLastPara="1" rIns="91425" wrap="square" tIns="91425">
            <a:noAutofit/>
          </a:bodyPr>
          <a:lstStyle/>
          <a:p>
            <a:pPr indent="0" lvl="0" marL="0" rtl="0" algn="ctr">
              <a:lnSpc>
                <a:spcPct val="115000"/>
              </a:lnSpc>
              <a:spcBef>
                <a:spcPts val="1200"/>
              </a:spcBef>
              <a:spcAft>
                <a:spcPts val="200"/>
              </a:spcAft>
              <a:buNone/>
            </a:pPr>
            <a:r>
              <a:rPr lang="en" sz="2000">
                <a:latin typeface="Livvic"/>
                <a:ea typeface="Livvic"/>
                <a:cs typeface="Livvic"/>
                <a:sym typeface="Livvic"/>
              </a:rPr>
              <a:t>The Target Variable Challenge </a:t>
            </a:r>
            <a:endParaRPr b="0" sz="2000">
              <a:latin typeface="Poppins Medium"/>
              <a:ea typeface="Poppins Medium"/>
              <a:cs typeface="Poppins Medium"/>
              <a:sym typeface="Poppins Medium"/>
            </a:endParaRPr>
          </a:p>
        </p:txBody>
      </p:sp>
      <p:sp>
        <p:nvSpPr>
          <p:cNvPr id="320" name="Google Shape;320;p37"/>
          <p:cNvSpPr txBox="1"/>
          <p:nvPr/>
        </p:nvSpPr>
        <p:spPr>
          <a:xfrm>
            <a:off x="229200" y="595050"/>
            <a:ext cx="4348500" cy="396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The single most problematic aspect of the raw data is the </a:t>
            </a:r>
            <a:r>
              <a:rPr b="1" lang="en" sz="1100">
                <a:solidFill>
                  <a:schemeClr val="dk1"/>
                </a:solidFill>
                <a:latin typeface="Livvic"/>
                <a:ea typeface="Livvic"/>
                <a:cs typeface="Livvic"/>
                <a:sym typeface="Livvic"/>
              </a:rPr>
              <a:t>lack of a target variable</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We were not given a simple "Default = 1 / No-Default = 0" column.</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lang="en" sz="1100">
                <a:solidFill>
                  <a:schemeClr val="dk1"/>
                </a:solidFill>
                <a:latin typeface="Livvic"/>
                <a:ea typeface="Livvic"/>
                <a:cs typeface="Livvic"/>
                <a:sym typeface="Livvic"/>
              </a:rPr>
              <a:t>We were only given def_date, which is just a date.</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Problem:</a:t>
            </a:r>
            <a:r>
              <a:rPr lang="en" sz="1100">
                <a:solidFill>
                  <a:schemeClr val="dk1"/>
                </a:solidFill>
                <a:latin typeface="Livvic"/>
                <a:ea typeface="Livvic"/>
                <a:cs typeface="Livvic"/>
                <a:sym typeface="Livvic"/>
              </a:rPr>
              <a:t> To build a 12-month prediction model, we </a:t>
            </a:r>
            <a:r>
              <a:rPr i="1" lang="en" sz="1100">
                <a:solidFill>
                  <a:schemeClr val="dk1"/>
                </a:solidFill>
                <a:latin typeface="Livvic"/>
                <a:ea typeface="Livvic"/>
                <a:cs typeface="Livvic"/>
                <a:sym typeface="Livvic"/>
              </a:rPr>
              <a:t>must</a:t>
            </a:r>
            <a:r>
              <a:rPr lang="en" sz="1100">
                <a:solidFill>
                  <a:schemeClr val="dk1"/>
                </a:solidFill>
                <a:latin typeface="Livvic"/>
                <a:ea typeface="Livvic"/>
                <a:cs typeface="Livvic"/>
                <a:sym typeface="Livvic"/>
              </a:rPr>
              <a:t> create a target variable by looking </a:t>
            </a:r>
            <a:r>
              <a:rPr i="1" lang="en" sz="1100">
                <a:solidFill>
                  <a:schemeClr val="dk1"/>
                </a:solidFill>
                <a:latin typeface="Livvic"/>
                <a:ea typeface="Livvic"/>
                <a:cs typeface="Livvic"/>
                <a:sym typeface="Livvic"/>
              </a:rPr>
              <a:t>forward</a:t>
            </a:r>
            <a:r>
              <a:rPr lang="en" sz="1100">
                <a:solidFill>
                  <a:schemeClr val="dk1"/>
                </a:solidFill>
                <a:latin typeface="Livvic"/>
                <a:ea typeface="Livvic"/>
                <a:cs typeface="Livvic"/>
                <a:sym typeface="Livvic"/>
              </a:rPr>
              <a:t> 12 months from a given fs_year.</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Business Insight (The Lag):</a:t>
            </a:r>
            <a:r>
              <a:rPr lang="en" sz="1100">
                <a:solidFill>
                  <a:schemeClr val="dk1"/>
                </a:solidFill>
                <a:latin typeface="Livvic"/>
                <a:ea typeface="Livvic"/>
                <a:cs typeface="Livvic"/>
                <a:sym typeface="Livvic"/>
              </a:rPr>
              <a:t> We must also account for the </a:t>
            </a:r>
            <a:r>
              <a:rPr b="1" lang="en" sz="1100">
                <a:solidFill>
                  <a:schemeClr val="dk1"/>
                </a:solidFill>
                <a:latin typeface="Livvic"/>
                <a:ea typeface="Livvic"/>
                <a:cs typeface="Livvic"/>
                <a:sym typeface="Livvic"/>
              </a:rPr>
              <a:t>Information lag</a:t>
            </a:r>
            <a:r>
              <a:rPr lang="en" sz="1100">
                <a:solidFill>
                  <a:schemeClr val="dk1"/>
                </a:solidFill>
                <a:latin typeface="Livvic"/>
                <a:ea typeface="Livvic"/>
                <a:cs typeface="Livvic"/>
                <a:sym typeface="Livvic"/>
              </a:rPr>
              <a:t>. A financial statement from fs_year2008 is not published and available to the bank until several months later.</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1000"/>
              </a:spcAft>
              <a:buClr>
                <a:schemeClr val="dk1"/>
              </a:buClr>
              <a:buSzPts val="1100"/>
              <a:buChar char="●"/>
            </a:pPr>
            <a:r>
              <a:rPr b="1" lang="en" sz="1100">
                <a:solidFill>
                  <a:schemeClr val="dk1"/>
                </a:solidFill>
                <a:latin typeface="Livvic"/>
                <a:ea typeface="Livvic"/>
                <a:cs typeface="Livvic"/>
                <a:sym typeface="Livvic"/>
              </a:rPr>
              <a:t>Conclusion:</a:t>
            </a:r>
            <a:r>
              <a:rPr lang="en" sz="1100">
                <a:solidFill>
                  <a:schemeClr val="dk1"/>
                </a:solidFill>
                <a:latin typeface="Livvic"/>
                <a:ea typeface="Livvic"/>
                <a:cs typeface="Livvic"/>
                <a:sym typeface="Livvic"/>
              </a:rPr>
              <a:t> This </a:t>
            </a:r>
            <a:r>
              <a:rPr i="1" lang="en" sz="1100">
                <a:solidFill>
                  <a:schemeClr val="dk1"/>
                </a:solidFill>
                <a:latin typeface="Livvic"/>
                <a:ea typeface="Livvic"/>
                <a:cs typeface="Livvic"/>
                <a:sym typeface="Livvic"/>
              </a:rPr>
              <a:t>understanding</a:t>
            </a:r>
            <a:r>
              <a:rPr lang="en" sz="1100">
                <a:solidFill>
                  <a:schemeClr val="dk1"/>
                </a:solidFill>
                <a:latin typeface="Livvic"/>
                <a:ea typeface="Livvic"/>
                <a:cs typeface="Livvic"/>
                <a:sym typeface="Livvic"/>
              </a:rPr>
              <a:t> that our target is not given and that we must account for a time lag is the single most important finding. </a:t>
            </a:r>
            <a:r>
              <a:rPr lang="en" sz="1100">
                <a:solidFill>
                  <a:schemeClr val="dk1"/>
                </a:solidFill>
                <a:latin typeface="Livvic"/>
                <a:ea typeface="Livvic"/>
                <a:cs typeface="Livvic"/>
                <a:sym typeface="Livvic"/>
              </a:rPr>
              <a:t>It directly motivates the way we setup the problem as explained in the problem formulation.</a:t>
            </a:r>
            <a:endParaRPr b="1" sz="1100">
              <a:solidFill>
                <a:schemeClr val="dk1"/>
              </a:solidFill>
              <a:latin typeface="Livvic"/>
              <a:ea typeface="Livvic"/>
              <a:cs typeface="Livvic"/>
              <a:sym typeface="Livvic"/>
            </a:endParaRPr>
          </a:p>
        </p:txBody>
      </p:sp>
      <p:sp>
        <p:nvSpPr>
          <p:cNvPr id="321" name="Google Shape;321;p37"/>
          <p:cNvSpPr txBox="1"/>
          <p:nvPr/>
        </p:nvSpPr>
        <p:spPr>
          <a:xfrm>
            <a:off x="4767600" y="545550"/>
            <a:ext cx="3788100" cy="401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The data is </a:t>
            </a:r>
            <a:r>
              <a:rPr i="1" lang="en" sz="1100">
                <a:solidFill>
                  <a:schemeClr val="dk1"/>
                </a:solidFill>
                <a:latin typeface="Livvic"/>
                <a:ea typeface="Livvic"/>
                <a:cs typeface="Livvic"/>
                <a:sym typeface="Livvic"/>
              </a:rPr>
              <a:t>not</a:t>
            </a:r>
            <a:r>
              <a:rPr lang="en" sz="1100">
                <a:solidFill>
                  <a:schemeClr val="dk1"/>
                </a:solidFill>
                <a:latin typeface="Livvic"/>
                <a:ea typeface="Livvic"/>
                <a:cs typeface="Livvic"/>
                <a:sym typeface="Livvic"/>
              </a:rPr>
              <a:t> a random sample of all businesses. It has severe, known biases that strictly limit our model's scope:</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1. Size Bias:</a:t>
            </a:r>
            <a:r>
              <a:rPr lang="en" sz="1100">
                <a:solidFill>
                  <a:schemeClr val="dk1"/>
                </a:solidFill>
                <a:latin typeface="Livvic"/>
                <a:ea typeface="Livvic"/>
                <a:cs typeface="Livvic"/>
                <a:sym typeface="Livvic"/>
              </a:rPr>
              <a:t> The data </a:t>
            </a:r>
            <a:r>
              <a:rPr b="1" lang="en" sz="1100">
                <a:solidFill>
                  <a:schemeClr val="dk1"/>
                </a:solidFill>
                <a:latin typeface="Livvic"/>
                <a:ea typeface="Livvic"/>
                <a:cs typeface="Livvic"/>
                <a:sym typeface="Livvic"/>
              </a:rPr>
              <a:t>excludes all firms with &lt; €1.5MM in assets</a:t>
            </a:r>
            <a:r>
              <a:rPr lang="en" sz="1100">
                <a:solidFill>
                  <a:schemeClr val="dk1"/>
                </a:solidFill>
                <a:latin typeface="Livvic"/>
                <a:ea typeface="Livvic"/>
                <a:cs typeface="Livvic"/>
                <a:sym typeface="Livvic"/>
              </a:rPr>
              <a:t>. This is a major sampling bias. Our model will have no knowledge of small businesses or startups.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2. Industry Bias:</a:t>
            </a:r>
            <a:r>
              <a:rPr lang="en" sz="1100">
                <a:solidFill>
                  <a:schemeClr val="dk1"/>
                </a:solidFill>
                <a:latin typeface="Livvic"/>
                <a:ea typeface="Livvic"/>
                <a:cs typeface="Livvic"/>
                <a:sym typeface="Livvic"/>
              </a:rPr>
              <a:t> The data </a:t>
            </a:r>
            <a:r>
              <a:rPr b="1" lang="en" sz="1100">
                <a:solidFill>
                  <a:schemeClr val="dk1"/>
                </a:solidFill>
                <a:latin typeface="Livvic"/>
                <a:ea typeface="Livvic"/>
                <a:cs typeface="Livvic"/>
                <a:sym typeface="Livvic"/>
              </a:rPr>
              <a:t>excludes all finance and insurance firms</a:t>
            </a:r>
            <a:r>
              <a:rPr lang="en" sz="1100">
                <a:solidFill>
                  <a:schemeClr val="dk1"/>
                </a:solidFill>
                <a:latin typeface="Livvic"/>
                <a:ea typeface="Livvic"/>
                <a:cs typeface="Livvic"/>
                <a:sym typeface="Livvic"/>
              </a:rPr>
              <a:t>. Their balance sheets are fundamentally different, so our model is </a:t>
            </a:r>
            <a:r>
              <a:rPr i="1" lang="en" sz="1100">
                <a:solidFill>
                  <a:schemeClr val="dk1"/>
                </a:solidFill>
                <a:latin typeface="Livvic"/>
                <a:ea typeface="Livvic"/>
                <a:cs typeface="Livvic"/>
                <a:sym typeface="Livvic"/>
              </a:rPr>
              <a:t>only</a:t>
            </a:r>
            <a:r>
              <a:rPr lang="en" sz="1100">
                <a:solidFill>
                  <a:schemeClr val="dk1"/>
                </a:solidFill>
                <a:latin typeface="Livvic"/>
                <a:ea typeface="Livvic"/>
                <a:cs typeface="Livvic"/>
                <a:sym typeface="Livvic"/>
              </a:rPr>
              <a:t> valid for non-financial corporations.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3. Geographic Bias:</a:t>
            </a:r>
            <a:r>
              <a:rPr lang="en" sz="1100">
                <a:solidFill>
                  <a:schemeClr val="dk1"/>
                </a:solidFill>
                <a:latin typeface="Livvic"/>
                <a:ea typeface="Livvic"/>
                <a:cs typeface="Livvic"/>
                <a:sym typeface="Livvic"/>
              </a:rPr>
              <a:t> The data is from </a:t>
            </a:r>
            <a:r>
              <a:rPr b="1" lang="en" sz="1100">
                <a:solidFill>
                  <a:schemeClr val="dk1"/>
                </a:solidFill>
                <a:latin typeface="Livvic"/>
                <a:ea typeface="Livvic"/>
                <a:cs typeface="Livvic"/>
                <a:sym typeface="Livvic"/>
              </a:rPr>
              <a:t>Italian firms only</a:t>
            </a:r>
            <a:r>
              <a:rPr lang="en" sz="1100">
                <a:solidFill>
                  <a:schemeClr val="dk1"/>
                </a:solidFill>
                <a:latin typeface="Livvic"/>
                <a:ea typeface="Livvic"/>
                <a:cs typeface="Livvic"/>
                <a:sym typeface="Livvic"/>
              </a:rPr>
              <a:t>. The financial patterns it learns are specific to the Italian economy and cannot be applied to other countries.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4. Temporal Limitation:</a:t>
            </a:r>
            <a:r>
              <a:rPr lang="en" sz="1100">
                <a:solidFill>
                  <a:schemeClr val="dk1"/>
                </a:solidFill>
                <a:latin typeface="Livvic"/>
                <a:ea typeface="Livvic"/>
                <a:cs typeface="Livvic"/>
                <a:sym typeface="Livvic"/>
              </a:rPr>
              <a:t> The training data for defaults ends in 2012. This means the model has not been trained on recent economic events (e.g., a post-2012 high-interest-rate environment), which creates a risk of </a:t>
            </a:r>
            <a:r>
              <a:rPr b="1" lang="en" sz="1100">
                <a:solidFill>
                  <a:schemeClr val="dk1"/>
                </a:solidFill>
                <a:latin typeface="Livvic"/>
                <a:ea typeface="Livvic"/>
                <a:cs typeface="Livvic"/>
                <a:sym typeface="Livvic"/>
              </a:rPr>
              <a:t>model drift</a:t>
            </a:r>
            <a:r>
              <a:rPr lang="en" sz="1100">
                <a:solidFill>
                  <a:schemeClr val="dk1"/>
                </a:solidFill>
                <a:latin typeface="Livvic"/>
                <a:ea typeface="Livvic"/>
                <a:cs typeface="Livvic"/>
                <a:sym typeface="Livvic"/>
              </a:rPr>
              <a:t>.</a:t>
            </a:r>
            <a:endParaRPr b="1" sz="1100">
              <a:solidFill>
                <a:schemeClr val="dk1"/>
              </a:solidFill>
              <a:latin typeface="Livvic"/>
              <a:ea typeface="Livvic"/>
              <a:cs typeface="Livvic"/>
              <a:sym typeface="Livvic"/>
            </a:endParaRPr>
          </a:p>
        </p:txBody>
      </p:sp>
      <p:cxnSp>
        <p:nvCxnSpPr>
          <p:cNvPr id="322" name="Google Shape;322;p37"/>
          <p:cNvCxnSpPr/>
          <p:nvPr/>
        </p:nvCxnSpPr>
        <p:spPr>
          <a:xfrm flipH="1">
            <a:off x="4566300" y="599250"/>
            <a:ext cx="11400" cy="3959100"/>
          </a:xfrm>
          <a:prstGeom prst="straightConnector1">
            <a:avLst/>
          </a:prstGeom>
          <a:noFill/>
          <a:ln cap="flat" cmpd="sng" w="28575">
            <a:solidFill>
              <a:schemeClr val="dk1"/>
            </a:solidFill>
            <a:prstDash val="solid"/>
            <a:round/>
            <a:headEnd len="med" w="med" type="none"/>
            <a:tailEnd len="med" w="med" type="none"/>
          </a:ln>
        </p:spPr>
      </p:cxnSp>
      <p:sp>
        <p:nvSpPr>
          <p:cNvPr id="323" name="Google Shape;323;p37"/>
          <p:cNvSpPr txBox="1"/>
          <p:nvPr>
            <p:ph type="title"/>
          </p:nvPr>
        </p:nvSpPr>
        <p:spPr>
          <a:xfrm>
            <a:off x="4566300" y="54900"/>
            <a:ext cx="4190700" cy="544200"/>
          </a:xfrm>
          <a:prstGeom prst="rect">
            <a:avLst/>
          </a:prstGeom>
        </p:spPr>
        <p:txBody>
          <a:bodyPr anchorCtr="0" anchor="ctr" bIns="91425" lIns="91425" spcFirstLastPara="1" rIns="91425" wrap="square" tIns="91425">
            <a:noAutofit/>
          </a:bodyPr>
          <a:lstStyle/>
          <a:p>
            <a:pPr indent="0" lvl="0" marL="0" marR="0" rtl="0" algn="ctr">
              <a:lnSpc>
                <a:spcPct val="115000"/>
              </a:lnSpc>
              <a:spcBef>
                <a:spcPts val="1200"/>
              </a:spcBef>
              <a:spcAft>
                <a:spcPts val="200"/>
              </a:spcAft>
              <a:buNone/>
            </a:pPr>
            <a:r>
              <a:rPr lang="en" sz="2000">
                <a:latin typeface="Livvic"/>
                <a:ea typeface="Livvic"/>
                <a:cs typeface="Livvic"/>
                <a:sym typeface="Livvic"/>
              </a:rPr>
              <a:t>Potential Biases &amp; Limitations</a:t>
            </a:r>
            <a:endParaRPr sz="2000">
              <a:latin typeface="Livvic"/>
              <a:ea typeface="Livvic"/>
              <a:cs typeface="Livvic"/>
              <a:sym typeface="Livv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8"/>
          <p:cNvSpPr txBox="1"/>
          <p:nvPr>
            <p:ph type="title"/>
          </p:nvPr>
        </p:nvSpPr>
        <p:spPr>
          <a:xfrm>
            <a:off x="659125"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Inherent Data Quality Problems</a:t>
            </a:r>
            <a:endParaRPr b="0" sz="2000">
              <a:latin typeface="Poppins Medium"/>
              <a:ea typeface="Poppins Medium"/>
              <a:cs typeface="Poppins Medium"/>
              <a:sym typeface="Poppins Medium"/>
            </a:endParaRPr>
          </a:p>
        </p:txBody>
      </p:sp>
      <p:sp>
        <p:nvSpPr>
          <p:cNvPr id="329" name="Google Shape;329;p38"/>
          <p:cNvSpPr txBox="1"/>
          <p:nvPr/>
        </p:nvSpPr>
        <p:spPr>
          <a:xfrm>
            <a:off x="332100" y="654000"/>
            <a:ext cx="8479800" cy="36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Finally, we understood from the raw train.csv that the data was "dirty" and presented three classic data mining challenges: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Severe Class Imbalance (Problematic):</a:t>
            </a:r>
            <a:r>
              <a:rPr lang="en" sz="1100">
                <a:solidFill>
                  <a:schemeClr val="dk1"/>
                </a:solidFill>
                <a:latin typeface="Livvic"/>
                <a:ea typeface="Livvic"/>
                <a:cs typeface="Livvic"/>
                <a:sym typeface="Livvic"/>
              </a:rPr>
              <a:t> Defaults are rare events. The raw data has a very low percentage of default (1s) vs. non-default (0s). This is problematic because a naive model will just predict "0" for everyone and achieve high accuracy. This </a:t>
            </a:r>
            <a:r>
              <a:rPr i="1" lang="en" sz="1100">
                <a:solidFill>
                  <a:schemeClr val="dk1"/>
                </a:solidFill>
                <a:latin typeface="Livvic"/>
                <a:ea typeface="Livvic"/>
                <a:cs typeface="Livvic"/>
                <a:sym typeface="Livvic"/>
              </a:rPr>
              <a:t>understanding</a:t>
            </a:r>
            <a:r>
              <a:rPr lang="en" sz="1100">
                <a:solidFill>
                  <a:schemeClr val="dk1"/>
                </a:solidFill>
                <a:latin typeface="Livvic"/>
                <a:ea typeface="Livvic"/>
                <a:cs typeface="Livvic"/>
                <a:sym typeface="Livvic"/>
              </a:rPr>
              <a:t> motivates our choice to use scale_pos_weight in the modeling step.</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Extreme Outliers (Problematic):</a:t>
            </a:r>
            <a:r>
              <a:rPr lang="en" sz="1100">
                <a:solidFill>
                  <a:schemeClr val="dk1"/>
                </a:solidFill>
                <a:latin typeface="Livvic"/>
                <a:ea typeface="Livvic"/>
                <a:cs typeface="Livvic"/>
                <a:sym typeface="Livvic"/>
              </a:rPr>
              <a:t> Financial ratios (like ROE) are famously "noisy." A firm with tiny equity can have an ROE of +50,000%. These extreme values are not real economic signals; they are mathematical noise that can break a model. This </a:t>
            </a:r>
            <a:r>
              <a:rPr i="1" lang="en" sz="1100">
                <a:solidFill>
                  <a:schemeClr val="dk1"/>
                </a:solidFill>
                <a:latin typeface="Livvic"/>
                <a:ea typeface="Livvic"/>
                <a:cs typeface="Livvic"/>
                <a:sym typeface="Livvic"/>
              </a:rPr>
              <a:t>understanding</a:t>
            </a:r>
            <a:r>
              <a:rPr lang="en" sz="1100">
                <a:solidFill>
                  <a:schemeClr val="dk1"/>
                </a:solidFill>
                <a:latin typeface="Livvic"/>
                <a:ea typeface="Livvic"/>
                <a:cs typeface="Livvic"/>
                <a:sym typeface="Livvic"/>
              </a:rPr>
              <a:t> motivates our "Winsorization" step in Data Preparation.</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Pervasive Missing Data (Problematic):</a:t>
            </a:r>
            <a:r>
              <a:rPr lang="en" sz="1100">
                <a:solidFill>
                  <a:schemeClr val="dk1"/>
                </a:solidFill>
                <a:latin typeface="Livvic"/>
                <a:ea typeface="Livvic"/>
                <a:cs typeface="Livvic"/>
                <a:sym typeface="Livvic"/>
              </a:rPr>
              <a:t> Many firms had NA for key financial items. Simply dropping these rows would have destroyed thousands of samples. This </a:t>
            </a:r>
            <a:r>
              <a:rPr i="1" lang="en" sz="1100">
                <a:solidFill>
                  <a:schemeClr val="dk1"/>
                </a:solidFill>
                <a:latin typeface="Livvic"/>
                <a:ea typeface="Livvic"/>
                <a:cs typeface="Livvic"/>
                <a:sym typeface="Livvic"/>
              </a:rPr>
              <a:t>understanding</a:t>
            </a:r>
            <a:r>
              <a:rPr lang="en" sz="1100">
                <a:solidFill>
                  <a:schemeClr val="dk1"/>
                </a:solidFill>
                <a:latin typeface="Livvic"/>
                <a:ea typeface="Livvic"/>
                <a:cs typeface="Livvic"/>
                <a:sym typeface="Livvic"/>
              </a:rPr>
              <a:t> motivates our imputation and feature engineering in Data Preparation.</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rPr>
              <a:t>Ev</a:t>
            </a:r>
            <a:r>
              <a:rPr b="1" lang="en" sz="1100">
                <a:solidFill>
                  <a:schemeClr val="dk1"/>
                </a:solidFill>
                <a:latin typeface="Livvic"/>
                <a:ea typeface="Livvic"/>
                <a:cs typeface="Livvic"/>
                <a:sym typeface="Livvic"/>
              </a:rPr>
              <a:t>idence from the data:</a:t>
            </a:r>
            <a:endParaRPr b="1" sz="1100">
              <a:solidFill>
                <a:schemeClr val="dk1"/>
              </a:solidFill>
              <a:latin typeface="Livvic"/>
              <a:ea typeface="Livvic"/>
              <a:cs typeface="Livvic"/>
              <a:sym typeface="Livvic"/>
            </a:endParaRPr>
          </a:p>
          <a:p>
            <a:pPr indent="0" lvl="0" marL="0" marR="0" rtl="0" algn="l">
              <a:lnSpc>
                <a:spcPct val="115000"/>
              </a:lnSpc>
              <a:spcBef>
                <a:spcPts val="1200"/>
              </a:spcBef>
              <a:spcAft>
                <a:spcPts val="0"/>
              </a:spcAft>
              <a:buNone/>
            </a:pPr>
            <a:r>
              <a:rPr b="1" lang="en" sz="1100">
                <a:solidFill>
                  <a:schemeClr val="dk1"/>
                </a:solidFill>
                <a:latin typeface="Livvic"/>
                <a:ea typeface="Livvic"/>
                <a:cs typeface="Livvic"/>
                <a:sym typeface="Livvic"/>
              </a:rPr>
              <a:t>Return on Equity (roe): </a:t>
            </a:r>
            <a:r>
              <a:rPr lang="en" sz="1100">
                <a:solidFill>
                  <a:schemeClr val="dk1"/>
                </a:solidFill>
                <a:latin typeface="Livvic"/>
                <a:ea typeface="Livvic"/>
                <a:cs typeface="Livvic"/>
                <a:sym typeface="Livvic"/>
              </a:rPr>
              <a:t>Missing for </a:t>
            </a:r>
            <a:r>
              <a:rPr b="1" lang="en" sz="1100">
                <a:solidFill>
                  <a:schemeClr val="dk1"/>
                </a:solidFill>
                <a:latin typeface="Livvic"/>
                <a:ea typeface="Livvic"/>
                <a:cs typeface="Livvic"/>
                <a:sym typeface="Livvic"/>
              </a:rPr>
              <a:t>only 6.5% of non-defaulting firms,</a:t>
            </a:r>
            <a:r>
              <a:rPr lang="en" sz="1100">
                <a:solidFill>
                  <a:schemeClr val="dk1"/>
                </a:solidFill>
                <a:latin typeface="Livvic"/>
                <a:ea typeface="Livvic"/>
                <a:cs typeface="Livvic"/>
                <a:sym typeface="Livvic"/>
              </a:rPr>
              <a:t> but missing for a staggering </a:t>
            </a:r>
            <a:r>
              <a:rPr lang="en" sz="1100" u="sng">
                <a:solidFill>
                  <a:schemeClr val="dk1"/>
                </a:solidFill>
                <a:latin typeface="Livvic"/>
                <a:ea typeface="Livvic"/>
                <a:cs typeface="Livvic"/>
                <a:sym typeface="Livvic"/>
              </a:rPr>
              <a:t>44.3% of defaulting firms.</a:t>
            </a:r>
            <a:endParaRPr sz="1100" u="sng">
              <a:solidFill>
                <a:schemeClr val="dk1"/>
              </a:solidFill>
              <a:latin typeface="Livvic"/>
              <a:ea typeface="Livvic"/>
              <a:cs typeface="Livvic"/>
              <a:sym typeface="Livvic"/>
            </a:endParaRPr>
          </a:p>
          <a:p>
            <a:pPr indent="0" lvl="0" marL="0" marR="0" rtl="0" algn="l">
              <a:lnSpc>
                <a:spcPct val="115000"/>
              </a:lnSpc>
              <a:spcBef>
                <a:spcPts val="0"/>
              </a:spcBef>
              <a:spcAft>
                <a:spcPts val="0"/>
              </a:spcAft>
              <a:buNone/>
            </a:pPr>
            <a:r>
              <a:rPr b="1" lang="en" sz="1100">
                <a:solidFill>
                  <a:schemeClr val="dk1"/>
                </a:solidFill>
                <a:latin typeface="Livvic"/>
                <a:ea typeface="Livvic"/>
                <a:cs typeface="Livvic"/>
                <a:sym typeface="Livvic"/>
              </a:rPr>
              <a:t>Financial Margin (margin_fin):</a:t>
            </a:r>
            <a:r>
              <a:rPr lang="en" sz="1100">
                <a:solidFill>
                  <a:schemeClr val="dk1"/>
                </a:solidFill>
                <a:latin typeface="Livvic"/>
                <a:ea typeface="Livvic"/>
                <a:cs typeface="Livvic"/>
                <a:sym typeface="Livvic"/>
              </a:rPr>
              <a:t> Missing for </a:t>
            </a:r>
            <a:r>
              <a:rPr b="1" lang="en" sz="1100">
                <a:solidFill>
                  <a:schemeClr val="dk1"/>
                </a:solidFill>
                <a:latin typeface="Livvic"/>
                <a:ea typeface="Livvic"/>
                <a:cs typeface="Livvic"/>
                <a:sym typeface="Livvic"/>
              </a:rPr>
              <a:t>only 3.5% of non-defaulting firms</a:t>
            </a:r>
            <a:r>
              <a:rPr lang="en" sz="1100">
                <a:solidFill>
                  <a:schemeClr val="dk1"/>
                </a:solidFill>
                <a:latin typeface="Livvic"/>
                <a:ea typeface="Livvic"/>
                <a:cs typeface="Livvic"/>
                <a:sym typeface="Livvic"/>
              </a:rPr>
              <a:t>, but missing for</a:t>
            </a:r>
            <a:r>
              <a:rPr lang="en" sz="1100" u="sng">
                <a:solidFill>
                  <a:schemeClr val="dk1"/>
                </a:solidFill>
                <a:latin typeface="Livvic"/>
                <a:ea typeface="Livvic"/>
                <a:cs typeface="Livvic"/>
                <a:sym typeface="Livvic"/>
              </a:rPr>
              <a:t> 34.0% of defaulting firms.</a:t>
            </a:r>
            <a:endParaRPr sz="1100" u="sng">
              <a:solidFill>
                <a:schemeClr val="dk1"/>
              </a:solidFill>
              <a:latin typeface="Livvic"/>
              <a:ea typeface="Livvic"/>
              <a:cs typeface="Livvic"/>
              <a:sym typeface="Livvic"/>
            </a:endParaRPr>
          </a:p>
          <a:p>
            <a:pPr indent="0" lvl="0" marL="0" marR="0" rtl="0" algn="l">
              <a:lnSpc>
                <a:spcPct val="115000"/>
              </a:lnSpc>
              <a:spcBef>
                <a:spcPts val="0"/>
              </a:spcBef>
              <a:spcAft>
                <a:spcPts val="0"/>
              </a:spcAft>
              <a:buNone/>
            </a:pPr>
            <a:r>
              <a:rPr b="1" lang="en" sz="1100">
                <a:solidFill>
                  <a:schemeClr val="dk1"/>
                </a:solidFill>
                <a:latin typeface="Livvic"/>
                <a:ea typeface="Livvic"/>
                <a:cs typeface="Livvic"/>
                <a:sym typeface="Livvic"/>
              </a:rPr>
              <a:t>Debt Variables (e.g., debt_fin_st): </a:t>
            </a:r>
            <a:r>
              <a:rPr lang="en" sz="1100">
                <a:solidFill>
                  <a:schemeClr val="dk1"/>
                </a:solidFill>
                <a:latin typeface="Livvic"/>
                <a:ea typeface="Livvic"/>
                <a:cs typeface="Livvic"/>
                <a:sym typeface="Livvic"/>
              </a:rPr>
              <a:t>Showed moderate </a:t>
            </a:r>
            <a:r>
              <a:rPr lang="en" sz="1100" u="sng">
                <a:solidFill>
                  <a:schemeClr val="dk1"/>
                </a:solidFill>
                <a:latin typeface="Livvic"/>
                <a:ea typeface="Livvic"/>
                <a:cs typeface="Livvic"/>
                <a:sym typeface="Livvic"/>
              </a:rPr>
              <a:t>missingness (around 14%)</a:t>
            </a:r>
            <a:r>
              <a:rPr lang="en" sz="1100">
                <a:solidFill>
                  <a:schemeClr val="dk1"/>
                </a:solidFill>
                <a:latin typeface="Livvic"/>
                <a:ea typeface="Livvic"/>
                <a:cs typeface="Livvic"/>
                <a:sym typeface="Livvic"/>
              </a:rPr>
              <a:t> for defaulted firms, further indicating distress.</a:t>
            </a:r>
            <a:endParaRPr sz="1100">
              <a:solidFill>
                <a:schemeClr val="dk1"/>
              </a:solidFill>
              <a:latin typeface="Livvic"/>
              <a:ea typeface="Livvic"/>
              <a:cs typeface="Livvic"/>
              <a:sym typeface="Livvic"/>
            </a:endParaRPr>
          </a:p>
          <a:p>
            <a:pPr indent="0" lvl="0" marL="0" marR="0" rtl="0" algn="l">
              <a:lnSpc>
                <a:spcPct val="115000"/>
              </a:lnSpc>
              <a:spcBef>
                <a:spcPts val="1200"/>
              </a:spcBef>
              <a:spcAft>
                <a:spcPts val="1200"/>
              </a:spcAft>
              <a:buNone/>
            </a:pPr>
            <a:r>
              <a:rPr b="1" lang="en" sz="1100">
                <a:solidFill>
                  <a:schemeClr val="dk1"/>
                </a:solidFill>
                <a:latin typeface="Livvic"/>
                <a:ea typeface="Livvic"/>
                <a:cs typeface="Livvic"/>
                <a:sym typeface="Livvic"/>
              </a:rPr>
              <a:t>Conclusion:</a:t>
            </a:r>
            <a:r>
              <a:rPr lang="en" sz="1100">
                <a:solidFill>
                  <a:schemeClr val="dk1"/>
                </a:solidFill>
                <a:latin typeface="Livvic"/>
                <a:ea typeface="Livvic"/>
                <a:cs typeface="Livvic"/>
                <a:sym typeface="Livvic"/>
              </a:rPr>
              <a:t> </a:t>
            </a:r>
            <a:r>
              <a:rPr lang="en" sz="1100">
                <a:solidFill>
                  <a:schemeClr val="dk1"/>
                </a:solidFill>
                <a:latin typeface="Livvic"/>
                <a:ea typeface="Livvic"/>
                <a:cs typeface="Livvic"/>
                <a:sym typeface="Livvic"/>
              </a:rPr>
              <a:t>Because</a:t>
            </a:r>
            <a:r>
              <a:rPr lang="en" sz="1100">
                <a:solidFill>
                  <a:schemeClr val="dk1"/>
                </a:solidFill>
                <a:latin typeface="Livvic"/>
                <a:ea typeface="Livvic"/>
                <a:cs typeface="Livvic"/>
                <a:sym typeface="Livvic"/>
              </a:rPr>
              <a:t> of this imbalance, we decided that dropping rows wasn’t a viable option, and would have to construct ratios and missing values to ensure a PD prediction for all types of data.</a:t>
            </a:r>
            <a:endParaRPr b="1" sz="1100">
              <a:solidFill>
                <a:schemeClr val="dk1"/>
              </a:solidFill>
              <a:latin typeface="Livvic"/>
              <a:ea typeface="Livvic"/>
              <a:cs typeface="Livvic"/>
              <a:sym typeface="Livv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9"/>
          <p:cNvSpPr/>
          <p:nvPr/>
        </p:nvSpPr>
        <p:spPr>
          <a:xfrm>
            <a:off x="397875" y="120575"/>
            <a:ext cx="8312400" cy="6150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335" name="Google Shape;335;p39"/>
          <p:cNvSpPr/>
          <p:nvPr/>
        </p:nvSpPr>
        <p:spPr>
          <a:xfrm>
            <a:off x="4285050" y="304800"/>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336" name="Google Shape;336;p39"/>
          <p:cNvSpPr/>
          <p:nvPr/>
        </p:nvSpPr>
        <p:spPr>
          <a:xfrm>
            <a:off x="462250" y="4478825"/>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337" name="Google Shape;337;p39"/>
          <p:cNvSpPr/>
          <p:nvPr/>
        </p:nvSpPr>
        <p:spPr>
          <a:xfrm>
            <a:off x="8136425" y="4360850"/>
            <a:ext cx="573900" cy="48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338" name="Google Shape;338;p39"/>
          <p:cNvSpPr txBox="1"/>
          <p:nvPr>
            <p:ph idx="4294967295" type="subTitle"/>
          </p:nvPr>
        </p:nvSpPr>
        <p:spPr>
          <a:xfrm>
            <a:off x="775950" y="3988450"/>
            <a:ext cx="7592100" cy="369300"/>
          </a:xfrm>
          <a:prstGeom prst="rect">
            <a:avLst/>
          </a:prstGeom>
          <a:solidFill>
            <a:schemeClr val="lt2"/>
          </a:solidFill>
        </p:spPr>
        <p:txBody>
          <a:bodyPr anchorCtr="0" anchor="t" bIns="91425" lIns="91425" spcFirstLastPara="1" rIns="91425" wrap="square" tIns="91425">
            <a:spAutoFit/>
          </a:bodyPr>
          <a:lstStyle/>
          <a:p>
            <a:pPr indent="0" lvl="0" marL="0" rtl="0" algn="ctr">
              <a:spcBef>
                <a:spcPts val="1200"/>
              </a:spcBef>
              <a:spcAft>
                <a:spcPts val="1200"/>
              </a:spcAft>
              <a:buNone/>
            </a:pPr>
            <a:r>
              <a:rPr b="1" lang="en"/>
              <a:t>Figure 3: Plots the % of Missing Values </a:t>
            </a:r>
            <a:r>
              <a:rPr b="1" lang="en"/>
              <a:t>Between</a:t>
            </a:r>
            <a:r>
              <a:rPr b="1" lang="en"/>
              <a:t> Defaulters and Non Defaulters </a:t>
            </a:r>
            <a:endParaRPr b="1"/>
          </a:p>
        </p:txBody>
      </p:sp>
      <p:pic>
        <p:nvPicPr>
          <p:cNvPr id="339" name="Google Shape;339;p39"/>
          <p:cNvPicPr preferRelativeResize="0"/>
          <p:nvPr/>
        </p:nvPicPr>
        <p:blipFill>
          <a:blip r:embed="rId3">
            <a:alphaModFix/>
          </a:blip>
          <a:stretch>
            <a:fillRect/>
          </a:stretch>
        </p:blipFill>
        <p:spPr>
          <a:xfrm>
            <a:off x="838600" y="167950"/>
            <a:ext cx="7466824" cy="369945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0"/>
          <p:cNvSpPr txBox="1"/>
          <p:nvPr>
            <p:ph idx="8" type="title"/>
          </p:nvPr>
        </p:nvSpPr>
        <p:spPr>
          <a:xfrm>
            <a:off x="676500" y="2068575"/>
            <a:ext cx="3895500" cy="1480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4500"/>
              <a:t>Data</a:t>
            </a:r>
            <a:endParaRPr sz="4500"/>
          </a:p>
          <a:p>
            <a:pPr indent="0" lvl="0" marL="0" rtl="0" algn="r">
              <a:spcBef>
                <a:spcPts val="0"/>
              </a:spcBef>
              <a:spcAft>
                <a:spcPts val="0"/>
              </a:spcAft>
              <a:buClr>
                <a:schemeClr val="dk1"/>
              </a:buClr>
              <a:buSzPts val="1100"/>
              <a:buFont typeface="Arial"/>
              <a:buNone/>
            </a:pPr>
            <a:r>
              <a:rPr lang="en" sz="4500"/>
              <a:t>Preparation</a:t>
            </a:r>
            <a:endParaRPr sz="4500"/>
          </a:p>
        </p:txBody>
      </p:sp>
      <p:sp>
        <p:nvSpPr>
          <p:cNvPr id="345" name="Google Shape;345;p40"/>
          <p:cNvSpPr txBox="1"/>
          <p:nvPr>
            <p:ph type="title"/>
          </p:nvPr>
        </p:nvSpPr>
        <p:spPr>
          <a:xfrm>
            <a:off x="3474600" y="1114275"/>
            <a:ext cx="1097400" cy="954300"/>
          </a:xfrm>
          <a:prstGeom prst="rect">
            <a:avLst/>
          </a:prstGeom>
          <a:solidFill>
            <a:schemeClr val="lt2"/>
          </a:solidFill>
        </p:spPr>
        <p:txBody>
          <a:bodyPr anchorCtr="0" anchor="b" bIns="91425" lIns="91425" spcFirstLastPara="1" rIns="91425" wrap="square" tIns="91425">
            <a:spAutoFit/>
          </a:bodyPr>
          <a:lstStyle/>
          <a:p>
            <a:pPr indent="0" lvl="0" marL="0" rtl="0" algn="l">
              <a:spcBef>
                <a:spcPts val="0"/>
              </a:spcBef>
              <a:spcAft>
                <a:spcPts val="0"/>
              </a:spcAft>
              <a:buNone/>
            </a:pPr>
            <a:r>
              <a:rPr lang="en" sz="5000"/>
              <a:t>04</a:t>
            </a:r>
            <a:endParaRPr sz="5000"/>
          </a:p>
        </p:txBody>
      </p:sp>
      <p:sp>
        <p:nvSpPr>
          <p:cNvPr id="346" name="Google Shape;346;p40"/>
          <p:cNvSpPr/>
          <p:nvPr/>
        </p:nvSpPr>
        <p:spPr>
          <a:xfrm>
            <a:off x="4681700" y="756300"/>
            <a:ext cx="3895500" cy="3657600"/>
          </a:xfrm>
          <a:prstGeom prst="rect">
            <a:avLst/>
          </a:prstGeom>
          <a:solidFill>
            <a:srgbClr val="EEF0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600">
                <a:solidFill>
                  <a:schemeClr val="dk1"/>
                </a:solidFill>
                <a:latin typeface="Livvic"/>
                <a:ea typeface="Livvic"/>
                <a:cs typeface="Livvic"/>
                <a:sym typeface="Livvic"/>
              </a:rPr>
              <a:t>Section Overview</a:t>
            </a:r>
            <a:endParaRPr b="1" sz="16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In this section we cover </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How core accounting quantities were reconstructed → Rebuilding assets, liabilities, and equity from components when reported values were missing.</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lang="en" sz="1100">
                <a:solidFill>
                  <a:schemeClr val="dk1"/>
                </a:solidFill>
                <a:latin typeface="Livvic"/>
                <a:ea typeface="Livvic"/>
                <a:cs typeface="Livvic"/>
                <a:sym typeface="Livvic"/>
              </a:rPr>
              <a:t>How missing and inconsistent values were handled → Identifying gaps, applying targeted imputations, and ensuring consistency across firm-years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lang="en" sz="1100">
                <a:solidFill>
                  <a:schemeClr val="dk1"/>
                </a:solidFill>
                <a:latin typeface="Livvic"/>
                <a:ea typeface="Livvic"/>
                <a:cs typeface="Livvic"/>
                <a:sym typeface="Livvic"/>
              </a:rPr>
              <a:t>How financial ratios were constructed from cleaned inputs → Using reconstructed balance-sheet and income-statement items as stable denominators and numerators</a:t>
            </a:r>
            <a:endParaRPr sz="1100">
              <a:solidFill>
                <a:schemeClr val="dk1"/>
              </a:solidFill>
              <a:latin typeface="Livvic"/>
              <a:ea typeface="Livvic"/>
              <a:cs typeface="Livvic"/>
              <a:sym typeface="Livvic"/>
            </a:endParaRPr>
          </a:p>
          <a:p>
            <a:pPr indent="-292100" lvl="0" marL="457200" rtl="0" algn="l">
              <a:lnSpc>
                <a:spcPct val="115000"/>
              </a:lnSpc>
              <a:spcBef>
                <a:spcPts val="1000"/>
              </a:spcBef>
              <a:spcAft>
                <a:spcPts val="1000"/>
              </a:spcAft>
              <a:buSzPts val="1000"/>
              <a:buChar char="●"/>
            </a:pPr>
            <a:r>
              <a:rPr lang="en" sz="1100">
                <a:solidFill>
                  <a:schemeClr val="dk1"/>
                </a:solidFill>
                <a:latin typeface="Livvic"/>
                <a:ea typeface="Livvic"/>
                <a:cs typeface="Livvic"/>
                <a:sym typeface="Livvic"/>
              </a:rPr>
              <a:t>How final features were normalized and bounded for modeling → Winsorizing/extreme-value clipping to reduce noise and improve model stability</a:t>
            </a:r>
            <a:endParaRPr sz="1300">
              <a:solidFill>
                <a:schemeClr val="dk1"/>
              </a:solidFill>
              <a:latin typeface="Livvic"/>
              <a:ea typeface="Livvic"/>
              <a:cs typeface="Livvic"/>
              <a:sym typeface="Livv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type="title"/>
          </p:nvPr>
        </p:nvSpPr>
        <p:spPr>
          <a:xfrm>
            <a:off x="798450" y="76700"/>
            <a:ext cx="7547100" cy="4926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2000"/>
              <a:t>Reconstruction of Core Accounting Quantities</a:t>
            </a:r>
            <a:endParaRPr sz="2000"/>
          </a:p>
        </p:txBody>
      </p:sp>
      <p:sp>
        <p:nvSpPr>
          <p:cNvPr id="352" name="Google Shape;352;p41"/>
          <p:cNvSpPr/>
          <p:nvPr/>
        </p:nvSpPr>
        <p:spPr>
          <a:xfrm>
            <a:off x="690600" y="1260088"/>
            <a:ext cx="7762800" cy="18297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What we found in the raw data:</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Some core balance-sheet components had non-trivial missingness (e.g., debt_bank_st, debt_fin_st, AP_st, AP_lt, liab_lt).</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Total assets had no missing values; total equity had 1 missing value, but all these fields are essential inputs for nearly every ratio.</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Even when high-level totals were present, the subcomponents were sometimes missing, so totals were not always internally consistent.</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SzPts val="1100"/>
              <a:buFont typeface="Livvic"/>
              <a:buChar char="●"/>
            </a:pPr>
            <a:r>
              <a:rPr lang="en" sz="1100">
                <a:solidFill>
                  <a:schemeClr val="dk1"/>
                </a:solidFill>
                <a:latin typeface="Livvic"/>
                <a:ea typeface="Livvic"/>
                <a:cs typeface="Livvic"/>
                <a:sym typeface="Livvic"/>
              </a:rPr>
              <a:t>Missingness patterns differed by default status, which could bias ratios that depend on these fields.</a:t>
            </a:r>
            <a:endParaRPr sz="1100">
              <a:solidFill>
                <a:schemeClr val="dk1"/>
              </a:solidFill>
              <a:latin typeface="Livvic"/>
              <a:ea typeface="Livvic"/>
              <a:cs typeface="Livvic"/>
              <a:sym typeface="Livvic"/>
            </a:endParaRPr>
          </a:p>
        </p:txBody>
      </p:sp>
      <p:sp>
        <p:nvSpPr>
          <p:cNvPr id="353" name="Google Shape;353;p41"/>
          <p:cNvSpPr/>
          <p:nvPr/>
        </p:nvSpPr>
        <p:spPr>
          <a:xfrm>
            <a:off x="690600" y="3197963"/>
            <a:ext cx="7762800" cy="11547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Why this matters</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Ratios such as leverage, liquidity, profitability, debt structure, and cash-flow capacity all depend on accurate totals.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If these base quantities were inconsistent or partially missing, the ratios would be unstable and distort the model.</a:t>
            </a:r>
            <a:endParaRPr sz="1100">
              <a:solidFill>
                <a:schemeClr val="dk1"/>
              </a:solidFill>
              <a:latin typeface="Livvic"/>
              <a:ea typeface="Livvic"/>
              <a:cs typeface="Livvic"/>
              <a:sym typeface="Livvic"/>
            </a:endParaRPr>
          </a:p>
        </p:txBody>
      </p:sp>
      <p:sp>
        <p:nvSpPr>
          <p:cNvPr id="354" name="Google Shape;354;p4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
        <p:nvSpPr>
          <p:cNvPr id="355" name="Google Shape;355;p41"/>
          <p:cNvSpPr/>
          <p:nvPr/>
        </p:nvSpPr>
        <p:spPr>
          <a:xfrm>
            <a:off x="690600" y="659300"/>
            <a:ext cx="7762800" cy="492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latin typeface="Livvic"/>
                <a:ea typeface="Livvic"/>
                <a:cs typeface="Livvic"/>
                <a:sym typeface="Livvic"/>
              </a:rPr>
              <a:t>Objective: </a:t>
            </a:r>
            <a:r>
              <a:rPr lang="en" sz="1100">
                <a:solidFill>
                  <a:schemeClr val="dk1"/>
                </a:solidFill>
                <a:latin typeface="Livvic"/>
                <a:ea typeface="Livvic"/>
                <a:cs typeface="Livvic"/>
                <a:sym typeface="Livvic"/>
              </a:rPr>
              <a:t>Ensure core accounting values were complete and internally consistent before constructing ratios.</a:t>
            </a:r>
            <a:endParaRPr sz="1100">
              <a:solidFill>
                <a:schemeClr val="dk1"/>
              </a:solidFill>
              <a:latin typeface="Livvic"/>
              <a:ea typeface="Livvic"/>
              <a:cs typeface="Livvic"/>
              <a:sym typeface="Livv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798450" y="76700"/>
            <a:ext cx="7547100" cy="4926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2000"/>
              <a:t>Reconstruction of Core Accounting Quantities</a:t>
            </a:r>
            <a:endParaRPr sz="2000"/>
          </a:p>
        </p:txBody>
      </p:sp>
      <p:sp>
        <p:nvSpPr>
          <p:cNvPr id="361" name="Google Shape;361;p42"/>
          <p:cNvSpPr/>
          <p:nvPr/>
        </p:nvSpPr>
        <p:spPr>
          <a:xfrm>
            <a:off x="690600" y="635200"/>
            <a:ext cx="7762800" cy="20655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Reconstructed core accounting quantities</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Total assets</a:t>
            </a:r>
            <a:r>
              <a:rPr lang="en" sz="1100">
                <a:solidFill>
                  <a:schemeClr val="dk1"/>
                </a:solidFill>
                <a:latin typeface="Livvic"/>
                <a:ea typeface="Livvic"/>
                <a:cs typeface="Livvic"/>
                <a:sym typeface="Livvic"/>
              </a:rPr>
              <a:t> reconstructed as:  </a:t>
            </a:r>
            <a:r>
              <a:rPr i="1" lang="en" sz="1100">
                <a:solidFill>
                  <a:schemeClr val="dk1"/>
                </a:solidFill>
                <a:latin typeface="Livvic"/>
                <a:ea typeface="Livvic"/>
                <a:cs typeface="Livvic"/>
                <a:sym typeface="Livvic"/>
              </a:rPr>
              <a:t>Intangible Asset + Tangibles Asset + Financial Fixed Assets + Current Assets, </a:t>
            </a:r>
            <a:r>
              <a:rPr lang="en" sz="1100">
                <a:solidFill>
                  <a:schemeClr val="dk1"/>
                </a:solidFill>
                <a:latin typeface="Livvic"/>
                <a:ea typeface="Livvic"/>
                <a:cs typeface="Livvic"/>
                <a:sym typeface="Livvic"/>
              </a:rPr>
              <a:t>replacing asst_tot only when missing</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Short-term and long-term debt</a:t>
            </a:r>
            <a:r>
              <a:rPr lang="en" sz="1100">
                <a:solidFill>
                  <a:schemeClr val="dk1"/>
                </a:solidFill>
                <a:latin typeface="Livvic"/>
                <a:ea typeface="Livvic"/>
                <a:cs typeface="Livvic"/>
                <a:sym typeface="Livvic"/>
              </a:rPr>
              <a:t> reconstructed using bank and non-bank components (debt_bank_st, debt_fin_st, debt_bank_lt, debt_fin_lt).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Total liabilities</a:t>
            </a:r>
            <a:r>
              <a:rPr lang="en" sz="1100">
                <a:solidFill>
                  <a:schemeClr val="dk1"/>
                </a:solidFill>
                <a:latin typeface="Livvic"/>
                <a:ea typeface="Livvic"/>
                <a:cs typeface="Livvic"/>
                <a:sym typeface="Livvic"/>
              </a:rPr>
              <a:t> reconstructed from : </a:t>
            </a:r>
            <a:r>
              <a:rPr i="1" lang="en" sz="1100">
                <a:solidFill>
                  <a:schemeClr val="dk1"/>
                </a:solidFill>
                <a:latin typeface="Livvic"/>
                <a:ea typeface="Livvic"/>
                <a:cs typeface="Livvic"/>
                <a:sym typeface="Livvic"/>
              </a:rPr>
              <a:t>Long Term Liabilities + total debt + AP + employee liabilities.</a:t>
            </a:r>
            <a:endParaRPr i="1" sz="1100">
              <a:solidFill>
                <a:schemeClr val="dk1"/>
              </a:solidFill>
              <a:latin typeface="Livvic"/>
              <a:ea typeface="Livvic"/>
              <a:cs typeface="Livvic"/>
              <a:sym typeface="Livvic"/>
            </a:endParaRPr>
          </a:p>
          <a:p>
            <a:pPr indent="-298450" lvl="0" marL="457200" rtl="0" algn="l">
              <a:lnSpc>
                <a:spcPct val="115000"/>
              </a:lnSpc>
              <a:spcBef>
                <a:spcPts val="1200"/>
              </a:spcBef>
              <a:spcAft>
                <a:spcPts val="1000"/>
              </a:spcAft>
              <a:buClr>
                <a:schemeClr val="dk1"/>
              </a:buClr>
              <a:buSzPts val="1100"/>
              <a:buChar char="●"/>
            </a:pPr>
            <a:r>
              <a:rPr b="1" lang="en" sz="1100">
                <a:solidFill>
                  <a:schemeClr val="dk1"/>
                </a:solidFill>
                <a:latin typeface="Livvic"/>
                <a:ea typeface="Livvic"/>
                <a:cs typeface="Livvic"/>
                <a:sym typeface="Livvic"/>
              </a:rPr>
              <a:t>Equity</a:t>
            </a:r>
            <a:r>
              <a:rPr lang="en" sz="1100">
                <a:solidFill>
                  <a:schemeClr val="dk1"/>
                </a:solidFill>
                <a:latin typeface="Livvic"/>
                <a:ea typeface="Livvic"/>
                <a:cs typeface="Livvic"/>
                <a:sym typeface="Livvic"/>
              </a:rPr>
              <a:t> reconstructed where missing using the accounting identity:  </a:t>
            </a:r>
            <a:r>
              <a:rPr i="1" lang="en" sz="1100">
                <a:solidFill>
                  <a:schemeClr val="dk1"/>
                </a:solidFill>
                <a:latin typeface="Livvic"/>
                <a:ea typeface="Livvic"/>
                <a:cs typeface="Livvic"/>
                <a:sym typeface="Livvic"/>
              </a:rPr>
              <a:t>Total Equity  = Total Assets - Liabilities</a:t>
            </a:r>
            <a:endParaRPr b="1" i="1" sz="1100">
              <a:solidFill>
                <a:schemeClr val="dk1"/>
              </a:solidFill>
              <a:latin typeface="Livvic"/>
              <a:ea typeface="Livvic"/>
              <a:cs typeface="Livvic"/>
              <a:sym typeface="Livvic"/>
            </a:endParaRPr>
          </a:p>
        </p:txBody>
      </p:sp>
      <p:sp>
        <p:nvSpPr>
          <p:cNvPr id="362" name="Google Shape;362;p42"/>
          <p:cNvSpPr/>
          <p:nvPr/>
        </p:nvSpPr>
        <p:spPr>
          <a:xfrm>
            <a:off x="690600" y="2766604"/>
            <a:ext cx="7762800" cy="15498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How reconstructed values were applied</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Whenever a total (e.g., asst_tot, debt_lt, debt_st, eqty_tot) was missing, the reconstructed value replaced the original.</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SzPts val="1100"/>
              <a:buChar char="●"/>
            </a:pPr>
            <a:r>
              <a:rPr lang="en" sz="1100">
                <a:solidFill>
                  <a:schemeClr val="dk1"/>
                </a:solidFill>
                <a:latin typeface="Livvic"/>
                <a:ea typeface="Livvic"/>
                <a:cs typeface="Livvic"/>
                <a:sym typeface="Livvic"/>
              </a:rPr>
              <a:t>If both the component and total were missing, the value was set to 0, preventing missing errors and ensuring uniform feature construction.</a:t>
            </a:r>
            <a:endParaRPr b="1" sz="1100">
              <a:solidFill>
                <a:schemeClr val="dk1"/>
              </a:solidFill>
              <a:latin typeface="Livvic"/>
              <a:ea typeface="Livvic"/>
              <a:cs typeface="Livvic"/>
              <a:sym typeface="Livv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3"/>
          <p:cNvSpPr txBox="1"/>
          <p:nvPr>
            <p:ph type="title"/>
          </p:nvPr>
        </p:nvSpPr>
        <p:spPr>
          <a:xfrm>
            <a:off x="798450" y="76700"/>
            <a:ext cx="7547100" cy="4926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sz="2000"/>
              <a:t>Handling Missing and Extreme Values</a:t>
            </a:r>
            <a:endParaRPr sz="2000"/>
          </a:p>
        </p:txBody>
      </p:sp>
      <p:sp>
        <p:nvSpPr>
          <p:cNvPr id="368" name="Google Shape;368;p43"/>
          <p:cNvSpPr/>
          <p:nvPr/>
        </p:nvSpPr>
        <p:spPr>
          <a:xfrm>
            <a:off x="541850" y="635200"/>
            <a:ext cx="8060400" cy="2496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100">
                <a:solidFill>
                  <a:schemeClr val="dk1"/>
                </a:solidFill>
                <a:latin typeface="Livvic"/>
                <a:ea typeface="Livvic"/>
                <a:cs typeface="Livvic"/>
                <a:sym typeface="Livvic"/>
              </a:rPr>
              <a:t>Handling Missing Inputs in Ratio Construction</a:t>
            </a:r>
            <a:endParaRPr b="1" sz="1100">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lang="en" sz="1100">
                <a:solidFill>
                  <a:schemeClr val="dk1"/>
                </a:solidFill>
                <a:latin typeface="Livvic"/>
                <a:ea typeface="Livvic"/>
                <a:cs typeface="Livvic"/>
                <a:sym typeface="Livvic"/>
              </a:rPr>
              <a:t>Mean or median imputation was avoided because it would artificially create firms with “average” characteristics they never reported.</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Missing accounting components were set to</a:t>
            </a:r>
            <a:r>
              <a:rPr b="1" lang="en" sz="1100">
                <a:solidFill>
                  <a:schemeClr val="dk1"/>
                </a:solidFill>
                <a:latin typeface="Livvic"/>
                <a:ea typeface="Livvic"/>
                <a:cs typeface="Livvic"/>
                <a:sym typeface="Livvic"/>
              </a:rPr>
              <a:t> generally set to</a:t>
            </a: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0  the absence has a clear economic interpretation</a:t>
            </a:r>
            <a:r>
              <a:rPr lang="en" sz="1100">
                <a:solidFill>
                  <a:schemeClr val="dk1"/>
                </a:solidFill>
                <a:latin typeface="Livvic"/>
                <a:ea typeface="Livvic"/>
                <a:cs typeface="Livvic"/>
                <a:sym typeface="Livvic"/>
              </a:rPr>
              <a:t> (e.g., no reported debt, no cash in a subcategory, or unreported AP/AR).</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The variables used to construct ratios exhibit </a:t>
            </a:r>
            <a:r>
              <a:rPr b="1" lang="en" sz="1100">
                <a:solidFill>
                  <a:schemeClr val="dk1"/>
                </a:solidFill>
                <a:latin typeface="Livvic"/>
                <a:ea typeface="Livvic"/>
                <a:cs typeface="Livvic"/>
                <a:sym typeface="Livvic"/>
              </a:rPr>
              <a:t>relatively low missingness</a:t>
            </a:r>
            <a:r>
              <a:rPr lang="en" sz="1100">
                <a:solidFill>
                  <a:schemeClr val="dk1"/>
                </a:solidFill>
                <a:latin typeface="Livvic"/>
                <a:ea typeface="Livvic"/>
                <a:cs typeface="Livvic"/>
                <a:sym typeface="Livvic"/>
              </a:rPr>
              <a:t>, so imputing with averages would have disproportionately influenced the resulting ratios.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Using zero in these cases maintains </a:t>
            </a:r>
            <a:r>
              <a:rPr b="1" lang="en" sz="1100">
                <a:solidFill>
                  <a:schemeClr val="dk1"/>
                </a:solidFill>
                <a:latin typeface="Livvic"/>
                <a:ea typeface="Livvic"/>
                <a:cs typeface="Livvic"/>
                <a:sym typeface="Livvic"/>
              </a:rPr>
              <a:t>numerical continuity</a:t>
            </a:r>
            <a:r>
              <a:rPr lang="en" sz="1100">
                <a:solidFill>
                  <a:schemeClr val="dk1"/>
                </a:solidFill>
                <a:latin typeface="Livvic"/>
                <a:ea typeface="Livvic"/>
                <a:cs typeface="Livvic"/>
                <a:sym typeface="Livvic"/>
              </a:rPr>
              <a:t> while remaining consistent with the interpretation of “low or absent” amounts.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Ratios derived from these inputs were subsequently </a:t>
            </a:r>
            <a:r>
              <a:rPr b="1" lang="en" sz="1100">
                <a:solidFill>
                  <a:schemeClr val="dk1"/>
                </a:solidFill>
                <a:latin typeface="Livvic"/>
                <a:ea typeface="Livvic"/>
                <a:cs typeface="Livvic"/>
                <a:sym typeface="Livvic"/>
              </a:rPr>
              <a:t>clipped at percentile bounds</a:t>
            </a:r>
            <a:r>
              <a:rPr lang="en" sz="1100">
                <a:solidFill>
                  <a:schemeClr val="dk1"/>
                </a:solidFill>
                <a:latin typeface="Livvic"/>
                <a:ea typeface="Livvic"/>
                <a:cs typeface="Livvic"/>
                <a:sym typeface="Livvic"/>
              </a:rPr>
              <a:t> to limit the influence of extreme observations.</a:t>
            </a:r>
            <a:endParaRPr b="1" sz="1100">
              <a:solidFill>
                <a:schemeClr val="dk1"/>
              </a:solidFill>
              <a:latin typeface="Livvic"/>
              <a:ea typeface="Livvic"/>
              <a:cs typeface="Livvic"/>
              <a:sym typeface="Livvic"/>
            </a:endParaRPr>
          </a:p>
        </p:txBody>
      </p:sp>
      <p:sp>
        <p:nvSpPr>
          <p:cNvPr id="369" name="Google Shape;369;p43"/>
          <p:cNvSpPr/>
          <p:nvPr/>
        </p:nvSpPr>
        <p:spPr>
          <a:xfrm>
            <a:off x="541750" y="3197400"/>
            <a:ext cx="8060400" cy="1743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How Extreme Values Were Handled</a:t>
            </a:r>
            <a:endParaRPr b="1"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Every ratio was clipped/winsorized using the 1st and 99th percentiles: </a:t>
            </a:r>
            <a:r>
              <a:rPr lang="en" sz="1100">
                <a:solidFill>
                  <a:schemeClr val="dk1"/>
                </a:solidFill>
                <a:latin typeface="Livvic"/>
                <a:ea typeface="Livvic"/>
                <a:cs typeface="Livvic"/>
                <a:sym typeface="Livvic"/>
              </a:rPr>
              <a:t>To prevent unrealistic values like ROE = +50,000% or interest coverage &gt; 1e6.</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Stored parameters used to transform the test/holdout set: </a:t>
            </a:r>
            <a:r>
              <a:rPr lang="en" sz="1100">
                <a:solidFill>
                  <a:schemeClr val="dk1"/>
                </a:solidFill>
                <a:latin typeface="Livvic"/>
                <a:ea typeface="Livvic"/>
                <a:cs typeface="Livvic"/>
                <a:sym typeface="Livvic"/>
              </a:rPr>
              <a:t>Ensures exact same winsorization boundaries are applied and prevents information leakage.</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SzPts val="1100"/>
              <a:buChar char="●"/>
            </a:pPr>
            <a:r>
              <a:rPr b="1" lang="en" sz="1100">
                <a:solidFill>
                  <a:schemeClr val="dk1"/>
                </a:solidFill>
                <a:latin typeface="Livvic"/>
                <a:ea typeface="Livvic"/>
                <a:cs typeface="Livvic"/>
                <a:sym typeface="Livvic"/>
              </a:rPr>
              <a:t>Standardization applied where needed (e.g., CF_to_Debt) : </a:t>
            </a:r>
            <a:r>
              <a:rPr lang="en" sz="1100">
                <a:solidFill>
                  <a:schemeClr val="dk1"/>
                </a:solidFill>
                <a:latin typeface="Livvic"/>
                <a:ea typeface="Livvic"/>
                <a:cs typeface="Livvic"/>
                <a:sym typeface="Livvic"/>
              </a:rPr>
              <a:t>Mean and std of the </a:t>
            </a:r>
            <a:r>
              <a:rPr i="1" lang="en" sz="1100">
                <a:solidFill>
                  <a:schemeClr val="dk1"/>
                </a:solidFill>
                <a:latin typeface="Livvic"/>
                <a:ea typeface="Livvic"/>
                <a:cs typeface="Livvic"/>
                <a:sym typeface="Livvic"/>
              </a:rPr>
              <a:t>training</a:t>
            </a:r>
            <a:r>
              <a:rPr lang="en" sz="1100">
                <a:solidFill>
                  <a:schemeClr val="dk1"/>
                </a:solidFill>
                <a:latin typeface="Livvic"/>
                <a:ea typeface="Livvic"/>
                <a:cs typeface="Livvic"/>
                <a:sym typeface="Livvic"/>
              </a:rPr>
              <a:t> distribution stored in details and applied later to score new observations consistently.</a:t>
            </a:r>
            <a:endParaRPr sz="1100">
              <a:solidFill>
                <a:schemeClr val="dk1"/>
              </a:solidFill>
              <a:latin typeface="Livvic"/>
              <a:ea typeface="Livvic"/>
              <a:cs typeface="Livvic"/>
              <a:sym typeface="Livv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4"/>
          <p:cNvSpPr/>
          <p:nvPr/>
        </p:nvSpPr>
        <p:spPr>
          <a:xfrm>
            <a:off x="263450" y="4336925"/>
            <a:ext cx="8704200" cy="516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375" name="Google Shape;375;p44"/>
          <p:cNvSpPr txBox="1"/>
          <p:nvPr>
            <p:ph type="title"/>
          </p:nvPr>
        </p:nvSpPr>
        <p:spPr>
          <a:xfrm>
            <a:off x="432900" y="-104175"/>
            <a:ext cx="7970700" cy="654000"/>
          </a:xfrm>
          <a:prstGeom prst="rect">
            <a:avLst/>
          </a:prstGeom>
        </p:spPr>
        <p:txBody>
          <a:bodyPr anchorCtr="0" anchor="ctr" bIns="91425" lIns="91425" spcFirstLastPara="1" rIns="91425" wrap="square" tIns="91425">
            <a:noAutofit/>
          </a:bodyPr>
          <a:lstStyle/>
          <a:p>
            <a:pPr indent="0" lvl="0" marL="0" rtl="0" algn="ctr">
              <a:lnSpc>
                <a:spcPct val="115000"/>
              </a:lnSpc>
              <a:spcBef>
                <a:spcPts val="1200"/>
              </a:spcBef>
              <a:spcAft>
                <a:spcPts val="200"/>
              </a:spcAft>
              <a:buNone/>
            </a:pPr>
            <a:r>
              <a:rPr lang="en" sz="2000">
                <a:latin typeface="Livvic"/>
                <a:ea typeface="Livvic"/>
                <a:cs typeface="Livvic"/>
                <a:sym typeface="Livvic"/>
              </a:rPr>
              <a:t>List of Financial Ratios Used</a:t>
            </a:r>
            <a:endParaRPr b="0" sz="2000">
              <a:latin typeface="Poppins Medium"/>
              <a:ea typeface="Poppins Medium"/>
              <a:cs typeface="Poppins Medium"/>
              <a:sym typeface="Poppins Medium"/>
            </a:endParaRPr>
          </a:p>
        </p:txBody>
      </p:sp>
      <p:sp>
        <p:nvSpPr>
          <p:cNvPr id="376" name="Google Shape;376;p44"/>
          <p:cNvSpPr txBox="1"/>
          <p:nvPr/>
        </p:nvSpPr>
        <p:spPr>
          <a:xfrm>
            <a:off x="0" y="457800"/>
            <a:ext cx="9144000" cy="4685700"/>
          </a:xfrm>
          <a:prstGeom prst="rect">
            <a:avLst/>
          </a:prstGeom>
          <a:solidFill>
            <a:schemeClr val="lt1"/>
          </a:solid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Leverage : </a:t>
            </a:r>
            <a:r>
              <a:rPr lang="en" sz="1100">
                <a:solidFill>
                  <a:schemeClr val="dk1"/>
                </a:solidFill>
                <a:latin typeface="Livvic"/>
                <a:ea typeface="Livvic"/>
                <a:cs typeface="Livvic"/>
                <a:sym typeface="Livvic"/>
              </a:rPr>
              <a:t>Total liabilities ÷ total assets - Shows how much of a company’s assets are financed by liabilities.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ROA : </a:t>
            </a:r>
            <a:r>
              <a:rPr lang="en" sz="1100">
                <a:solidFill>
                  <a:schemeClr val="dk1"/>
                </a:solidFill>
                <a:latin typeface="Livvic"/>
                <a:ea typeface="Livvic"/>
                <a:cs typeface="Livvic"/>
                <a:sym typeface="Livvic"/>
              </a:rPr>
              <a:t>O</a:t>
            </a:r>
            <a:r>
              <a:rPr lang="en" sz="1100">
                <a:solidFill>
                  <a:schemeClr val="dk1"/>
                </a:solidFill>
                <a:latin typeface="Livvic"/>
                <a:ea typeface="Livvic"/>
                <a:cs typeface="Livvic"/>
                <a:sym typeface="Livvic"/>
              </a:rPr>
              <a:t>p</a:t>
            </a:r>
            <a:r>
              <a:rPr lang="en" sz="1100">
                <a:solidFill>
                  <a:schemeClr val="dk1"/>
                </a:solidFill>
                <a:latin typeface="Livvic"/>
                <a:ea typeface="Livvic"/>
                <a:cs typeface="Livvic"/>
                <a:sym typeface="Livvic"/>
              </a:rPr>
              <a:t>erating profit ÷ total assets - Shows how much of a company’s assets are financed by liabilities.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Cash Flow</a:t>
            </a:r>
            <a:r>
              <a:rPr b="1" lang="en" sz="1100">
                <a:solidFill>
                  <a:schemeClr val="dk1"/>
                </a:solidFill>
                <a:latin typeface="Livvic"/>
                <a:ea typeface="Livvic"/>
                <a:cs typeface="Livvic"/>
                <a:sym typeface="Livvic"/>
              </a:rPr>
              <a:t> Return on Assets (CFROA): </a:t>
            </a:r>
            <a:r>
              <a:rPr lang="en" sz="1100">
                <a:solidFill>
                  <a:schemeClr val="dk1"/>
                </a:solidFill>
                <a:latin typeface="Livvic"/>
                <a:ea typeface="Livvic"/>
                <a:cs typeface="Livvic"/>
                <a:sym typeface="Livvic"/>
              </a:rPr>
              <a:t>Operating cash flow ÷ Total Assets - Shows how effectively the firm’s assets generate operating cash flow.</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Tangible Asset Ratio:</a:t>
            </a:r>
            <a:r>
              <a:rPr lang="en" sz="1100">
                <a:solidFill>
                  <a:schemeClr val="dk1"/>
                </a:solidFill>
                <a:latin typeface="Livvic"/>
                <a:ea typeface="Livvic"/>
                <a:cs typeface="Livvic"/>
                <a:sym typeface="Livvic"/>
              </a:rPr>
              <a:t> Tangible fixed assets ÷ Total Assets - Shows how much of a company’s assets are financed by liabilities.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Long Term Debt Ratio : </a:t>
            </a:r>
            <a:r>
              <a:rPr lang="en" sz="1100">
                <a:solidFill>
                  <a:schemeClr val="dk1"/>
                </a:solidFill>
                <a:latin typeface="Livvic"/>
                <a:ea typeface="Livvic"/>
                <a:cs typeface="Livvic"/>
                <a:sym typeface="Livvic"/>
              </a:rPr>
              <a:t>Long-term debt ÷ Total Debt - Shows how much of a company’s assets are financed by liabilities.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u="sng">
                <a:solidFill>
                  <a:schemeClr val="dk1"/>
                </a:solidFill>
                <a:latin typeface="Livvic"/>
                <a:ea typeface="Livvic"/>
                <a:cs typeface="Livvic"/>
                <a:sym typeface="Livvic"/>
                <a:hlinkClick r:id="rId3">
                  <a:extLst>
                    <a:ext uri="{A12FA001-AC4F-418D-AE19-62706E023703}">
                      <ahyp:hlinkClr val="tx"/>
                    </a:ext>
                  </a:extLst>
                </a:hlinkClick>
              </a:rPr>
              <a:t>Return on Invested Capital:</a:t>
            </a:r>
            <a:r>
              <a:rPr b="1" lang="en" sz="1100">
                <a:solidFill>
                  <a:schemeClr val="dk1"/>
                </a:solidFill>
                <a:latin typeface="Livvic"/>
                <a:ea typeface="Livvic"/>
                <a:cs typeface="Livvic"/>
                <a:sym typeface="Livvic"/>
              </a:rPr>
              <a:t>  </a:t>
            </a:r>
            <a:r>
              <a:rPr lang="en" sz="1100">
                <a:solidFill>
                  <a:schemeClr val="dk1"/>
                </a:solidFill>
                <a:latin typeface="Livvic"/>
                <a:ea typeface="Livvic"/>
                <a:cs typeface="Livvic"/>
                <a:sym typeface="Livvic"/>
              </a:rPr>
              <a:t>Operating profit ÷ (Total Debt + Equity) - Measures how efficiently the company generates profit from all capital invested. </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u="sng">
                <a:solidFill>
                  <a:schemeClr val="dk1"/>
                </a:solidFill>
                <a:latin typeface="Livvic"/>
                <a:ea typeface="Livvic"/>
                <a:cs typeface="Livvic"/>
                <a:sym typeface="Livvic"/>
                <a:hlinkClick r:id="rId4">
                  <a:extLst>
                    <a:ext uri="{A12FA001-AC4F-418D-AE19-62706E023703}">
                      <ahyp:hlinkClr val="tx"/>
                    </a:ext>
                  </a:extLst>
                </a:hlinkClick>
              </a:rPr>
              <a:t>Altman Z (Simplified)</a:t>
            </a:r>
            <a:r>
              <a:rPr b="1" lang="en" sz="1100">
                <a:solidFill>
                  <a:schemeClr val="dk1"/>
                </a:solidFill>
                <a:latin typeface="Livvic"/>
                <a:ea typeface="Livvic"/>
                <a:cs typeface="Livvic"/>
                <a:sym typeface="Livvic"/>
              </a:rPr>
              <a:t>: </a:t>
            </a:r>
            <a:r>
              <a:rPr lang="en" sz="1100">
                <a:solidFill>
                  <a:schemeClr val="dk1"/>
                </a:solidFill>
                <a:latin typeface="Livvic"/>
                <a:ea typeface="Livvic"/>
                <a:cs typeface="Livvic"/>
                <a:sym typeface="Livvic"/>
              </a:rPr>
              <a:t>1.2 × WC/TA + 1.4 × RE/TA + 3.3 × EBIT/TA + 1.0 × Sales/TA - A composite score estimating bankruptcy risk using key financial ratios. </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Cash-to-Assets: </a:t>
            </a:r>
            <a:r>
              <a:rPr lang="en" sz="1100">
                <a:solidFill>
                  <a:schemeClr val="dk1"/>
                </a:solidFill>
                <a:latin typeface="Livvic"/>
                <a:ea typeface="Livvic"/>
                <a:cs typeface="Livvic"/>
                <a:sym typeface="Livvic"/>
              </a:rPr>
              <a:t>Cash &amp; equivalents ÷ Total Assets - Shows how much of the company’s assets are held in cash or equivalents.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Financial Debt Ratio: </a:t>
            </a:r>
            <a:r>
              <a:rPr lang="en" sz="1100">
                <a:solidFill>
                  <a:schemeClr val="dk1"/>
                </a:solidFill>
                <a:latin typeface="Livvic"/>
                <a:ea typeface="Livvic"/>
                <a:cs typeface="Livvic"/>
                <a:sym typeface="Livvic"/>
              </a:rPr>
              <a:t>Non-bank debt ÷ Total Assets - Measures reliance on non-bank debt relative to total assets.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Interest Coverage: </a:t>
            </a:r>
            <a:r>
              <a:rPr lang="en" sz="1100">
                <a:solidFill>
                  <a:schemeClr val="dk1"/>
                </a:solidFill>
                <a:latin typeface="Livvic"/>
                <a:ea typeface="Livvic"/>
                <a:cs typeface="Livvic"/>
                <a:sym typeface="Livvic"/>
              </a:rPr>
              <a:t> EBITDA ÷ Interest Expense - Shows how easily the company can pay interest using EBITDA. (Where Ebitda is Earnings Before Interest, Taxes, Depreciation, and Amortization)</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EBITDA Margin : </a:t>
            </a:r>
            <a:r>
              <a:rPr lang="en" sz="1100">
                <a:solidFill>
                  <a:schemeClr val="dk1"/>
                </a:solidFill>
                <a:latin typeface="Livvic"/>
                <a:ea typeface="Livvic"/>
                <a:cs typeface="Livvic"/>
                <a:sym typeface="Livvic"/>
              </a:rPr>
              <a:t>EBITDA ÷ revenue of operations - Indicates how much of revenue remains as EBITDA.</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1000"/>
              </a:spcAft>
              <a:buClr>
                <a:schemeClr val="dk1"/>
              </a:buClr>
              <a:buSzPts val="1100"/>
              <a:buChar char="●"/>
            </a:pPr>
            <a:r>
              <a:rPr b="1" lang="en" sz="1100">
                <a:solidFill>
                  <a:schemeClr val="dk1"/>
                </a:solidFill>
                <a:latin typeface="Livvic"/>
                <a:ea typeface="Livvic"/>
                <a:cs typeface="Livvic"/>
                <a:sym typeface="Livvic"/>
              </a:rPr>
              <a:t>Cash Flow to Debt : </a:t>
            </a:r>
            <a:r>
              <a:rPr lang="en" sz="1100">
                <a:solidFill>
                  <a:schemeClr val="dk1"/>
                </a:solidFill>
                <a:latin typeface="Livvic"/>
                <a:ea typeface="Livvic"/>
                <a:cs typeface="Livvic"/>
                <a:sym typeface="Livvic"/>
              </a:rPr>
              <a:t>Operating cash flow ÷ total debt - Measures the company’s ability to repay total debt using operating cash flow.</a:t>
            </a:r>
            <a:endParaRPr sz="1100">
              <a:solidFill>
                <a:schemeClr val="dk1"/>
              </a:solidFill>
              <a:latin typeface="Livvic"/>
              <a:ea typeface="Livvic"/>
              <a:cs typeface="Livvic"/>
              <a:sym typeface="Livv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5"/>
          <p:cNvSpPr/>
          <p:nvPr/>
        </p:nvSpPr>
        <p:spPr>
          <a:xfrm>
            <a:off x="214325" y="273850"/>
            <a:ext cx="8513100" cy="4661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pic>
        <p:nvPicPr>
          <p:cNvPr id="382" name="Google Shape;382;p45"/>
          <p:cNvPicPr preferRelativeResize="0"/>
          <p:nvPr/>
        </p:nvPicPr>
        <p:blipFill>
          <a:blip r:embed="rId3">
            <a:alphaModFix/>
          </a:blip>
          <a:stretch>
            <a:fillRect/>
          </a:stretch>
        </p:blipFill>
        <p:spPr>
          <a:xfrm>
            <a:off x="685025" y="150551"/>
            <a:ext cx="7773951" cy="4376199"/>
          </a:xfrm>
          <a:prstGeom prst="rect">
            <a:avLst/>
          </a:prstGeom>
          <a:noFill/>
          <a:ln cap="flat" cmpd="sng" w="19050">
            <a:solidFill>
              <a:schemeClr val="dk1"/>
            </a:solidFill>
            <a:prstDash val="solid"/>
            <a:round/>
            <a:headEnd len="sm" w="sm" type="none"/>
            <a:tailEnd len="sm" w="sm" type="none"/>
          </a:ln>
        </p:spPr>
      </p:pic>
      <p:sp>
        <p:nvSpPr>
          <p:cNvPr id="383" name="Google Shape;383;p45"/>
          <p:cNvSpPr txBox="1"/>
          <p:nvPr>
            <p:ph idx="4294967295" type="subTitle"/>
          </p:nvPr>
        </p:nvSpPr>
        <p:spPr>
          <a:xfrm>
            <a:off x="685150" y="4612150"/>
            <a:ext cx="7773900" cy="482400"/>
          </a:xfrm>
          <a:prstGeom prst="rect">
            <a:avLst/>
          </a:prstGeom>
          <a:solidFill>
            <a:schemeClr val="lt2"/>
          </a:solidFill>
        </p:spPr>
        <p:txBody>
          <a:bodyPr anchorCtr="0" anchor="t" bIns="91425" lIns="91425" spcFirstLastPara="1" rIns="91425" wrap="square" tIns="91425">
            <a:spAutoFit/>
          </a:bodyPr>
          <a:lstStyle/>
          <a:p>
            <a:pPr indent="0" lvl="0" marL="0" rtl="0" algn="ctr">
              <a:spcBef>
                <a:spcPts val="0"/>
              </a:spcBef>
              <a:spcAft>
                <a:spcPts val="1200"/>
              </a:spcAft>
              <a:buClr>
                <a:schemeClr val="dk1"/>
              </a:buClr>
              <a:buSzPts val="1100"/>
              <a:buFont typeface="Arial"/>
              <a:buNone/>
            </a:pPr>
            <a:r>
              <a:rPr b="1" lang="en" sz="900"/>
              <a:t>Figure 5:  Illustrates the relationship between each financial ratio and the default rate. The x-axis represents the decile bins of each ratio, while the y-axis shows the corresponding default rate.</a:t>
            </a:r>
            <a:endParaRPr b="1" sz="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6"/>
          <p:cNvSpPr txBox="1"/>
          <p:nvPr>
            <p:ph type="title"/>
          </p:nvPr>
        </p:nvSpPr>
        <p:spPr>
          <a:xfrm>
            <a:off x="4645300" y="2176250"/>
            <a:ext cx="4014600" cy="8772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Modeling</a:t>
            </a:r>
            <a:endParaRPr/>
          </a:p>
        </p:txBody>
      </p:sp>
      <p:sp>
        <p:nvSpPr>
          <p:cNvPr id="389" name="Google Shape;389;p46"/>
          <p:cNvSpPr txBox="1"/>
          <p:nvPr>
            <p:ph idx="2" type="title"/>
          </p:nvPr>
        </p:nvSpPr>
        <p:spPr>
          <a:xfrm>
            <a:off x="4645300" y="1190150"/>
            <a:ext cx="1074900" cy="9861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90" name="Google Shape;390;p46"/>
          <p:cNvSpPr/>
          <p:nvPr/>
        </p:nvSpPr>
        <p:spPr>
          <a:xfrm rot="-5400000">
            <a:off x="7763042" y="326808"/>
            <a:ext cx="878151" cy="224535"/>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921"/>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6"/>
          <p:cNvSpPr/>
          <p:nvPr/>
        </p:nvSpPr>
        <p:spPr>
          <a:xfrm rot="-5400000">
            <a:off x="8410265" y="144464"/>
            <a:ext cx="878151" cy="589219"/>
          </a:xfrm>
          <a:custGeom>
            <a:rect b="b" l="l" r="r" t="t"/>
            <a:pathLst>
              <a:path extrusionOk="0" h="12463" w="47635">
                <a:moveTo>
                  <a:pt x="1" y="1"/>
                </a:moveTo>
                <a:lnTo>
                  <a:pt x="1" y="12463"/>
                </a:lnTo>
                <a:lnTo>
                  <a:pt x="47634" y="12463"/>
                </a:lnTo>
                <a:lnTo>
                  <a:pt x="47634" y="1"/>
                </a:lnTo>
                <a:close/>
              </a:path>
            </a:pathLst>
          </a:custGeom>
          <a:gradFill>
            <a:gsLst>
              <a:gs pos="0">
                <a:srgbClr val="FBF3ED">
                  <a:alpha val="30196"/>
                </a:srgbClr>
              </a:gs>
              <a:gs pos="100000">
                <a:srgbClr val="FBF3ED">
                  <a:alpha val="50196"/>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6"/>
          <p:cNvSpPr/>
          <p:nvPr/>
        </p:nvSpPr>
        <p:spPr>
          <a:xfrm rot="-5400000">
            <a:off x="7995465" y="318918"/>
            <a:ext cx="878151" cy="240314"/>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137"/>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6"/>
          <p:cNvSpPr/>
          <p:nvPr/>
        </p:nvSpPr>
        <p:spPr>
          <a:xfrm>
            <a:off x="734450" y="591600"/>
            <a:ext cx="3837600" cy="3960300"/>
          </a:xfrm>
          <a:prstGeom prst="rect">
            <a:avLst/>
          </a:prstGeom>
          <a:solidFill>
            <a:srgbClr val="EEF0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600">
                <a:solidFill>
                  <a:schemeClr val="dk1"/>
                </a:solidFill>
                <a:latin typeface="Livvic"/>
                <a:ea typeface="Livvic"/>
                <a:cs typeface="Livvic"/>
                <a:sym typeface="Livvic"/>
              </a:rPr>
              <a:t>Section Overview</a:t>
            </a:r>
            <a:endParaRPr b="1" sz="1600">
              <a:solidFill>
                <a:schemeClr val="dk1"/>
              </a:solidFill>
              <a:latin typeface="Livvic"/>
              <a:ea typeface="Livvic"/>
              <a:cs typeface="Livvic"/>
              <a:sym typeface="Livvic"/>
            </a:endParaRPr>
          </a:p>
          <a:p>
            <a:pPr indent="-298450" lvl="0" marL="457200" rtl="0" algn="l">
              <a:lnSpc>
                <a:spcPct val="115000"/>
              </a:lnSpc>
              <a:spcBef>
                <a:spcPts val="400"/>
              </a:spcBef>
              <a:spcAft>
                <a:spcPts val="0"/>
              </a:spcAft>
              <a:buClr>
                <a:schemeClr val="dk1"/>
              </a:buClr>
              <a:buSzPts val="1100"/>
              <a:buChar char="●"/>
            </a:pPr>
            <a:r>
              <a:rPr b="1" lang="en" sz="1100">
                <a:solidFill>
                  <a:schemeClr val="dk1"/>
                </a:solidFill>
                <a:latin typeface="Livvic"/>
                <a:ea typeface="Livvic"/>
                <a:cs typeface="Livvic"/>
                <a:sym typeface="Livvic"/>
              </a:rPr>
              <a:t>Algorithm Selection:</a:t>
            </a:r>
            <a:r>
              <a:rPr lang="en" sz="1100">
                <a:solidFill>
                  <a:schemeClr val="dk1"/>
                </a:solidFill>
                <a:latin typeface="Livvic"/>
                <a:ea typeface="Livvic"/>
                <a:cs typeface="Livvic"/>
                <a:sym typeface="Livvic"/>
              </a:rPr>
              <a:t> We'll cover our model choice, contrasting a traditional </a:t>
            </a:r>
            <a:r>
              <a:rPr b="1" lang="en" sz="1100">
                <a:solidFill>
                  <a:schemeClr val="dk1"/>
                </a:solidFill>
                <a:latin typeface="Livvic"/>
                <a:ea typeface="Livvic"/>
                <a:cs typeface="Livvic"/>
                <a:sym typeface="Livvic"/>
              </a:rPr>
              <a:t>Logistic Regression</a:t>
            </a:r>
            <a:r>
              <a:rPr lang="en" sz="1100">
                <a:solidFill>
                  <a:schemeClr val="dk1"/>
                </a:solidFill>
                <a:latin typeface="Livvic"/>
                <a:ea typeface="Livvic"/>
                <a:cs typeface="Livvic"/>
                <a:sym typeface="Livvic"/>
              </a:rPr>
              <a:t> baseline with our final, more powerful </a:t>
            </a:r>
            <a:r>
              <a:rPr b="1" lang="en" sz="1100">
                <a:solidFill>
                  <a:schemeClr val="dk1"/>
                </a:solidFill>
                <a:latin typeface="Livvic"/>
                <a:ea typeface="Livvic"/>
                <a:cs typeface="Livvic"/>
                <a:sym typeface="Livvic"/>
              </a:rPr>
              <a:t>XGBoost Classifier</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Final Model Specification:</a:t>
            </a:r>
            <a:r>
              <a:rPr lang="en" sz="1100">
                <a:solidFill>
                  <a:schemeClr val="dk1"/>
                </a:solidFill>
                <a:latin typeface="Livvic"/>
                <a:ea typeface="Livvic"/>
                <a:cs typeface="Livvic"/>
                <a:sym typeface="Livvic"/>
              </a:rPr>
              <a:t> Discussion on the </a:t>
            </a:r>
            <a:r>
              <a:rPr lang="en" sz="1100">
                <a:solidFill>
                  <a:schemeClr val="dk1"/>
                </a:solidFill>
                <a:latin typeface="Livvic"/>
                <a:ea typeface="Livvic"/>
                <a:cs typeface="Livvic"/>
                <a:sym typeface="Livvic"/>
              </a:rPr>
              <a:t>f</a:t>
            </a:r>
            <a:r>
              <a:rPr lang="en" sz="1100">
                <a:solidFill>
                  <a:schemeClr val="dk1"/>
                </a:solidFill>
                <a:latin typeface="Livvic"/>
                <a:ea typeface="Livvic"/>
                <a:cs typeface="Livvic"/>
                <a:sym typeface="Livvic"/>
              </a:rPr>
              <a:t>ull model specification: a </a:t>
            </a:r>
            <a:r>
              <a:rPr b="1" lang="en" sz="1100">
                <a:solidFill>
                  <a:schemeClr val="dk1"/>
                </a:solidFill>
                <a:latin typeface="Livvic"/>
                <a:ea typeface="Livvic"/>
                <a:cs typeface="Livvic"/>
                <a:sym typeface="Livvic"/>
              </a:rPr>
              <a:t>two-stage pipeline</a:t>
            </a:r>
            <a:r>
              <a:rPr lang="en" sz="1100">
                <a:solidFill>
                  <a:schemeClr val="dk1"/>
                </a:solidFill>
                <a:latin typeface="Livvic"/>
                <a:ea typeface="Livvic"/>
                <a:cs typeface="Livvic"/>
                <a:sym typeface="Livvic"/>
              </a:rPr>
              <a:t> that uses XGBoost for scoring and </a:t>
            </a:r>
            <a:r>
              <a:rPr b="1" lang="en" sz="1100">
                <a:solidFill>
                  <a:schemeClr val="dk1"/>
                </a:solidFill>
                <a:latin typeface="Livvic"/>
                <a:ea typeface="Livvic"/>
                <a:cs typeface="Livvic"/>
                <a:sym typeface="Livvic"/>
              </a:rPr>
              <a:t>Isotonic Regression</a:t>
            </a:r>
            <a:r>
              <a:rPr lang="en" sz="1100">
                <a:solidFill>
                  <a:schemeClr val="dk1"/>
                </a:solidFill>
                <a:latin typeface="Livvic"/>
                <a:ea typeface="Livvic"/>
                <a:cs typeface="Livvic"/>
                <a:sym typeface="Livvic"/>
              </a:rPr>
              <a:t> for essential probability calibration.</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Feature Insights:</a:t>
            </a:r>
            <a:r>
              <a:rPr lang="en" sz="1100">
                <a:solidFill>
                  <a:schemeClr val="dk1"/>
                </a:solidFill>
                <a:latin typeface="Livvic"/>
                <a:ea typeface="Livvic"/>
                <a:cs typeface="Livvic"/>
                <a:sym typeface="Livvic"/>
              </a:rPr>
              <a:t> We will discuss the </a:t>
            </a:r>
            <a:r>
              <a:rPr b="1" lang="en" sz="1100">
                <a:solidFill>
                  <a:schemeClr val="dk1"/>
                </a:solidFill>
                <a:latin typeface="Livvic"/>
                <a:ea typeface="Livvic"/>
                <a:cs typeface="Livvic"/>
                <a:sym typeface="Livvic"/>
              </a:rPr>
              <a:t>12 final features</a:t>
            </a:r>
            <a:r>
              <a:rPr lang="en" sz="1100">
                <a:solidFill>
                  <a:schemeClr val="dk1"/>
                </a:solidFill>
                <a:latin typeface="Livvic"/>
                <a:ea typeface="Livvic"/>
                <a:cs typeface="Livvic"/>
                <a:sym typeface="Livvic"/>
              </a:rPr>
              <a:t> and the key </a:t>
            </a:r>
            <a:r>
              <a:rPr b="1" lang="en" sz="1100">
                <a:solidFill>
                  <a:schemeClr val="dk1"/>
                </a:solidFill>
                <a:latin typeface="Livvic"/>
                <a:ea typeface="Livvic"/>
                <a:cs typeface="Livvic"/>
                <a:sym typeface="Livvic"/>
              </a:rPr>
              <a:t>economic insights</a:t>
            </a:r>
            <a:r>
              <a:rPr lang="en" sz="1100">
                <a:solidFill>
                  <a:schemeClr val="dk1"/>
                </a:solidFill>
                <a:latin typeface="Livvic"/>
                <a:ea typeface="Livvic"/>
                <a:cs typeface="Livvic"/>
                <a:sym typeface="Livvic"/>
              </a:rPr>
              <a:t> the model learned, such as "cash flow is king" and the importance of debt structure.</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1000"/>
              </a:spcAft>
              <a:buClr>
                <a:schemeClr val="dk1"/>
              </a:buClr>
              <a:buSzPts val="1100"/>
              <a:buChar char="●"/>
            </a:pPr>
            <a:r>
              <a:rPr b="1" lang="en" sz="1100">
                <a:solidFill>
                  <a:schemeClr val="dk1"/>
                </a:solidFill>
                <a:latin typeface="Livvic"/>
                <a:ea typeface="Livvic"/>
                <a:cs typeface="Livvic"/>
                <a:sym typeface="Livvic"/>
              </a:rPr>
              <a:t>Business Value:</a:t>
            </a:r>
            <a:r>
              <a:rPr lang="en" sz="1100">
                <a:solidFill>
                  <a:schemeClr val="dk1"/>
                </a:solidFill>
                <a:latin typeface="Livvic"/>
                <a:ea typeface="Livvic"/>
                <a:cs typeface="Livvic"/>
                <a:sym typeface="Livvic"/>
              </a:rPr>
              <a:t> Finally, explaining exactly </a:t>
            </a:r>
            <a:r>
              <a:rPr i="1" lang="en" sz="1100">
                <a:solidFill>
                  <a:schemeClr val="dk1"/>
                </a:solidFill>
                <a:latin typeface="Livvic"/>
                <a:ea typeface="Livvic"/>
                <a:cs typeface="Livvic"/>
                <a:sym typeface="Livvic"/>
              </a:rPr>
              <a:t>how</a:t>
            </a:r>
            <a:r>
              <a:rPr lang="en" sz="1100">
                <a:solidFill>
                  <a:schemeClr val="dk1"/>
                </a:solidFill>
                <a:latin typeface="Livvic"/>
                <a:ea typeface="Livvic"/>
                <a:cs typeface="Livvic"/>
                <a:sym typeface="Livvic"/>
              </a:rPr>
              <a:t> this model solves the bank's business problem by enabling </a:t>
            </a:r>
            <a:r>
              <a:rPr b="1" lang="en" sz="1100">
                <a:solidFill>
                  <a:schemeClr val="dk1"/>
                </a:solidFill>
                <a:latin typeface="Livvic"/>
                <a:ea typeface="Livvic"/>
                <a:cs typeface="Livvic"/>
                <a:sym typeface="Livvic"/>
              </a:rPr>
              <a:t>risk-based pricing</a:t>
            </a:r>
            <a:r>
              <a:rPr lang="en" sz="1100">
                <a:solidFill>
                  <a:schemeClr val="dk1"/>
                </a:solidFill>
                <a:latin typeface="Livvic"/>
                <a:ea typeface="Livvic"/>
                <a:cs typeface="Livvic"/>
                <a:sym typeface="Livvic"/>
              </a:rPr>
              <a:t>, creating an early warning system, and improving efficiency.</a:t>
            </a:r>
            <a:endParaRPr sz="1200">
              <a:solidFill>
                <a:schemeClr val="dk1"/>
              </a:solidFill>
              <a:latin typeface="Livvic"/>
              <a:ea typeface="Livvic"/>
              <a:cs typeface="Livvic"/>
              <a:sym typeface="Livv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7"/>
          <p:cNvSpPr txBox="1"/>
          <p:nvPr>
            <p:ph type="title"/>
          </p:nvPr>
        </p:nvSpPr>
        <p:spPr>
          <a:xfrm>
            <a:off x="612475" y="0"/>
            <a:ext cx="7547100" cy="6465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 sz="3000"/>
              <a:t>Modeling: Detailed Breakdown</a:t>
            </a:r>
            <a:endParaRPr sz="3000"/>
          </a:p>
        </p:txBody>
      </p:sp>
      <p:sp>
        <p:nvSpPr>
          <p:cNvPr id="399" name="Google Shape;399;p47"/>
          <p:cNvSpPr/>
          <p:nvPr/>
        </p:nvSpPr>
        <p:spPr>
          <a:xfrm>
            <a:off x="683850" y="930600"/>
            <a:ext cx="7776300" cy="3282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1200">
                <a:solidFill>
                  <a:schemeClr val="dk1"/>
                </a:solidFill>
                <a:latin typeface="Livvic"/>
                <a:ea typeface="Livvic"/>
                <a:cs typeface="Livvic"/>
                <a:sym typeface="Livvic"/>
              </a:rPr>
              <a:t>Type of Model(s) Built</a:t>
            </a:r>
            <a:endParaRPr b="1" sz="12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200">
                <a:solidFill>
                  <a:schemeClr val="dk1"/>
                </a:solidFill>
                <a:latin typeface="Livvic"/>
                <a:ea typeface="Livvic"/>
                <a:cs typeface="Livvic"/>
                <a:sym typeface="Livvic"/>
              </a:rPr>
              <a:t>Our final solution is not a single model but a </a:t>
            </a:r>
            <a:r>
              <a:rPr b="1" lang="en" sz="1200">
                <a:solidFill>
                  <a:schemeClr val="dk1"/>
                </a:solidFill>
                <a:latin typeface="Livvic"/>
                <a:ea typeface="Livvic"/>
                <a:cs typeface="Livvic"/>
                <a:sym typeface="Livvic"/>
              </a:rPr>
              <a:t>two-stage pipeline</a:t>
            </a:r>
            <a:r>
              <a:rPr lang="en" sz="1200">
                <a:solidFill>
                  <a:schemeClr val="dk1"/>
                </a:solidFill>
                <a:latin typeface="Livvic"/>
                <a:ea typeface="Livvic"/>
                <a:cs typeface="Livvic"/>
                <a:sym typeface="Livvic"/>
              </a:rPr>
              <a:t> designed to produce robust and usable probability estimates.</a:t>
            </a:r>
            <a:endParaRPr sz="1200">
              <a:solidFill>
                <a:schemeClr val="dk1"/>
              </a:solidFill>
              <a:latin typeface="Livvic"/>
              <a:ea typeface="Livvic"/>
              <a:cs typeface="Livvic"/>
              <a:sym typeface="Livvic"/>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ivvic"/>
                <a:ea typeface="Livvic"/>
                <a:cs typeface="Livvic"/>
                <a:sym typeface="Livvic"/>
              </a:rPr>
              <a:t>Stage 1: XGBoost Classifier (model.joblib)</a:t>
            </a:r>
            <a:r>
              <a:rPr lang="en" sz="1200">
                <a:solidFill>
                  <a:schemeClr val="dk1"/>
                </a:solidFill>
                <a:latin typeface="Livvic"/>
                <a:ea typeface="Livvic"/>
                <a:cs typeface="Livvic"/>
                <a:sym typeface="Livvic"/>
              </a:rPr>
              <a:t> This is the core risk-scoring engine. It's an advanced, tree-based ensemble model (xgb.XGBClassifier) that ingests the 12 input features to generate an initial risk </a:t>
            </a:r>
            <a:r>
              <a:rPr i="1" lang="en" sz="1200">
                <a:solidFill>
                  <a:schemeClr val="dk1"/>
                </a:solidFill>
                <a:latin typeface="Livvic"/>
                <a:ea typeface="Livvic"/>
                <a:cs typeface="Livvic"/>
                <a:sym typeface="Livvic"/>
              </a:rPr>
              <a:t>score</a:t>
            </a:r>
            <a:r>
              <a:rPr lang="en" sz="1200">
                <a:solidFill>
                  <a:schemeClr val="dk1"/>
                </a:solidFill>
                <a:latin typeface="Livvic"/>
                <a:ea typeface="Livvic"/>
                <a:cs typeface="Livvic"/>
                <a:sym typeface="Livvic"/>
              </a:rPr>
              <a:t>. It excels at finding complex, non-linear patterns in the financial data.</a:t>
            </a:r>
            <a:endParaRPr sz="1200">
              <a:solidFill>
                <a:schemeClr val="dk1"/>
              </a:solidFill>
              <a:latin typeface="Livvic"/>
              <a:ea typeface="Livvic"/>
              <a:cs typeface="Livvic"/>
              <a:sym typeface="Livvic"/>
            </a:endParaRPr>
          </a:p>
          <a:p>
            <a:pPr indent="-304800" lvl="0" marL="457200" rtl="0" algn="l">
              <a:lnSpc>
                <a:spcPct val="115000"/>
              </a:lnSpc>
              <a:spcBef>
                <a:spcPts val="1000"/>
              </a:spcBef>
              <a:spcAft>
                <a:spcPts val="0"/>
              </a:spcAft>
              <a:buClr>
                <a:schemeClr val="dk1"/>
              </a:buClr>
              <a:buSzPts val="1200"/>
              <a:buChar char="●"/>
            </a:pPr>
            <a:r>
              <a:rPr b="1" lang="en" sz="1200">
                <a:solidFill>
                  <a:schemeClr val="dk1"/>
                </a:solidFill>
                <a:latin typeface="Livvic"/>
                <a:ea typeface="Livvic"/>
                <a:cs typeface="Livvic"/>
                <a:sym typeface="Livvic"/>
              </a:rPr>
              <a:t>Stage 2: Isotonic Regression Calibrator (calibrator.joblib)</a:t>
            </a:r>
            <a:r>
              <a:rPr lang="en" sz="1200">
                <a:solidFill>
                  <a:schemeClr val="dk1"/>
                </a:solidFill>
                <a:latin typeface="Livvic"/>
                <a:ea typeface="Livvic"/>
                <a:cs typeface="Livvic"/>
                <a:sym typeface="Livvic"/>
              </a:rPr>
              <a:t> The raw XGBoost score is not a true, real-world probability. This second-stage model (an Isotonic Regression classifier) takes the XGBoost score and converts it into a </a:t>
            </a:r>
            <a:r>
              <a:rPr i="1" lang="en" sz="1200">
                <a:solidFill>
                  <a:schemeClr val="dk1"/>
                </a:solidFill>
                <a:latin typeface="Livvic"/>
                <a:ea typeface="Livvic"/>
                <a:cs typeface="Livvic"/>
                <a:sym typeface="Livvic"/>
              </a:rPr>
              <a:t>true, calibrated probability</a:t>
            </a:r>
            <a:r>
              <a:rPr lang="en" sz="1200">
                <a:solidFill>
                  <a:schemeClr val="dk1"/>
                </a:solidFill>
                <a:latin typeface="Livvic"/>
                <a:ea typeface="Livvic"/>
                <a:cs typeface="Livvic"/>
                <a:sym typeface="Livvic"/>
              </a:rPr>
              <a:t>. This calibration step is </a:t>
            </a:r>
            <a:r>
              <a:rPr b="1" lang="en" sz="1200">
                <a:solidFill>
                  <a:schemeClr val="dk1"/>
                </a:solidFill>
                <a:latin typeface="Livvic"/>
                <a:ea typeface="Livvic"/>
                <a:cs typeface="Livvic"/>
                <a:sym typeface="Livvic"/>
              </a:rPr>
              <a:t>essential</a:t>
            </a:r>
            <a:r>
              <a:rPr lang="en" sz="1200">
                <a:solidFill>
                  <a:schemeClr val="dk1"/>
                </a:solidFill>
                <a:latin typeface="Livvic"/>
                <a:ea typeface="Livvic"/>
                <a:cs typeface="Livvic"/>
                <a:sym typeface="Livvic"/>
              </a:rPr>
              <a:t> for the business goal of risk-based pricing, as it ensures that a 2.5% predicted PD means an actual 2.5% default rate is observed for that risk group.</a:t>
            </a:r>
            <a:endParaRPr b="1" sz="1200">
              <a:solidFill>
                <a:schemeClr val="dk1"/>
              </a:solidFill>
              <a:latin typeface="Livvic"/>
              <a:ea typeface="Livvic"/>
              <a:cs typeface="Livvic"/>
              <a:sym typeface="Livv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8"/>
          <p:cNvSpPr/>
          <p:nvPr/>
        </p:nvSpPr>
        <p:spPr>
          <a:xfrm>
            <a:off x="321475" y="4238625"/>
            <a:ext cx="726300" cy="904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405" name="Google Shape;405;p48"/>
          <p:cNvSpPr txBox="1"/>
          <p:nvPr>
            <p:ph type="title"/>
          </p:nvPr>
        </p:nvSpPr>
        <p:spPr>
          <a:xfrm>
            <a:off x="612475" y="0"/>
            <a:ext cx="7547100" cy="11775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200"/>
              </a:spcAft>
              <a:buNone/>
            </a:pPr>
            <a:r>
              <a:rPr b="0" lang="en" sz="3000">
                <a:latin typeface="Poppins ExtraBold"/>
                <a:ea typeface="Poppins ExtraBold"/>
                <a:cs typeface="Poppins ExtraBold"/>
                <a:sym typeface="Poppins ExtraBold"/>
              </a:rPr>
              <a:t>Choices for Data Mining Algorithm (Alternatives, Pros/Cons)</a:t>
            </a:r>
            <a:endParaRPr b="0" sz="3000">
              <a:latin typeface="Poppins ExtraBold"/>
              <a:ea typeface="Poppins ExtraBold"/>
              <a:cs typeface="Poppins ExtraBold"/>
              <a:sym typeface="Poppins ExtraBold"/>
            </a:endParaRPr>
          </a:p>
        </p:txBody>
      </p:sp>
      <p:sp>
        <p:nvSpPr>
          <p:cNvPr id="406" name="Google Shape;406;p48"/>
          <p:cNvSpPr/>
          <p:nvPr/>
        </p:nvSpPr>
        <p:spPr>
          <a:xfrm>
            <a:off x="702000" y="632850"/>
            <a:ext cx="7740000" cy="4252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b="1"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We evaluated two main algorithm families, </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1. Logistic Regression (Baseline)</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Pros:</a:t>
            </a:r>
            <a:r>
              <a:rPr lang="en" sz="1100">
                <a:solidFill>
                  <a:schemeClr val="dk1"/>
                </a:solidFill>
                <a:latin typeface="Livvic"/>
                <a:ea typeface="Livvic"/>
                <a:cs typeface="Livvic"/>
                <a:sym typeface="Livvic"/>
              </a:rPr>
              <a:t> This is the traditional industry standard. It is highly interpretable, fast to train, and well-understood by regulators.</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Cons:</a:t>
            </a:r>
            <a:r>
              <a:rPr lang="en" sz="1100">
                <a:solidFill>
                  <a:schemeClr val="dk1"/>
                </a:solidFill>
                <a:latin typeface="Livvic"/>
                <a:ea typeface="Livvic"/>
                <a:cs typeface="Livvic"/>
                <a:sym typeface="Livvic"/>
              </a:rPr>
              <a:t> Its primary weakness is its </a:t>
            </a:r>
            <a:r>
              <a:rPr b="1" lang="en" sz="1100">
                <a:solidFill>
                  <a:schemeClr val="dk1"/>
                </a:solidFill>
                <a:latin typeface="Livvic"/>
                <a:ea typeface="Livvic"/>
                <a:cs typeface="Livvic"/>
                <a:sym typeface="Livvic"/>
              </a:rPr>
              <a:t>assumption of linearity</a:t>
            </a:r>
            <a:r>
              <a:rPr lang="en" sz="1100">
                <a:solidFill>
                  <a:schemeClr val="dk1"/>
                </a:solidFill>
                <a:latin typeface="Livvic"/>
                <a:ea typeface="Livvic"/>
                <a:cs typeface="Livvic"/>
                <a:sym typeface="Livvic"/>
              </a:rPr>
              <a:t>. It fails to capture the complex, non-linear interactions that are the essence of credit risk. For example, it cannot easily model that high leverage is only dangerous </a:t>
            </a:r>
            <a:r>
              <a:rPr i="1" lang="en" sz="1100">
                <a:solidFill>
                  <a:schemeClr val="dk1"/>
                </a:solidFill>
                <a:latin typeface="Livvic"/>
                <a:ea typeface="Livvic"/>
                <a:cs typeface="Livvic"/>
                <a:sym typeface="Livvic"/>
              </a:rPr>
              <a:t>when combined with</a:t>
            </a:r>
            <a:r>
              <a:rPr lang="en" sz="1100">
                <a:solidFill>
                  <a:schemeClr val="dk1"/>
                </a:solidFill>
                <a:latin typeface="Livvic"/>
                <a:ea typeface="Livvic"/>
                <a:cs typeface="Livvic"/>
                <a:sym typeface="Livvic"/>
              </a:rPr>
              <a:t> low cash flow, a pattern our final model </a:t>
            </a:r>
            <a:r>
              <a:rPr i="1" lang="en" sz="1100">
                <a:solidFill>
                  <a:schemeClr val="dk1"/>
                </a:solidFill>
                <a:latin typeface="Livvic"/>
                <a:ea typeface="Livvic"/>
                <a:cs typeface="Livvic"/>
                <a:sym typeface="Livvic"/>
              </a:rPr>
              <a:t>does</a:t>
            </a:r>
            <a:r>
              <a:rPr lang="en" sz="1100">
                <a:solidFill>
                  <a:schemeClr val="dk1"/>
                </a:solidFill>
                <a:latin typeface="Livvic"/>
                <a:ea typeface="Livvic"/>
                <a:cs typeface="Livvic"/>
                <a:sym typeface="Livvic"/>
              </a:rPr>
              <a:t> capture.</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2. XGBoost (Final Selection)</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Pros:</a:t>
            </a:r>
            <a:endParaRPr b="1"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Captures Non-Linearity:</a:t>
            </a:r>
            <a:r>
              <a:rPr lang="en" sz="1100">
                <a:solidFill>
                  <a:schemeClr val="dk1"/>
                </a:solidFill>
                <a:latin typeface="Livvic"/>
                <a:ea typeface="Livvic"/>
                <a:cs typeface="Livvic"/>
                <a:sym typeface="Livvic"/>
              </a:rPr>
              <a:t> As an ensemble of decision trees, it natively identifies complex conditional patterns. For example, it can learn that high leverage is only a high-risk factor </a:t>
            </a:r>
            <a:r>
              <a:rPr b="1" lang="en" sz="1100">
                <a:solidFill>
                  <a:schemeClr val="dk1"/>
                </a:solidFill>
                <a:latin typeface="Livvic"/>
                <a:ea typeface="Livvic"/>
                <a:cs typeface="Livvic"/>
                <a:sym typeface="Livvic"/>
              </a:rPr>
              <a:t>when combined with</a:t>
            </a:r>
            <a:r>
              <a:rPr lang="en" sz="1100">
                <a:solidFill>
                  <a:schemeClr val="dk1"/>
                </a:solidFill>
                <a:latin typeface="Livvic"/>
                <a:ea typeface="Livvic"/>
                <a:cs typeface="Livvic"/>
                <a:sym typeface="Livvic"/>
              </a:rPr>
              <a:t> low cash flow, a pattern logistic regression misses.</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Handles Class Imbalance:</a:t>
            </a:r>
            <a:r>
              <a:rPr lang="en" sz="1100">
                <a:solidFill>
                  <a:schemeClr val="dk1"/>
                </a:solidFill>
                <a:latin typeface="Livvic"/>
                <a:ea typeface="Livvic"/>
                <a:cs typeface="Livvic"/>
                <a:sym typeface="Livvic"/>
              </a:rPr>
              <a:t>It directly manages the low default rate in our data via the scale_pos_weight parameter, forcing the model to pay close attention to the rare default events.</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Regularization:</a:t>
            </a:r>
            <a:r>
              <a:rPr lang="en" sz="1100">
                <a:solidFill>
                  <a:schemeClr val="dk1"/>
                </a:solidFill>
                <a:latin typeface="Livvic"/>
                <a:ea typeface="Livvic"/>
                <a:cs typeface="Livvic"/>
                <a:sym typeface="Livvic"/>
              </a:rPr>
              <a:t> It has built-in regularization (like gamma and min_child_weight) that prevents the model from overfitting to noise in the financial data, making it more robust</a:t>
            </a:r>
            <a:r>
              <a:rPr lang="en" sz="1100"/>
              <a:t>.</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Cons:</a:t>
            </a:r>
            <a:endParaRPr b="1"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It is inherently less interpretable (often as "black box") compared to logistic regression. While we can see </a:t>
            </a:r>
            <a:r>
              <a:rPr i="1" lang="en" sz="1100">
                <a:solidFill>
                  <a:schemeClr val="dk1"/>
                </a:solidFill>
                <a:latin typeface="Livvic"/>
                <a:ea typeface="Livvic"/>
                <a:cs typeface="Livvic"/>
                <a:sym typeface="Livvic"/>
              </a:rPr>
              <a:t>what </a:t>
            </a:r>
            <a:r>
              <a:rPr lang="en" sz="1100">
                <a:solidFill>
                  <a:schemeClr val="dk1"/>
                </a:solidFill>
                <a:latin typeface="Livvic"/>
                <a:ea typeface="Livvic"/>
                <a:cs typeface="Livvic"/>
                <a:sym typeface="Livvic"/>
              </a:rPr>
              <a:t>features are important, explaining exactly </a:t>
            </a:r>
            <a:r>
              <a:rPr i="1" lang="en" sz="1100">
                <a:solidFill>
                  <a:schemeClr val="dk1"/>
                </a:solidFill>
                <a:latin typeface="Livvic"/>
                <a:ea typeface="Livvic"/>
                <a:cs typeface="Livvic"/>
                <a:sym typeface="Livvic"/>
              </a:rPr>
              <a:t>why</a:t>
            </a:r>
            <a:r>
              <a:rPr lang="en" sz="1100">
                <a:solidFill>
                  <a:schemeClr val="dk1"/>
                </a:solidFill>
                <a:latin typeface="Livvic"/>
                <a:ea typeface="Livvic"/>
                <a:cs typeface="Livvic"/>
                <a:sym typeface="Livvic"/>
              </a:rPr>
              <a:t> a specific borrower received a 4.5% PD score is more complex, which can be a challenge for internal validation teams and regulators.</a:t>
            </a:r>
            <a:endParaRPr b="1" sz="1100">
              <a:solidFill>
                <a:schemeClr val="dk1"/>
              </a:solidFill>
              <a:latin typeface="Livvic"/>
              <a:ea typeface="Livvic"/>
              <a:cs typeface="Livvic"/>
              <a:sym typeface="Livvic"/>
            </a:endParaRPr>
          </a:p>
          <a:p>
            <a:pPr indent="0" lvl="0" marL="0" rtl="0" algn="l">
              <a:lnSpc>
                <a:spcPct val="115000"/>
              </a:lnSpc>
              <a:spcBef>
                <a:spcPts val="1200"/>
              </a:spcBef>
              <a:spcAft>
                <a:spcPts val="1200"/>
              </a:spcAft>
              <a:buNone/>
            </a:pPr>
            <a:r>
              <a:t/>
            </a:r>
            <a:endParaRPr sz="1100">
              <a:solidFill>
                <a:schemeClr val="dk1"/>
              </a:solidFill>
              <a:latin typeface="Livvic"/>
              <a:ea typeface="Livvic"/>
              <a:cs typeface="Livvic"/>
              <a:sym typeface="Livv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9"/>
          <p:cNvSpPr/>
          <p:nvPr/>
        </p:nvSpPr>
        <p:spPr>
          <a:xfrm>
            <a:off x="337600" y="4316475"/>
            <a:ext cx="8355600" cy="506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412" name="Google Shape;412;p49"/>
          <p:cNvSpPr txBox="1"/>
          <p:nvPr/>
        </p:nvSpPr>
        <p:spPr>
          <a:xfrm>
            <a:off x="190600" y="0"/>
            <a:ext cx="8502600" cy="64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3000">
                <a:solidFill>
                  <a:schemeClr val="dk1"/>
                </a:solidFill>
                <a:latin typeface="Livvic"/>
                <a:ea typeface="Livvic"/>
                <a:cs typeface="Livvic"/>
                <a:sym typeface="Livvic"/>
              </a:rPr>
              <a:t>Working of the Models</a:t>
            </a:r>
            <a:endParaRPr b="1" sz="3000">
              <a:solidFill>
                <a:schemeClr val="dk1"/>
              </a:solidFill>
              <a:latin typeface="Livvic"/>
              <a:ea typeface="Livvic"/>
              <a:cs typeface="Livvic"/>
              <a:sym typeface="Livvic"/>
            </a:endParaRPr>
          </a:p>
        </p:txBody>
      </p:sp>
      <p:sp>
        <p:nvSpPr>
          <p:cNvPr id="413" name="Google Shape;413;p49"/>
          <p:cNvSpPr txBox="1"/>
          <p:nvPr/>
        </p:nvSpPr>
        <p:spPr>
          <a:xfrm>
            <a:off x="320700" y="646500"/>
            <a:ext cx="8502600" cy="430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200">
                <a:solidFill>
                  <a:schemeClr val="dk1"/>
                </a:solidFill>
                <a:latin typeface="Livvic"/>
                <a:ea typeface="Livvic"/>
                <a:cs typeface="Livvic"/>
                <a:sym typeface="Livvic"/>
              </a:rPr>
              <a:t>XGBoost</a:t>
            </a:r>
            <a:endParaRPr b="1" sz="1200">
              <a:solidFill>
                <a:schemeClr val="dk1"/>
              </a:solidFill>
              <a:latin typeface="Livvic"/>
              <a:ea typeface="Livvic"/>
              <a:cs typeface="Livvic"/>
              <a:sym typeface="Livvic"/>
            </a:endParaRPr>
          </a:p>
          <a:p>
            <a:pPr indent="-304800" lvl="0" marL="457200" rtl="0" algn="l">
              <a:lnSpc>
                <a:spcPct val="115000"/>
              </a:lnSpc>
              <a:spcBef>
                <a:spcPts val="1200"/>
              </a:spcBef>
              <a:spcAft>
                <a:spcPts val="0"/>
              </a:spcAft>
              <a:buClr>
                <a:schemeClr val="dk1"/>
              </a:buClr>
              <a:buSzPts val="1200"/>
              <a:buFont typeface="Livvic"/>
              <a:buChar char="●"/>
            </a:pPr>
            <a:r>
              <a:rPr lang="en" sz="1200">
                <a:solidFill>
                  <a:schemeClr val="dk1"/>
                </a:solidFill>
                <a:latin typeface="Livvic"/>
                <a:ea typeface="Livvic"/>
                <a:cs typeface="Livvic"/>
                <a:sym typeface="Livvic"/>
              </a:rPr>
              <a:t>XGBoost is a smart prediction engine made up of many small decision trees that work together.</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Each tree learns from the mistakes of the previous one, making the overall model more accurate with every step.</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Instead of relying on one big model, it combines many small “weak” models into one strong, reliable predictor.</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It includes built-in controls to prevent overfitting, ensuring the model stays stable and performs well on real-world data.</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The final result is a probability score that reflects the likelihood of an outcome, based on patterns learned from the data.</a:t>
            </a:r>
            <a:endParaRPr sz="1200">
              <a:solidFill>
                <a:schemeClr val="dk1"/>
              </a:solidFill>
              <a:latin typeface="Livvic"/>
              <a:ea typeface="Livvic"/>
              <a:cs typeface="Livvic"/>
              <a:sym typeface="Livvic"/>
            </a:endParaRPr>
          </a:p>
          <a:p>
            <a:pPr indent="0" lvl="0" marL="0" rtl="0" algn="l">
              <a:lnSpc>
                <a:spcPct val="115000"/>
              </a:lnSpc>
              <a:spcBef>
                <a:spcPts val="1800"/>
              </a:spcBef>
              <a:spcAft>
                <a:spcPts val="0"/>
              </a:spcAft>
              <a:buNone/>
            </a:pPr>
            <a:r>
              <a:rPr b="1" lang="en" sz="1200">
                <a:solidFill>
                  <a:schemeClr val="dk1"/>
                </a:solidFill>
                <a:latin typeface="Livvic"/>
                <a:ea typeface="Livvic"/>
                <a:cs typeface="Livvic"/>
                <a:sym typeface="Livvic"/>
              </a:rPr>
              <a:t>Isotonic Regression</a:t>
            </a:r>
            <a:endParaRPr b="1" sz="1200">
              <a:solidFill>
                <a:schemeClr val="dk1"/>
              </a:solidFill>
              <a:latin typeface="Livvic"/>
              <a:ea typeface="Livvic"/>
              <a:cs typeface="Livvic"/>
              <a:sym typeface="Livvic"/>
            </a:endParaRPr>
          </a:p>
          <a:p>
            <a:pPr indent="-304800" lvl="0" marL="457200" rtl="0" algn="l">
              <a:lnSpc>
                <a:spcPct val="115000"/>
              </a:lnSpc>
              <a:spcBef>
                <a:spcPts val="1200"/>
              </a:spcBef>
              <a:spcAft>
                <a:spcPts val="0"/>
              </a:spcAft>
              <a:buClr>
                <a:schemeClr val="dk1"/>
              </a:buClr>
              <a:buSzPts val="1200"/>
              <a:buFont typeface="Livvic"/>
              <a:buChar char="●"/>
            </a:pPr>
            <a:r>
              <a:rPr lang="en" sz="1200">
                <a:solidFill>
                  <a:schemeClr val="dk1"/>
                </a:solidFill>
                <a:latin typeface="Livvic"/>
                <a:ea typeface="Livvic"/>
                <a:cs typeface="Livvic"/>
                <a:sym typeface="Livvic"/>
              </a:rPr>
              <a:t>Isotonic regression ensures that the model’s probability scores are aligned with what actually happens in reality.</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It takes the raw outputs from XGBoost and adjusts them so that, for example, a 70% prediction really behaves like a 70% chance in real-world outcomes.</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It creates a smooth, ordered calibration curve that ensures higher scores always correspond to higher true risk.</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a:solidFill>
                  <a:schemeClr val="dk1"/>
                </a:solidFill>
                <a:latin typeface="Livvic"/>
                <a:ea typeface="Livvic"/>
                <a:cs typeface="Livvic"/>
                <a:sym typeface="Livvic"/>
              </a:rPr>
              <a:t>This method doesn’t assume any fixed shape for the adjustment, it learns the best fit directly from historical data.</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Livvic"/>
                <a:ea typeface="Livvic"/>
                <a:cs typeface="Livvic"/>
                <a:sym typeface="Livvic"/>
              </a:rPr>
              <a:t>The result is </a:t>
            </a:r>
            <a:r>
              <a:rPr b="1" lang="en" sz="1200">
                <a:solidFill>
                  <a:schemeClr val="dk1"/>
                </a:solidFill>
                <a:latin typeface="Livvic"/>
                <a:ea typeface="Livvic"/>
                <a:cs typeface="Livvic"/>
                <a:sym typeface="Livvic"/>
              </a:rPr>
              <a:t>more trustworthy, well-calibrated probabilities</a:t>
            </a:r>
            <a:r>
              <a:rPr lang="en" sz="1200">
                <a:solidFill>
                  <a:schemeClr val="dk1"/>
                </a:solidFill>
                <a:latin typeface="Livvic"/>
                <a:ea typeface="Livvic"/>
                <a:cs typeface="Livvic"/>
                <a:sym typeface="Livvic"/>
              </a:rPr>
              <a:t>, improving decision-making where risk accuracy matters.</a:t>
            </a:r>
            <a:br>
              <a:rPr lang="en" sz="1200">
                <a:solidFill>
                  <a:schemeClr val="dk1"/>
                </a:solidFill>
                <a:latin typeface="Livvic"/>
                <a:ea typeface="Livvic"/>
                <a:cs typeface="Livvic"/>
                <a:sym typeface="Livvic"/>
              </a:rPr>
            </a:br>
            <a:endParaRPr sz="1200">
              <a:solidFill>
                <a:schemeClr val="dk1"/>
              </a:solidFill>
              <a:latin typeface="Livvic"/>
              <a:ea typeface="Livvic"/>
              <a:cs typeface="Livvic"/>
              <a:sym typeface="Livvic"/>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grpSp>
        <p:nvGrpSpPr>
          <p:cNvPr id="418" name="Google Shape;418;p50"/>
          <p:cNvGrpSpPr/>
          <p:nvPr/>
        </p:nvGrpSpPr>
        <p:grpSpPr>
          <a:xfrm rot="5400000">
            <a:off x="-222781" y="4357008"/>
            <a:ext cx="1503213" cy="1057636"/>
            <a:chOff x="5539150" y="3176875"/>
            <a:chExt cx="2029449" cy="1427308"/>
          </a:xfrm>
        </p:grpSpPr>
        <p:sp>
          <p:nvSpPr>
            <p:cNvPr id="419" name="Google Shape;419;p50"/>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1"/>
                  </a:srgbClr>
                </a:gs>
                <a:gs pos="100000">
                  <a:srgbClr val="174B67">
                    <a:alpha val="5882"/>
                  </a:srgbClr>
                </a:gs>
              </a:gsLst>
              <a:lin ang="5400700" scaled="0"/>
            </a:gradFill>
            <a:ln>
              <a:noFill/>
            </a:ln>
          </p:spPr>
          <p:txBody>
            <a:bodyPr anchorCtr="0" anchor="ctr" bIns="60150" lIns="60150" spcFirstLastPara="1" rIns="60150" wrap="square" tIns="60150">
              <a:noAutofit/>
            </a:bodyPr>
            <a:lstStyle/>
            <a:p>
              <a:pPr indent="0" lvl="0" marL="0" rtl="0" algn="l">
                <a:spcBef>
                  <a:spcPts val="0"/>
                </a:spcBef>
                <a:spcAft>
                  <a:spcPts val="0"/>
                </a:spcAft>
                <a:buNone/>
              </a:pPr>
              <a:r>
                <a:t/>
              </a:r>
              <a:endParaRPr/>
            </a:p>
          </p:txBody>
        </p:sp>
        <p:sp>
          <p:nvSpPr>
            <p:cNvPr id="420" name="Google Shape;420;p50"/>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60150" lIns="60150" spcFirstLastPara="1" rIns="60150" wrap="square" tIns="60150">
              <a:noAutofit/>
            </a:bodyPr>
            <a:lstStyle/>
            <a:p>
              <a:pPr indent="0" lvl="0" marL="0" rtl="0" algn="l">
                <a:spcBef>
                  <a:spcPts val="0"/>
                </a:spcBef>
                <a:spcAft>
                  <a:spcPts val="0"/>
                </a:spcAft>
                <a:buNone/>
              </a:pPr>
              <a:r>
                <a:t/>
              </a:r>
              <a:endParaRPr/>
            </a:p>
          </p:txBody>
        </p:sp>
        <p:sp>
          <p:nvSpPr>
            <p:cNvPr id="421" name="Google Shape;421;p50"/>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1"/>
                  </a:srgbClr>
                </a:gs>
                <a:gs pos="100000">
                  <a:srgbClr val="174B67">
                    <a:alpha val="25882"/>
                  </a:srgbClr>
                </a:gs>
              </a:gsLst>
              <a:lin ang="2700006" scaled="0"/>
            </a:gradFill>
            <a:ln>
              <a:noFill/>
            </a:ln>
          </p:spPr>
          <p:txBody>
            <a:bodyPr anchorCtr="0" anchor="ctr" bIns="60150" lIns="60150" spcFirstLastPara="1" rIns="60150" wrap="square" tIns="60150">
              <a:noAutofit/>
            </a:bodyPr>
            <a:lstStyle/>
            <a:p>
              <a:pPr indent="0" lvl="0" marL="0" rtl="0" algn="l">
                <a:spcBef>
                  <a:spcPts val="0"/>
                </a:spcBef>
                <a:spcAft>
                  <a:spcPts val="0"/>
                </a:spcAft>
                <a:buNone/>
              </a:pPr>
              <a:r>
                <a:t/>
              </a:r>
              <a:endParaRPr/>
            </a:p>
          </p:txBody>
        </p:sp>
      </p:grpSp>
      <p:sp>
        <p:nvSpPr>
          <p:cNvPr id="422" name="Google Shape;422;p50"/>
          <p:cNvSpPr txBox="1"/>
          <p:nvPr/>
        </p:nvSpPr>
        <p:spPr>
          <a:xfrm>
            <a:off x="415950" y="867600"/>
            <a:ext cx="8312100" cy="3408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AutoNum type="arabicPeriod"/>
            </a:pPr>
            <a:r>
              <a:rPr b="1" lang="en">
                <a:solidFill>
                  <a:schemeClr val="dk1"/>
                </a:solidFill>
                <a:latin typeface="Livvic"/>
                <a:ea typeface="Livvic"/>
                <a:cs typeface="Livvic"/>
                <a:sym typeface="Livvic"/>
              </a:rPr>
              <a:t>Insight 1: Cash Flow Dominates Profit.</a:t>
            </a:r>
            <a:r>
              <a:rPr lang="en">
                <a:solidFill>
                  <a:schemeClr val="dk1"/>
                </a:solidFill>
                <a:latin typeface="Livvic"/>
                <a:ea typeface="Livvic"/>
                <a:cs typeface="Livvic"/>
                <a:sym typeface="Livvic"/>
              </a:rPr>
              <a:t> The model learned that cash-flow-based features (like cfroa_w and cf_to_debt_std) are far more important than accounting-based profit (roa_w). This is economically sound: a firm can report accounting profits but default because it is burning through cash and cannot service its debt.</a:t>
            </a:r>
            <a:endParaRPr>
              <a:solidFill>
                <a:schemeClr val="dk1"/>
              </a:solidFill>
              <a:latin typeface="Livvic"/>
              <a:ea typeface="Livvic"/>
              <a:cs typeface="Livvic"/>
              <a:sym typeface="Livvic"/>
            </a:endParaRPr>
          </a:p>
          <a:p>
            <a:pPr indent="-317500" lvl="0" marL="457200" rtl="0" algn="l">
              <a:lnSpc>
                <a:spcPct val="115000"/>
              </a:lnSpc>
              <a:spcBef>
                <a:spcPts val="1000"/>
              </a:spcBef>
              <a:spcAft>
                <a:spcPts val="0"/>
              </a:spcAft>
              <a:buClr>
                <a:schemeClr val="dk1"/>
              </a:buClr>
              <a:buSzPts val="1400"/>
              <a:buAutoNum type="arabicPeriod"/>
            </a:pPr>
            <a:r>
              <a:rPr b="1" lang="en">
                <a:solidFill>
                  <a:schemeClr val="dk1"/>
                </a:solidFill>
                <a:latin typeface="Livvic"/>
                <a:ea typeface="Livvic"/>
                <a:cs typeface="Livvic"/>
                <a:sym typeface="Livvic"/>
              </a:rPr>
              <a:t>Insight 2: </a:t>
            </a:r>
            <a:r>
              <a:rPr b="1" lang="en" u="sng">
                <a:solidFill>
                  <a:schemeClr val="hlink"/>
                </a:solidFill>
                <a:latin typeface="Livvic"/>
                <a:ea typeface="Livvic"/>
                <a:cs typeface="Livvic"/>
                <a:sym typeface="Livvic"/>
                <a:hlinkClick r:id="rId3"/>
              </a:rPr>
              <a:t>Debt Structure is a Key Risk.</a:t>
            </a:r>
            <a:r>
              <a:rPr lang="en">
                <a:solidFill>
                  <a:schemeClr val="dk1"/>
                </a:solidFill>
                <a:latin typeface="Livvic"/>
                <a:ea typeface="Livvic"/>
                <a:cs typeface="Livvic"/>
                <a:sym typeface="Livvic"/>
              </a:rPr>
              <a:t> The model places high importance on debt_maturity_ratio_w. It learned that firms heavily reliant on short-term debt (which requires constant refinancing) are significantly riskier, even if their total leverage is moderate. This captures </a:t>
            </a:r>
            <a:r>
              <a:rPr b="1" lang="en">
                <a:solidFill>
                  <a:schemeClr val="dk1"/>
                </a:solidFill>
                <a:latin typeface="Livvic"/>
                <a:ea typeface="Livvic"/>
                <a:cs typeface="Livvic"/>
                <a:sym typeface="Livvic"/>
              </a:rPr>
              <a:t>refinancing risk</a:t>
            </a:r>
            <a:r>
              <a:rPr lang="en">
                <a:solidFill>
                  <a:schemeClr val="dk1"/>
                </a:solidFill>
                <a:latin typeface="Livvic"/>
                <a:ea typeface="Livvic"/>
                <a:cs typeface="Livvic"/>
                <a:sym typeface="Livvic"/>
              </a:rPr>
              <a:t>, a concept traditional models often miss.</a:t>
            </a:r>
            <a:endParaRPr>
              <a:solidFill>
                <a:schemeClr val="dk1"/>
              </a:solidFill>
              <a:latin typeface="Livvic"/>
              <a:ea typeface="Livvic"/>
              <a:cs typeface="Livvic"/>
              <a:sym typeface="Livvic"/>
            </a:endParaRPr>
          </a:p>
          <a:p>
            <a:pPr indent="-317500" lvl="0" marL="457200" rtl="0" algn="l">
              <a:lnSpc>
                <a:spcPct val="115000"/>
              </a:lnSpc>
              <a:spcBef>
                <a:spcPts val="1200"/>
              </a:spcBef>
              <a:spcAft>
                <a:spcPts val="1000"/>
              </a:spcAft>
              <a:buClr>
                <a:schemeClr val="dk1"/>
              </a:buClr>
              <a:buSzPts val="1400"/>
              <a:buAutoNum type="arabicPeriod"/>
            </a:pPr>
            <a:r>
              <a:rPr b="1" lang="en">
                <a:solidFill>
                  <a:schemeClr val="dk1"/>
                </a:solidFill>
                <a:latin typeface="Livvic"/>
                <a:ea typeface="Livvic"/>
                <a:cs typeface="Livvic"/>
                <a:sym typeface="Livvic"/>
              </a:rPr>
              <a:t>Insight 3: The </a:t>
            </a:r>
            <a:r>
              <a:rPr b="1" lang="en" u="sng">
                <a:solidFill>
                  <a:schemeClr val="hlink"/>
                </a:solidFill>
                <a:latin typeface="Livvic"/>
                <a:ea typeface="Livvic"/>
                <a:cs typeface="Livvic"/>
                <a:sym typeface="Livvic"/>
                <a:hlinkClick r:id="rId4"/>
              </a:rPr>
              <a:t>Altman Z-Score</a:t>
            </a:r>
            <a:r>
              <a:rPr b="1" lang="en">
                <a:solidFill>
                  <a:schemeClr val="dk1"/>
                </a:solidFill>
                <a:latin typeface="Livvic"/>
                <a:ea typeface="Livvic"/>
                <a:cs typeface="Livvic"/>
                <a:sym typeface="Livvic"/>
              </a:rPr>
              <a:t> Remains Powerful.</a:t>
            </a:r>
            <a:r>
              <a:rPr lang="en">
                <a:solidFill>
                  <a:schemeClr val="dk1"/>
                </a:solidFill>
                <a:latin typeface="Livvic"/>
                <a:ea typeface="Livvic"/>
                <a:cs typeface="Livvic"/>
                <a:sym typeface="Livvic"/>
              </a:rPr>
              <a:t> Our engineered altman_z feature, a classic bankruptcy indicator from 1968, was a top predictor. This confirms that its theoretically-grounded combination of working capital, retained earnings, and EBIT is still highly effective at identifying financial distress. (ACPMIP)</a:t>
            </a:r>
            <a:endParaRPr sz="1100">
              <a:solidFill>
                <a:schemeClr val="dk1"/>
              </a:solidFill>
              <a:latin typeface="Livvic"/>
              <a:ea typeface="Livvic"/>
              <a:cs typeface="Livvic"/>
              <a:sym typeface="Livvic"/>
            </a:endParaRPr>
          </a:p>
        </p:txBody>
      </p:sp>
      <p:sp>
        <p:nvSpPr>
          <p:cNvPr id="423" name="Google Shape;423;p50"/>
          <p:cNvSpPr txBox="1"/>
          <p:nvPr>
            <p:ph type="title"/>
          </p:nvPr>
        </p:nvSpPr>
        <p:spPr>
          <a:xfrm>
            <a:off x="709300" y="96150"/>
            <a:ext cx="8201700" cy="461700"/>
          </a:xfrm>
          <a:prstGeom prst="rect">
            <a:avLst/>
          </a:prstGeom>
        </p:spPr>
        <p:txBody>
          <a:bodyPr anchorCtr="0" anchor="ctr" bIns="91425" lIns="91425" spcFirstLastPara="1" rIns="91425" wrap="square" tIns="91425">
            <a:spAutoFit/>
          </a:bodyPr>
          <a:lstStyle/>
          <a:p>
            <a:pPr indent="0" lvl="0" marL="0" rtl="0" algn="ctr">
              <a:lnSpc>
                <a:spcPct val="115000"/>
              </a:lnSpc>
              <a:spcBef>
                <a:spcPts val="0"/>
              </a:spcBef>
              <a:spcAft>
                <a:spcPts val="0"/>
              </a:spcAft>
              <a:buNone/>
            </a:pPr>
            <a:r>
              <a:rPr lang="en" sz="1800">
                <a:latin typeface="Livvic"/>
                <a:ea typeface="Livvic"/>
                <a:cs typeface="Livvic"/>
                <a:sym typeface="Livvic"/>
              </a:rPr>
              <a:t>Economic Intuition for Model Results</a:t>
            </a:r>
            <a:endParaRPr b="0" sz="1800">
              <a:latin typeface="Livvic Medium"/>
              <a:ea typeface="Livvic Medium"/>
              <a:cs typeface="Livvic Medium"/>
              <a:sym typeface="Livvic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1"/>
          <p:cNvSpPr/>
          <p:nvPr/>
        </p:nvSpPr>
        <p:spPr>
          <a:xfrm>
            <a:off x="214325" y="273850"/>
            <a:ext cx="8513100" cy="4661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429" name="Google Shape;429;p51"/>
          <p:cNvSpPr txBox="1"/>
          <p:nvPr>
            <p:ph idx="4294967295" type="subTitle"/>
          </p:nvPr>
        </p:nvSpPr>
        <p:spPr>
          <a:xfrm>
            <a:off x="2323055" y="4527750"/>
            <a:ext cx="4497900" cy="323100"/>
          </a:xfrm>
          <a:prstGeom prst="rect">
            <a:avLst/>
          </a:prstGeom>
          <a:solidFill>
            <a:schemeClr val="lt2"/>
          </a:solidFill>
        </p:spPr>
        <p:txBody>
          <a:bodyPr anchorCtr="0" anchor="t" bIns="91425" lIns="91425" spcFirstLastPara="1" rIns="91425" wrap="square" tIns="91425">
            <a:spAutoFit/>
          </a:bodyPr>
          <a:lstStyle/>
          <a:p>
            <a:pPr indent="0" lvl="0" marL="0" rtl="0" algn="ctr">
              <a:spcBef>
                <a:spcPts val="0"/>
              </a:spcBef>
              <a:spcAft>
                <a:spcPts val="1200"/>
              </a:spcAft>
              <a:buClr>
                <a:schemeClr val="dk1"/>
              </a:buClr>
              <a:buSzPts val="1100"/>
              <a:buFont typeface="Arial"/>
              <a:buNone/>
            </a:pPr>
            <a:r>
              <a:rPr b="1" lang="en" sz="900"/>
              <a:t>Figure 6 : Partial Dependence of the Variables on the Model </a:t>
            </a:r>
            <a:endParaRPr b="1" sz="900"/>
          </a:p>
        </p:txBody>
      </p:sp>
      <p:pic>
        <p:nvPicPr>
          <p:cNvPr id="430" name="Google Shape;430;p51"/>
          <p:cNvPicPr preferRelativeResize="0"/>
          <p:nvPr/>
        </p:nvPicPr>
        <p:blipFill>
          <a:blip r:embed="rId3">
            <a:alphaModFix/>
          </a:blip>
          <a:stretch>
            <a:fillRect/>
          </a:stretch>
        </p:blipFill>
        <p:spPr>
          <a:xfrm>
            <a:off x="222388" y="273850"/>
            <a:ext cx="8699223" cy="3946076"/>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2"/>
          <p:cNvSpPr txBox="1"/>
          <p:nvPr>
            <p:ph type="title"/>
          </p:nvPr>
        </p:nvSpPr>
        <p:spPr>
          <a:xfrm>
            <a:off x="612475" y="0"/>
            <a:ext cx="7547100" cy="5388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200"/>
              </a:spcAft>
              <a:buNone/>
            </a:pPr>
            <a:r>
              <a:rPr lang="en" sz="2300">
                <a:latin typeface="Livvic"/>
                <a:ea typeface="Livvic"/>
                <a:cs typeface="Livvic"/>
                <a:sym typeface="Livvic"/>
              </a:rPr>
              <a:t>How the Model Solves the Business Problem</a:t>
            </a:r>
            <a:endParaRPr b="0" sz="4200">
              <a:latin typeface="Poppins ExtraBold"/>
              <a:ea typeface="Poppins ExtraBold"/>
              <a:cs typeface="Poppins ExtraBold"/>
              <a:sym typeface="Poppins ExtraBold"/>
            </a:endParaRPr>
          </a:p>
        </p:txBody>
      </p:sp>
      <p:sp>
        <p:nvSpPr>
          <p:cNvPr id="436" name="Google Shape;436;p52"/>
          <p:cNvSpPr/>
          <p:nvPr/>
        </p:nvSpPr>
        <p:spPr>
          <a:xfrm>
            <a:off x="289350" y="646500"/>
            <a:ext cx="8565300" cy="4354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This two-stage model directly addresses the bank's core problems identified in the Business Understanding section</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Enables Risk-Based Pricing (The Core Goal):</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Problem:</a:t>
            </a:r>
            <a:r>
              <a:rPr lang="en" sz="1100">
                <a:solidFill>
                  <a:schemeClr val="dk1"/>
                </a:solidFill>
                <a:latin typeface="Livvic"/>
                <a:ea typeface="Livvic"/>
                <a:cs typeface="Livvic"/>
                <a:sym typeface="Livvic"/>
              </a:rPr>
              <a:t> The bank wants to optimize their underwriting using Machine Learning instead of using statistical methods</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Solution:</a:t>
            </a:r>
            <a:r>
              <a:rPr lang="en" sz="1100">
                <a:solidFill>
                  <a:schemeClr val="dk1"/>
                </a:solidFill>
                <a:latin typeface="Livvic"/>
                <a:ea typeface="Livvic"/>
                <a:cs typeface="Livvic"/>
                <a:sym typeface="Livvic"/>
              </a:rPr>
              <a:t> Our </a:t>
            </a:r>
            <a:r>
              <a:rPr i="1" lang="en" sz="1100">
                <a:solidFill>
                  <a:schemeClr val="dk1"/>
                </a:solidFill>
                <a:latin typeface="Livvic"/>
                <a:ea typeface="Livvic"/>
                <a:cs typeface="Livvic"/>
                <a:sym typeface="Livvic"/>
              </a:rPr>
              <a:t>calibrated</a:t>
            </a:r>
            <a:r>
              <a:rPr lang="en" sz="1100">
                <a:solidFill>
                  <a:schemeClr val="dk1"/>
                </a:solidFill>
                <a:latin typeface="Livvic"/>
                <a:ea typeface="Livvic"/>
                <a:cs typeface="Livvic"/>
                <a:sym typeface="Livvic"/>
              </a:rPr>
              <a:t> PD output is a precise number (e.g., 0.8% vs. 5.2%). This allows the bank to move beyond a simple "approve/deny" and set interest rates that accurately reflect the risk, making them more competitive for safe clients and more profitable on riskier ones.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Operational Problem → Automated, Consistent Decisioning</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Business Issue:</a:t>
            </a:r>
            <a:r>
              <a:rPr lang="en" sz="1100">
                <a:solidFill>
                  <a:schemeClr val="dk1"/>
                </a:solidFill>
                <a:latin typeface="Livvic"/>
                <a:ea typeface="Livvic"/>
                <a:cs typeface="Livvic"/>
                <a:sym typeface="Livvic"/>
              </a:rPr>
              <a:t> Current underwriting is slow, manual, and subjective.</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Model Solution:</a:t>
            </a:r>
            <a:endParaRPr b="1"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Font typeface="Livvic"/>
              <a:buAutoNum type="romanLcPeriod"/>
            </a:pPr>
            <a:r>
              <a:rPr lang="en" sz="1100">
                <a:solidFill>
                  <a:schemeClr val="dk1"/>
                </a:solidFill>
                <a:latin typeface="Livvic"/>
                <a:ea typeface="Livvic"/>
                <a:cs typeface="Livvic"/>
                <a:sym typeface="Livvic"/>
              </a:rPr>
              <a:t>The model provides a </a:t>
            </a:r>
            <a:r>
              <a:rPr b="1" lang="en" sz="1100">
                <a:solidFill>
                  <a:schemeClr val="dk1"/>
                </a:solidFill>
                <a:latin typeface="Livvic"/>
                <a:ea typeface="Livvic"/>
                <a:cs typeface="Livvic"/>
                <a:sym typeface="Livvic"/>
              </a:rPr>
              <a:t>fast, fully automated PD</a:t>
            </a:r>
            <a:r>
              <a:rPr lang="en" sz="1100">
                <a:solidFill>
                  <a:schemeClr val="dk1"/>
                </a:solidFill>
                <a:latin typeface="Livvic"/>
                <a:ea typeface="Livvic"/>
                <a:cs typeface="Livvic"/>
                <a:sym typeface="Livvic"/>
              </a:rPr>
              <a:t> based on objective quantitative and financial indicators.</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Font typeface="Livvic"/>
              <a:buAutoNum type="romanLcPeriod"/>
            </a:pPr>
            <a:r>
              <a:rPr lang="en" sz="1100">
                <a:solidFill>
                  <a:schemeClr val="dk1"/>
                </a:solidFill>
                <a:latin typeface="Livvic"/>
                <a:ea typeface="Livvic"/>
                <a:cs typeface="Livvic"/>
                <a:sym typeface="Livvic"/>
              </a:rPr>
              <a:t>Ensures </a:t>
            </a:r>
            <a:r>
              <a:rPr b="1" lang="en" sz="1100">
                <a:solidFill>
                  <a:schemeClr val="dk1"/>
                </a:solidFill>
                <a:latin typeface="Livvic"/>
                <a:ea typeface="Livvic"/>
                <a:cs typeface="Livvic"/>
                <a:sym typeface="Livvic"/>
              </a:rPr>
              <a:t>consistent</a:t>
            </a:r>
            <a:r>
              <a:rPr lang="en" sz="1100">
                <a:solidFill>
                  <a:schemeClr val="dk1"/>
                </a:solidFill>
                <a:latin typeface="Livvic"/>
                <a:ea typeface="Livvic"/>
                <a:cs typeface="Livvic"/>
                <a:sym typeface="Livvic"/>
              </a:rPr>
              <a:t> credit decisions across branches, underwriters, and time.</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Font typeface="Livvic"/>
              <a:buAutoNum type="romanLcPeriod"/>
            </a:pPr>
            <a:r>
              <a:rPr lang="en" sz="1100">
                <a:solidFill>
                  <a:schemeClr val="dk1"/>
                </a:solidFill>
                <a:latin typeface="Livvic"/>
                <a:ea typeface="Livvic"/>
                <a:cs typeface="Livvic"/>
                <a:sym typeface="Livvic"/>
              </a:rPr>
              <a:t>Frees analysts from routine cases so they can focus on </a:t>
            </a:r>
            <a:r>
              <a:rPr b="1" lang="en" sz="1100">
                <a:solidFill>
                  <a:schemeClr val="dk1"/>
                </a:solidFill>
                <a:latin typeface="Livvic"/>
                <a:ea typeface="Livvic"/>
                <a:cs typeface="Livvic"/>
                <a:sym typeface="Livvic"/>
              </a:rPr>
              <a:t>high-value, complex borrowers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Font typeface="Livvic"/>
              <a:buAutoNum type="romanLcPeriod"/>
            </a:pPr>
            <a:r>
              <a:rPr lang="en" sz="1100">
                <a:solidFill>
                  <a:schemeClr val="dk1"/>
                </a:solidFill>
                <a:latin typeface="Livvic"/>
                <a:ea typeface="Livvic"/>
                <a:cs typeface="Livvic"/>
                <a:sym typeface="Livvic"/>
              </a:rPr>
              <a:t>Dramatically reduces turnaround time for loan approvals.</a:t>
            </a:r>
            <a:br>
              <a:rPr lang="en" sz="1100"/>
            </a:br>
            <a:endParaRPr b="1"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Regulatory Problem → IFRS 9–Compliant PDs:</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Problem:</a:t>
            </a:r>
            <a:r>
              <a:rPr lang="en" sz="1100">
                <a:solidFill>
                  <a:schemeClr val="dk1"/>
                </a:solidFill>
                <a:latin typeface="Livvic"/>
                <a:ea typeface="Livvic"/>
                <a:cs typeface="Livvic"/>
                <a:sym typeface="Livvic"/>
              </a:rPr>
              <a:t>  IFRS 9 requires PDs that are clear, calibrated, and reliable for calculating Expected Credit Loss.</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Solution:</a:t>
            </a:r>
            <a:r>
              <a:rPr lang="en" sz="1100">
                <a:solidFill>
                  <a:schemeClr val="dk1"/>
                </a:solidFill>
                <a:latin typeface="Livvic"/>
                <a:ea typeface="Livvic"/>
                <a:cs typeface="Livvic"/>
                <a:sym typeface="Livvic"/>
              </a:rPr>
              <a:t> </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AutoNum type="romanLcPeriod"/>
            </a:pPr>
            <a:r>
              <a:rPr lang="en" sz="1100">
                <a:solidFill>
                  <a:schemeClr val="dk1"/>
                </a:solidFill>
                <a:latin typeface="Livvic"/>
                <a:ea typeface="Livvic"/>
                <a:cs typeface="Livvic"/>
                <a:sym typeface="Livvic"/>
              </a:rPr>
              <a:t>The model produces PDs that are easy to check and explain.</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AutoNum type="romanLcPeriod"/>
            </a:pPr>
            <a:r>
              <a:rPr lang="en" sz="1100">
                <a:solidFill>
                  <a:schemeClr val="dk1"/>
                </a:solidFill>
                <a:latin typeface="Livvic"/>
                <a:ea typeface="Livvic"/>
                <a:cs typeface="Livvic"/>
                <a:sym typeface="Livvic"/>
              </a:rPr>
              <a:t>Calibration makes sure the PDs match real default outcomes.</a:t>
            </a:r>
            <a:endParaRPr sz="1100">
              <a:solidFill>
                <a:schemeClr val="dk1"/>
              </a:solidFill>
              <a:latin typeface="Livvic"/>
              <a:ea typeface="Livvic"/>
              <a:cs typeface="Livvic"/>
              <a:sym typeface="Livvic"/>
            </a:endParaRPr>
          </a:p>
          <a:p>
            <a:pPr indent="-298450" lvl="2" marL="1371600" rtl="0" algn="l">
              <a:lnSpc>
                <a:spcPct val="115000"/>
              </a:lnSpc>
              <a:spcBef>
                <a:spcPts val="0"/>
              </a:spcBef>
              <a:spcAft>
                <a:spcPts val="0"/>
              </a:spcAft>
              <a:buClr>
                <a:schemeClr val="dk1"/>
              </a:buClr>
              <a:buSzPts val="1100"/>
              <a:buAutoNum type="romanLcPeriod"/>
            </a:pPr>
            <a:r>
              <a:rPr lang="en" sz="1100">
                <a:solidFill>
                  <a:schemeClr val="dk1"/>
                </a:solidFill>
                <a:latin typeface="Livvic"/>
                <a:ea typeface="Livvic"/>
                <a:cs typeface="Livvic"/>
                <a:sym typeface="Livvic"/>
              </a:rPr>
              <a:t>This leads to consistent and compliant ECL calculations.</a:t>
            </a:r>
            <a:endParaRPr sz="1100">
              <a:solidFill>
                <a:schemeClr val="dk1"/>
              </a:solidFill>
              <a:latin typeface="Livvic"/>
              <a:ea typeface="Livvic"/>
              <a:cs typeface="Livvic"/>
              <a:sym typeface="Livv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3"/>
          <p:cNvSpPr txBox="1"/>
          <p:nvPr>
            <p:ph idx="8" type="title"/>
          </p:nvPr>
        </p:nvSpPr>
        <p:spPr>
          <a:xfrm>
            <a:off x="676500" y="2068575"/>
            <a:ext cx="3895500" cy="700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4500"/>
              <a:t>Evaluation</a:t>
            </a:r>
            <a:endParaRPr sz="4500"/>
          </a:p>
        </p:txBody>
      </p:sp>
      <p:sp>
        <p:nvSpPr>
          <p:cNvPr id="442" name="Google Shape;442;p53"/>
          <p:cNvSpPr txBox="1"/>
          <p:nvPr>
            <p:ph type="title"/>
          </p:nvPr>
        </p:nvSpPr>
        <p:spPr>
          <a:xfrm>
            <a:off x="3497025" y="1091175"/>
            <a:ext cx="1008900" cy="977400"/>
          </a:xfrm>
          <a:prstGeom prst="rect">
            <a:avLst/>
          </a:prstGeom>
          <a:solidFill>
            <a:schemeClr val="lt2"/>
          </a:solidFill>
        </p:spPr>
        <p:txBody>
          <a:bodyPr anchorCtr="0" anchor="b" bIns="91425" lIns="91425" spcFirstLastPara="1" rIns="91425" wrap="square" tIns="91425">
            <a:noAutofit/>
          </a:bodyPr>
          <a:lstStyle/>
          <a:p>
            <a:pPr indent="0" lvl="0" marL="0" rtl="0" algn="l">
              <a:spcBef>
                <a:spcPts val="0"/>
              </a:spcBef>
              <a:spcAft>
                <a:spcPts val="0"/>
              </a:spcAft>
              <a:buNone/>
            </a:pPr>
            <a:r>
              <a:rPr lang="en" sz="5000"/>
              <a:t>0</a:t>
            </a:r>
            <a:r>
              <a:rPr lang="en" sz="5000"/>
              <a:t>6</a:t>
            </a:r>
            <a:endParaRPr sz="5000"/>
          </a:p>
        </p:txBody>
      </p:sp>
      <p:sp>
        <p:nvSpPr>
          <p:cNvPr id="443" name="Google Shape;443;p53"/>
          <p:cNvSpPr/>
          <p:nvPr/>
        </p:nvSpPr>
        <p:spPr>
          <a:xfrm>
            <a:off x="4681700" y="756300"/>
            <a:ext cx="3723900" cy="3630900"/>
          </a:xfrm>
          <a:prstGeom prst="rect">
            <a:avLst/>
          </a:prstGeom>
          <a:solidFill>
            <a:srgbClr val="EEF0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600">
                <a:solidFill>
                  <a:schemeClr val="dk1"/>
                </a:solidFill>
                <a:latin typeface="Livvic"/>
                <a:ea typeface="Livvic"/>
                <a:cs typeface="Livvic"/>
                <a:sym typeface="Livvic"/>
              </a:rPr>
              <a:t>Section Overview</a:t>
            </a:r>
            <a:endParaRPr b="1" sz="1600">
              <a:solidFill>
                <a:schemeClr val="dk1"/>
              </a:solidFill>
              <a:latin typeface="Livvic"/>
              <a:ea typeface="Livvic"/>
              <a:cs typeface="Livvic"/>
              <a:sym typeface="Livvic"/>
            </a:endParaRPr>
          </a:p>
          <a:p>
            <a:pPr indent="-298450" lvl="0" marL="457200" rtl="0" algn="l">
              <a:lnSpc>
                <a:spcPct val="115000"/>
              </a:lnSpc>
              <a:spcBef>
                <a:spcPts val="400"/>
              </a:spcBef>
              <a:spcAft>
                <a:spcPts val="0"/>
              </a:spcAft>
              <a:buClr>
                <a:schemeClr val="dk1"/>
              </a:buClr>
              <a:buSzPts val="1100"/>
              <a:buChar char="●"/>
            </a:pPr>
            <a:r>
              <a:rPr b="1" lang="en" sz="1100">
                <a:solidFill>
                  <a:schemeClr val="dk1"/>
                </a:solidFill>
                <a:latin typeface="Livvic"/>
                <a:ea typeface="Livvic"/>
                <a:cs typeface="Livvic"/>
                <a:sym typeface="Livvic"/>
              </a:rPr>
              <a:t>Validation Methodology:</a:t>
            </a:r>
            <a:r>
              <a:rPr lang="en" sz="1100">
                <a:solidFill>
                  <a:schemeClr val="dk1"/>
                </a:solidFill>
                <a:latin typeface="Livvic"/>
                <a:ea typeface="Livvic"/>
                <a:cs typeface="Livvic"/>
                <a:sym typeface="Livvic"/>
              </a:rPr>
              <a:t> Will explain </a:t>
            </a:r>
            <a:r>
              <a:rPr i="1" lang="en" sz="1100">
                <a:solidFill>
                  <a:schemeClr val="dk1"/>
                </a:solidFill>
                <a:latin typeface="Livvic"/>
                <a:ea typeface="Livvic"/>
                <a:cs typeface="Livvic"/>
                <a:sym typeface="Livvic"/>
              </a:rPr>
              <a:t>why</a:t>
            </a:r>
            <a:r>
              <a:rPr lang="en" sz="1100">
                <a:solidFill>
                  <a:schemeClr val="dk1"/>
                </a:solidFill>
                <a:latin typeface="Livvic"/>
                <a:ea typeface="Livvic"/>
                <a:cs typeface="Livvic"/>
                <a:sym typeface="Livvic"/>
              </a:rPr>
              <a:t> a simple train/test split is wrong for this project and how our </a:t>
            </a:r>
            <a:r>
              <a:rPr b="1" lang="en" sz="1100">
                <a:solidFill>
                  <a:schemeClr val="dk1"/>
                </a:solidFill>
                <a:latin typeface="Livvic"/>
                <a:ea typeface="Livvic"/>
                <a:cs typeface="Livvic"/>
                <a:sym typeface="Livvic"/>
              </a:rPr>
              <a:t>Walk-Forward Validation</a:t>
            </a:r>
            <a:r>
              <a:rPr lang="en" sz="1100">
                <a:solidFill>
                  <a:schemeClr val="dk1"/>
                </a:solidFill>
                <a:latin typeface="Livvic"/>
                <a:ea typeface="Livvic"/>
                <a:cs typeface="Livvic"/>
                <a:sym typeface="Livvic"/>
              </a:rPr>
              <a:t> provides a much more realistic measure of performance.</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Key Metrics:</a:t>
            </a:r>
            <a:r>
              <a:rPr lang="en" sz="1100">
                <a:solidFill>
                  <a:schemeClr val="dk1"/>
                </a:solidFill>
                <a:latin typeface="Livvic"/>
                <a:ea typeface="Livvic"/>
                <a:cs typeface="Livvic"/>
                <a:sym typeface="Livvic"/>
              </a:rPr>
              <a:t> Discussing the two metrics that matter: </a:t>
            </a:r>
            <a:r>
              <a:rPr b="1" lang="en" sz="1100">
                <a:solidFill>
                  <a:schemeClr val="dk1"/>
                </a:solidFill>
                <a:latin typeface="Livvic"/>
                <a:ea typeface="Livvic"/>
                <a:cs typeface="Livvic"/>
                <a:sym typeface="Livvic"/>
              </a:rPr>
              <a:t>AUC</a:t>
            </a:r>
            <a:r>
              <a:rPr lang="en" sz="1100">
                <a:solidFill>
                  <a:schemeClr val="dk1"/>
                </a:solidFill>
                <a:latin typeface="Livvic"/>
                <a:ea typeface="Livvic"/>
                <a:cs typeface="Livvic"/>
                <a:sym typeface="Livvic"/>
              </a:rPr>
              <a:t> (for discriminatory power) and </a:t>
            </a:r>
            <a:r>
              <a:rPr b="1" lang="en" sz="1100">
                <a:solidFill>
                  <a:schemeClr val="dk1"/>
                </a:solidFill>
                <a:latin typeface="Livvic"/>
                <a:ea typeface="Livvic"/>
                <a:cs typeface="Livvic"/>
                <a:sym typeface="Livvic"/>
              </a:rPr>
              <a:t>Brier Score</a:t>
            </a:r>
            <a:r>
              <a:rPr lang="en" sz="1100">
                <a:solidFill>
                  <a:schemeClr val="dk1"/>
                </a:solidFill>
                <a:latin typeface="Livvic"/>
                <a:ea typeface="Livvic"/>
                <a:cs typeface="Livvic"/>
                <a:sym typeface="Livvic"/>
              </a:rPr>
              <a:t> (for probability accuracy), which is essential for pricing.</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Performance Results:</a:t>
            </a:r>
            <a:r>
              <a:rPr lang="en" sz="1100">
                <a:solidFill>
                  <a:schemeClr val="dk1"/>
                </a:solidFill>
                <a:latin typeface="Livvic"/>
                <a:ea typeface="Livvic"/>
                <a:cs typeface="Livvic"/>
                <a:sym typeface="Livvic"/>
              </a:rPr>
              <a:t> We will present the final model's strong performance (Pooled Walk-Forward AUC of </a:t>
            </a:r>
            <a:r>
              <a:rPr b="1" lang="en" sz="1100">
                <a:solidFill>
                  <a:schemeClr val="dk1"/>
                </a:solidFill>
                <a:latin typeface="Livvic"/>
                <a:ea typeface="Livvic"/>
                <a:cs typeface="Livvic"/>
                <a:sym typeface="Livvic"/>
              </a:rPr>
              <a:t>0.837</a:t>
            </a:r>
            <a:r>
              <a:rPr lang="en" sz="1100">
                <a:solidFill>
                  <a:schemeClr val="dk1"/>
                </a:solidFill>
                <a:latin typeface="Livvic"/>
                <a:ea typeface="Livvic"/>
                <a:cs typeface="Livvic"/>
                <a:sym typeface="Livvic"/>
              </a:rPr>
              <a:t>) and show how it beats our baseline Logistic Regression model.</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Business Case &amp; ROI:</a:t>
            </a:r>
            <a:r>
              <a:rPr lang="en" sz="1100">
                <a:solidFill>
                  <a:schemeClr val="dk1"/>
                </a:solidFill>
                <a:latin typeface="Livvic"/>
                <a:ea typeface="Livvic"/>
                <a:cs typeface="Livvic"/>
                <a:sym typeface="Livvic"/>
              </a:rPr>
              <a:t> We'll show exactly how these evaluation results translate into a tangible business case, including </a:t>
            </a:r>
            <a:r>
              <a:rPr b="1" lang="en" sz="1100">
                <a:solidFill>
                  <a:schemeClr val="dk1"/>
                </a:solidFill>
                <a:latin typeface="Livvic"/>
                <a:ea typeface="Livvic"/>
                <a:cs typeface="Livvic"/>
                <a:sym typeface="Livvic"/>
              </a:rPr>
              <a:t>annual loss avoidance</a:t>
            </a:r>
            <a:r>
              <a:rPr lang="en" sz="1100">
                <a:solidFill>
                  <a:schemeClr val="dk1"/>
                </a:solidFill>
                <a:latin typeface="Livvic"/>
                <a:ea typeface="Livvic"/>
                <a:cs typeface="Livvic"/>
                <a:sym typeface="Livvic"/>
              </a:rPr>
              <a:t>.</a:t>
            </a:r>
            <a:endParaRPr sz="1200">
              <a:solidFill>
                <a:schemeClr val="dk1"/>
              </a:solidFill>
              <a:latin typeface="Livvic"/>
              <a:ea typeface="Livvic"/>
              <a:cs typeface="Livvic"/>
              <a:sym typeface="Livvic"/>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4"/>
          <p:cNvSpPr txBox="1"/>
          <p:nvPr>
            <p:ph type="title"/>
          </p:nvPr>
        </p:nvSpPr>
        <p:spPr>
          <a:xfrm>
            <a:off x="659125"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Evaluation: Detailed Breakdown</a:t>
            </a:r>
            <a:endParaRPr b="0" sz="2000">
              <a:latin typeface="Poppins Medium"/>
              <a:ea typeface="Poppins Medium"/>
              <a:cs typeface="Poppins Medium"/>
              <a:sym typeface="Poppins Medium"/>
            </a:endParaRPr>
          </a:p>
        </p:txBody>
      </p:sp>
      <p:sp>
        <p:nvSpPr>
          <p:cNvPr id="449" name="Google Shape;449;p54"/>
          <p:cNvSpPr txBox="1"/>
          <p:nvPr/>
        </p:nvSpPr>
        <p:spPr>
          <a:xfrm>
            <a:off x="583800" y="587700"/>
            <a:ext cx="7976400" cy="396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How the Model Was Evaluated- </a:t>
            </a:r>
            <a:r>
              <a:rPr lang="en" sz="1100">
                <a:solidFill>
                  <a:schemeClr val="dk1"/>
                </a:solidFill>
                <a:latin typeface="Livvic"/>
                <a:ea typeface="Livvic"/>
                <a:cs typeface="Livvic"/>
                <a:sym typeface="Livvic"/>
              </a:rPr>
              <a:t>For a financial model like this, evaluation must be rigorous and test two separate things: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Discriminatory Power:</a:t>
            </a:r>
            <a:r>
              <a:rPr lang="en" sz="1100">
                <a:solidFill>
                  <a:schemeClr val="dk1"/>
                </a:solidFill>
                <a:latin typeface="Livvic"/>
                <a:ea typeface="Livvic"/>
                <a:cs typeface="Livvic"/>
                <a:sym typeface="Livvic"/>
              </a:rPr>
              <a:t> Can the model separate good borrowers from bad ones? We measure this using </a:t>
            </a:r>
            <a:r>
              <a:rPr b="1" lang="en" sz="1100">
                <a:solidFill>
                  <a:schemeClr val="dk1"/>
                </a:solidFill>
                <a:latin typeface="Livvic"/>
                <a:ea typeface="Livvic"/>
                <a:cs typeface="Livvic"/>
                <a:sym typeface="Livvic"/>
              </a:rPr>
              <a:t>AUC (Area Under the Curve)</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AutoNum type="arabicPeriod"/>
            </a:pPr>
            <a:r>
              <a:rPr b="1" lang="en" sz="1100">
                <a:solidFill>
                  <a:schemeClr val="dk1"/>
                </a:solidFill>
                <a:latin typeface="Livvic"/>
                <a:ea typeface="Livvic"/>
                <a:cs typeface="Livvic"/>
                <a:sym typeface="Livvic"/>
              </a:rPr>
              <a:t>Probability Accuracy:</a:t>
            </a:r>
            <a:r>
              <a:rPr lang="en" sz="1100">
                <a:solidFill>
                  <a:schemeClr val="dk1"/>
                </a:solidFill>
                <a:latin typeface="Livvic"/>
                <a:ea typeface="Livvic"/>
                <a:cs typeface="Livvic"/>
                <a:sym typeface="Livvic"/>
              </a:rPr>
              <a:t> Is a predicted 2.5% PD </a:t>
            </a:r>
            <a:r>
              <a:rPr i="1" lang="en" sz="1100">
                <a:solidFill>
                  <a:schemeClr val="dk1"/>
                </a:solidFill>
                <a:latin typeface="Livvic"/>
                <a:ea typeface="Livvic"/>
                <a:cs typeface="Livvic"/>
                <a:sym typeface="Livvic"/>
              </a:rPr>
              <a:t>really</a:t>
            </a:r>
            <a:r>
              <a:rPr lang="en" sz="1100">
                <a:solidFill>
                  <a:schemeClr val="dk1"/>
                </a:solidFill>
                <a:latin typeface="Livvic"/>
                <a:ea typeface="Livvic"/>
                <a:cs typeface="Livvic"/>
                <a:sym typeface="Livvic"/>
              </a:rPr>
              <a:t> a 2.5% default rate? We measure this using the </a:t>
            </a:r>
            <a:r>
              <a:rPr b="1" lang="en" sz="1100">
                <a:solidFill>
                  <a:schemeClr val="dk1"/>
                </a:solidFill>
                <a:latin typeface="Livvic"/>
                <a:ea typeface="Livvic"/>
                <a:cs typeface="Livvic"/>
                <a:sym typeface="Livvic"/>
              </a:rPr>
              <a:t>Brier Score</a:t>
            </a:r>
            <a:r>
              <a:rPr lang="en" sz="1100">
                <a:solidFill>
                  <a:schemeClr val="dk1"/>
                </a:solidFill>
                <a:latin typeface="Livvic"/>
                <a:ea typeface="Livvic"/>
                <a:cs typeface="Livvic"/>
                <a:sym typeface="Livvic"/>
              </a:rPr>
              <a:t>. This is critical for the bank's business goal of pricing risk.</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Given that this is </a:t>
            </a:r>
            <a:r>
              <a:rPr b="1" lang="en" sz="1100">
                <a:solidFill>
                  <a:schemeClr val="dk1"/>
                </a:solidFill>
                <a:latin typeface="Livvic"/>
                <a:ea typeface="Livvic"/>
                <a:cs typeface="Livvic"/>
                <a:sym typeface="Livvic"/>
              </a:rPr>
              <a:t>temporal financial data</a:t>
            </a:r>
            <a:r>
              <a:rPr lang="en" sz="1100">
                <a:solidFill>
                  <a:schemeClr val="dk1"/>
                </a:solidFill>
                <a:latin typeface="Livvic"/>
                <a:ea typeface="Livvic"/>
                <a:cs typeface="Livvic"/>
                <a:sym typeface="Livvic"/>
              </a:rPr>
              <a:t>, a simple, random train/test split would be incorrect and would lead to an over-optimistic, "leaked" result. We therefore implemented two much more robust validation methods: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Method 1: Walk-Forward Validation (Primary Method)</a:t>
            </a:r>
            <a:r>
              <a:rPr lang="en" sz="1100">
                <a:solidFill>
                  <a:schemeClr val="dk1"/>
                </a:solidFill>
                <a:latin typeface="Livvic"/>
                <a:ea typeface="Livvic"/>
                <a:cs typeface="Livvic"/>
                <a:sym typeface="Livvic"/>
              </a:rPr>
              <a:t> This method simulates how the model would actually be used in production. We create expanding "folds" of time, using May-to-May windows to align with our problem formulation.</a:t>
            </a:r>
            <a:endParaRPr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Fold 1:</a:t>
            </a:r>
            <a:r>
              <a:rPr lang="en" sz="1100">
                <a:solidFill>
                  <a:schemeClr val="dk1"/>
                </a:solidFill>
                <a:latin typeface="Livvic"/>
                <a:ea typeface="Livvic"/>
                <a:cs typeface="Livvic"/>
                <a:sym typeface="Livvic"/>
              </a:rPr>
              <a:t> Train on 2000-2007 data, Test on 2007-2008 data.</a:t>
            </a:r>
            <a:endParaRPr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Fold 2:</a:t>
            </a:r>
            <a:r>
              <a:rPr lang="en" sz="1100">
                <a:solidFill>
                  <a:schemeClr val="dk1"/>
                </a:solidFill>
                <a:latin typeface="Livvic"/>
                <a:ea typeface="Livvic"/>
                <a:cs typeface="Livvic"/>
                <a:sym typeface="Livvic"/>
              </a:rPr>
              <a:t> Train on 2000-2008 data, Test on 2008-2009 data.</a:t>
            </a:r>
            <a:endParaRPr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Fold 3:</a:t>
            </a:r>
            <a:r>
              <a:rPr lang="en" sz="1100">
                <a:solidFill>
                  <a:schemeClr val="dk1"/>
                </a:solidFill>
                <a:latin typeface="Livvic"/>
                <a:ea typeface="Livvic"/>
                <a:cs typeface="Livvic"/>
                <a:sym typeface="Livvic"/>
              </a:rPr>
              <a:t> Train on 2000-2009 data, Test on 2009-2010 data.</a:t>
            </a:r>
            <a:endParaRPr sz="1100">
              <a:solidFill>
                <a:schemeClr val="dk1"/>
              </a:solidFill>
              <a:latin typeface="Livvic"/>
              <a:ea typeface="Livvic"/>
              <a:cs typeface="Livvic"/>
              <a:sym typeface="Livvic"/>
            </a:endParaRPr>
          </a:p>
          <a:p>
            <a:pPr indent="-298450" lvl="1" marL="914400" rtl="0" algn="l">
              <a:lnSpc>
                <a:spcPct val="115000"/>
              </a:lnSpc>
              <a:spcBef>
                <a:spcPts val="1200"/>
              </a:spcBef>
              <a:spcAft>
                <a:spcPts val="1000"/>
              </a:spcAft>
              <a:buClr>
                <a:schemeClr val="dk1"/>
              </a:buClr>
              <a:buSzPts val="1100"/>
              <a:buChar char="○"/>
            </a:pPr>
            <a:r>
              <a:rPr lang="en" sz="1100">
                <a:solidFill>
                  <a:schemeClr val="dk1"/>
                </a:solidFill>
                <a:latin typeface="Livvic"/>
                <a:ea typeface="Livvic"/>
                <a:cs typeface="Livvic"/>
                <a:sym typeface="Livvic"/>
              </a:rPr>
              <a:t>...and so on, up to our AVAIL_CUTOFF. This shows us how the model's performance holds up over time, especially during crisis years (like 2008-2009).</a:t>
            </a:r>
            <a:endParaRPr sz="1100">
              <a:solidFill>
                <a:schemeClr val="dk1"/>
              </a:solidFill>
              <a:latin typeface="Livvic"/>
              <a:ea typeface="Livvic"/>
              <a:cs typeface="Livvic"/>
              <a:sym typeface="Livvic"/>
            </a:endParaRPr>
          </a:p>
        </p:txBody>
      </p:sp>
      <p:sp>
        <p:nvSpPr>
          <p:cNvPr id="450" name="Google Shape;450;p54"/>
          <p:cNvSpPr txBox="1"/>
          <p:nvPr/>
        </p:nvSpPr>
        <p:spPr>
          <a:xfrm>
            <a:off x="372900" y="4615325"/>
            <a:ext cx="8398200" cy="449400"/>
          </a:xfrm>
          <a:prstGeom prst="rect">
            <a:avLst/>
          </a:prstGeom>
          <a:noFill/>
          <a:ln>
            <a:noFill/>
          </a:ln>
        </p:spPr>
        <p:txBody>
          <a:bodyPr anchorCtr="0" anchor="t" bIns="91425" lIns="91425" spcFirstLastPara="1" rIns="91425" wrap="square" tIns="91425">
            <a:spAutoFit/>
          </a:bodyPr>
          <a:lstStyle/>
          <a:p>
            <a:pPr indent="0" lvl="0" marL="139700" rtl="0" algn="l">
              <a:lnSpc>
                <a:spcPct val="115000"/>
              </a:lnSpc>
              <a:spcBef>
                <a:spcPts val="0"/>
              </a:spcBef>
              <a:spcAft>
                <a:spcPts val="0"/>
              </a:spcAft>
              <a:buNone/>
            </a:pPr>
            <a:r>
              <a:rPr i="1" lang="en" sz="800">
                <a:solidFill>
                  <a:schemeClr val="dk1"/>
                </a:solidFill>
                <a:latin typeface="Livvic"/>
                <a:ea typeface="Livvic"/>
                <a:cs typeface="Livvic"/>
                <a:sym typeface="Livvic"/>
              </a:rPr>
              <a:t>This evaluation strategy follows the best-practice guidelines discussed in the course lectures and assigned readings, particularly the emphasis on temporal validation for financial-risk models, the distinction between discriminatory power and calibration accuracy, and the use of walk-forward and bootstrap methods for assessing model stability.</a:t>
            </a:r>
            <a:endParaRPr i="1" sz="800">
              <a:solidFill>
                <a:schemeClr val="dk1"/>
              </a:solidFill>
              <a:latin typeface="Livvic"/>
              <a:ea typeface="Livvic"/>
              <a:cs typeface="Livvic"/>
              <a:sym typeface="Livv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5"/>
          <p:cNvSpPr txBox="1"/>
          <p:nvPr>
            <p:ph type="title"/>
          </p:nvPr>
        </p:nvSpPr>
        <p:spPr>
          <a:xfrm>
            <a:off x="670200"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Evaluation: Detailed Breakdown</a:t>
            </a:r>
            <a:endParaRPr b="0" sz="2000">
              <a:latin typeface="Poppins Medium"/>
              <a:ea typeface="Poppins Medium"/>
              <a:cs typeface="Poppins Medium"/>
              <a:sym typeface="Poppins Medium"/>
            </a:endParaRPr>
          </a:p>
        </p:txBody>
      </p:sp>
      <p:sp>
        <p:nvSpPr>
          <p:cNvPr id="456" name="Google Shape;456;p55"/>
          <p:cNvSpPr txBox="1"/>
          <p:nvPr/>
        </p:nvSpPr>
        <p:spPr>
          <a:xfrm>
            <a:off x="453300" y="544275"/>
            <a:ext cx="8229600" cy="1645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Method 2: Temporal Holdout for Calibration</a:t>
            </a:r>
            <a:r>
              <a:rPr lang="en" sz="1100">
                <a:solidFill>
                  <a:schemeClr val="dk1"/>
                </a:solidFill>
                <a:latin typeface="Livvic"/>
                <a:ea typeface="Livvic"/>
                <a:cs typeface="Livvic"/>
                <a:sym typeface="Livvic"/>
              </a:rPr>
              <a:t> We held out the final 12 months (CALIBRATION_MONTHS = 12) of the training data. We used this set to:</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Train the </a:t>
            </a:r>
            <a:r>
              <a:rPr lang="en" sz="1100">
                <a:solidFill>
                  <a:schemeClr val="dk1"/>
                </a:solidFill>
                <a:latin typeface="Livvic"/>
                <a:ea typeface="Livvic"/>
                <a:cs typeface="Livvic"/>
                <a:sym typeface="Livvic"/>
              </a:rPr>
              <a:t>PDModel Calibrator</a:t>
            </a:r>
            <a:r>
              <a:rPr lang="en" sz="1100">
                <a:solidFill>
                  <a:schemeClr val="dk1"/>
                </a:solidFill>
                <a:latin typeface="Livvic"/>
                <a:ea typeface="Livvic"/>
                <a:cs typeface="Livvic"/>
                <a:sym typeface="Livvic"/>
              </a:rPr>
              <a:t> (Isotonic Regression).</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Evaluate the model </a:t>
            </a:r>
            <a:r>
              <a:rPr i="1" lang="en" sz="1100">
                <a:solidFill>
                  <a:schemeClr val="dk1"/>
                </a:solidFill>
                <a:latin typeface="Livvic"/>
                <a:ea typeface="Livvic"/>
                <a:cs typeface="Livvic"/>
                <a:sym typeface="Livvic"/>
              </a:rPr>
              <a:t>before</a:t>
            </a:r>
            <a:r>
              <a:rPr lang="en" sz="1100">
                <a:solidFill>
                  <a:schemeClr val="dk1"/>
                </a:solidFill>
                <a:latin typeface="Livvic"/>
                <a:ea typeface="Livvic"/>
                <a:cs typeface="Livvic"/>
                <a:sym typeface="Livvic"/>
              </a:rPr>
              <a:t> and </a:t>
            </a:r>
            <a:r>
              <a:rPr i="1" lang="en" sz="1100">
                <a:solidFill>
                  <a:schemeClr val="dk1"/>
                </a:solidFill>
                <a:latin typeface="Livvic"/>
                <a:ea typeface="Livvic"/>
                <a:cs typeface="Livvic"/>
                <a:sym typeface="Livvic"/>
              </a:rPr>
              <a:t>after</a:t>
            </a:r>
            <a:r>
              <a:rPr lang="en" sz="1100">
                <a:solidFill>
                  <a:schemeClr val="dk1"/>
                </a:solidFill>
                <a:latin typeface="Livvic"/>
                <a:ea typeface="Livvic"/>
                <a:cs typeface="Livvic"/>
                <a:sym typeface="Livvic"/>
              </a:rPr>
              <a:t> calibration to ensure Brier Score (accuracy) improved without hurting AUC (discrimination).</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Method 3: Bootstrap Co</a:t>
            </a:r>
            <a:r>
              <a:rPr b="1" lang="en" sz="1100">
                <a:solidFill>
                  <a:schemeClr val="dk1"/>
                </a:solidFill>
                <a:latin typeface="Livvic"/>
                <a:ea typeface="Livvic"/>
                <a:cs typeface="Livvic"/>
                <a:sym typeface="Livvic"/>
              </a:rPr>
              <a:t>nfidence Intervals</a:t>
            </a:r>
            <a:r>
              <a:rPr lang="en" sz="1100">
                <a:solidFill>
                  <a:schemeClr val="dk1"/>
                </a:solidFill>
                <a:latin typeface="Livvic"/>
                <a:ea typeface="Livvic"/>
                <a:cs typeface="Livvic"/>
                <a:sym typeface="Livvic"/>
              </a:rPr>
              <a:t> To ensure our AUC scores were statistically significant and not just a fluke, we ran </a:t>
            </a:r>
            <a:r>
              <a:rPr b="1" lang="en" sz="1100">
                <a:solidFill>
                  <a:schemeClr val="dk1"/>
                </a:solidFill>
                <a:latin typeface="Livvic"/>
                <a:ea typeface="Livvic"/>
                <a:cs typeface="Livvic"/>
                <a:sym typeface="Livvic"/>
              </a:rPr>
              <a:t>bootstrapping with 2,000 resamples</a:t>
            </a:r>
            <a:r>
              <a:rPr lang="en" sz="1100">
                <a:solidFill>
                  <a:schemeClr val="dk1"/>
                </a:solidFill>
                <a:latin typeface="Livvic"/>
                <a:ea typeface="Livvic"/>
                <a:cs typeface="Livvic"/>
                <a:sym typeface="Livvic"/>
              </a:rPr>
              <a:t>. This gives us a 95% confidence interval for our final performance metrics.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t/>
            </a:r>
            <a:endParaRPr sz="1100">
              <a:solidFill>
                <a:schemeClr val="dk1"/>
              </a:solidFill>
              <a:latin typeface="Livvic"/>
              <a:ea typeface="Livvic"/>
              <a:cs typeface="Livvic"/>
              <a:sym typeface="Livvic"/>
            </a:endParaRPr>
          </a:p>
        </p:txBody>
      </p:sp>
      <p:cxnSp>
        <p:nvCxnSpPr>
          <p:cNvPr id="457" name="Google Shape;457;p55"/>
          <p:cNvCxnSpPr/>
          <p:nvPr/>
        </p:nvCxnSpPr>
        <p:spPr>
          <a:xfrm flipH="1" rot="10800000">
            <a:off x="725400" y="2194875"/>
            <a:ext cx="7693200" cy="8100"/>
          </a:xfrm>
          <a:prstGeom prst="straightConnector1">
            <a:avLst/>
          </a:prstGeom>
          <a:noFill/>
          <a:ln cap="flat" cmpd="sng" w="19050">
            <a:solidFill>
              <a:schemeClr val="dk2"/>
            </a:solidFill>
            <a:prstDash val="solid"/>
            <a:round/>
            <a:headEnd len="med" w="med" type="none"/>
            <a:tailEnd len="med" w="med" type="none"/>
          </a:ln>
        </p:spPr>
      </p:cxnSp>
      <p:sp>
        <p:nvSpPr>
          <p:cNvPr id="458" name="Google Shape;458;p55"/>
          <p:cNvSpPr txBox="1"/>
          <p:nvPr/>
        </p:nvSpPr>
        <p:spPr>
          <a:xfrm>
            <a:off x="535775" y="2194875"/>
            <a:ext cx="8229600" cy="241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latin typeface="Livvic"/>
                <a:ea typeface="Livvic"/>
                <a:cs typeface="Livvic"/>
                <a:sym typeface="Livvic"/>
              </a:rPr>
              <a:t>Benchmarks and Performance Analysis</a:t>
            </a:r>
            <a:endParaRPr b="1" sz="1100">
              <a:solidFill>
                <a:schemeClr val="dk1"/>
              </a:solidFill>
              <a:latin typeface="Livvic"/>
              <a:ea typeface="Livvic"/>
              <a:cs typeface="Livvic"/>
              <a:sym typeface="Livvic"/>
            </a:endParaRPr>
          </a:p>
          <a:p>
            <a:pPr indent="0" lvl="0" marL="0" rtl="0" algn="l">
              <a:lnSpc>
                <a:spcPct val="115000"/>
              </a:lnSpc>
              <a:spcBef>
                <a:spcPts val="200"/>
              </a:spcBef>
              <a:spcAft>
                <a:spcPts val="0"/>
              </a:spcAft>
              <a:buNone/>
            </a:pPr>
            <a:r>
              <a:rPr lang="en" sz="1100">
                <a:solidFill>
                  <a:schemeClr val="dk1"/>
                </a:solidFill>
                <a:latin typeface="Livvic"/>
                <a:ea typeface="Livvic"/>
                <a:cs typeface="Livvic"/>
                <a:sym typeface="Livvic"/>
              </a:rPr>
              <a:t>We benchmarked our final XGBoost model against two key alternatives: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Char char="●"/>
            </a:pPr>
            <a:r>
              <a:rPr b="1" lang="en" sz="1100">
                <a:solidFill>
                  <a:schemeClr val="dk1"/>
                </a:solidFill>
                <a:latin typeface="Livvic"/>
                <a:ea typeface="Livvic"/>
                <a:cs typeface="Livvic"/>
                <a:sym typeface="Livvic"/>
              </a:rPr>
              <a:t>Benchmark 1: Baseline Logistic Regression:</a:t>
            </a:r>
            <a:r>
              <a:rPr lang="en" sz="1100">
                <a:solidFill>
                  <a:schemeClr val="dk1"/>
                </a:solidFill>
                <a:latin typeface="Livvic"/>
                <a:ea typeface="Livvic"/>
                <a:cs typeface="Livvic"/>
                <a:sym typeface="Livvic"/>
              </a:rPr>
              <a:t> Our final model significantly outperformed the traditional logit model that was trained on the same dataset. The baseline Logistic Regression achieved an AUC of </a:t>
            </a:r>
            <a:r>
              <a:rPr b="1" lang="en" sz="1100">
                <a:solidFill>
                  <a:schemeClr val="dk1"/>
                </a:solidFill>
                <a:latin typeface="Livvic"/>
                <a:ea typeface="Livvic"/>
                <a:cs typeface="Livvic"/>
                <a:sym typeface="Livvic"/>
              </a:rPr>
              <a:t>0.8120</a:t>
            </a:r>
            <a:r>
              <a:rPr lang="en" sz="1100">
                <a:solidFill>
                  <a:schemeClr val="dk1"/>
                </a:solidFill>
                <a:latin typeface="Livvic"/>
                <a:ea typeface="Livvic"/>
                <a:cs typeface="Livvic"/>
                <a:sym typeface="Livvic"/>
              </a:rPr>
              <a:t>, whereas our final calibrated XGBoost model achieved a superior AUC on a comparable holdout set.</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Benchmark 2: The Uncalibrated Model: </a:t>
            </a:r>
            <a:r>
              <a:rPr lang="en" sz="1100">
                <a:solidFill>
                  <a:schemeClr val="dk1"/>
                </a:solidFill>
                <a:latin typeface="Livvic"/>
                <a:ea typeface="Livvic"/>
                <a:cs typeface="Livvic"/>
                <a:sym typeface="Livvic"/>
              </a:rPr>
              <a:t> </a:t>
            </a:r>
            <a:r>
              <a:rPr lang="en" sz="1100">
                <a:solidFill>
                  <a:schemeClr val="dk1"/>
                </a:solidFill>
                <a:latin typeface="Livvic"/>
                <a:ea typeface="Livvic"/>
                <a:cs typeface="Livvic"/>
                <a:sym typeface="Livvic"/>
              </a:rPr>
              <a:t>We benchmarked our final </a:t>
            </a:r>
            <a:r>
              <a:rPr i="1" lang="en" sz="1100">
                <a:solidFill>
                  <a:schemeClr val="dk1"/>
                </a:solidFill>
                <a:latin typeface="Livvic"/>
                <a:ea typeface="Livvic"/>
                <a:cs typeface="Livvic"/>
                <a:sym typeface="Livvic"/>
              </a:rPr>
              <a:t>calibrated</a:t>
            </a:r>
            <a:r>
              <a:rPr lang="en" sz="1100">
                <a:solidFill>
                  <a:schemeClr val="dk1"/>
                </a:solidFill>
                <a:latin typeface="Livvic"/>
                <a:ea typeface="Livvic"/>
                <a:cs typeface="Livvic"/>
                <a:sym typeface="Livvic"/>
              </a:rPr>
              <a:t> model against its </a:t>
            </a:r>
            <a:r>
              <a:rPr i="1" lang="en" sz="1100">
                <a:solidFill>
                  <a:schemeClr val="dk1"/>
                </a:solidFill>
                <a:latin typeface="Livvic"/>
                <a:ea typeface="Livvic"/>
                <a:cs typeface="Livvic"/>
                <a:sym typeface="Livvic"/>
              </a:rPr>
              <a:t>uncalibrated </a:t>
            </a:r>
            <a:r>
              <a:rPr lang="en" sz="1100">
                <a:solidFill>
                  <a:schemeClr val="dk1"/>
                </a:solidFill>
                <a:latin typeface="Livvic"/>
                <a:ea typeface="Livvic"/>
                <a:cs typeface="Livvic"/>
                <a:sym typeface="Livvic"/>
              </a:rPr>
              <a:t>version.</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Brier Score:</a:t>
            </a:r>
            <a:r>
              <a:rPr lang="en" sz="1100">
                <a:solidFill>
                  <a:schemeClr val="dk1"/>
                </a:solidFill>
                <a:latin typeface="Livvic"/>
                <a:ea typeface="Livvic"/>
                <a:cs typeface="Livvic"/>
                <a:sym typeface="Livvic"/>
              </a:rPr>
              <a:t> The calibration step improved the Brier score (lower is better) from </a:t>
            </a:r>
            <a:r>
              <a:rPr b="1" lang="en" sz="1100">
                <a:solidFill>
                  <a:schemeClr val="dk1"/>
                </a:solidFill>
                <a:latin typeface="Livvic"/>
                <a:ea typeface="Livvic"/>
                <a:cs typeface="Livvic"/>
                <a:sym typeface="Livvic"/>
              </a:rPr>
              <a:t>0.136 </a:t>
            </a:r>
            <a:r>
              <a:rPr b="1" lang="en" sz="1100">
                <a:solidFill>
                  <a:schemeClr val="dk1"/>
                </a:solidFill>
                <a:latin typeface="Livvic"/>
                <a:ea typeface="Livvic"/>
                <a:cs typeface="Livvic"/>
                <a:sym typeface="Livvic"/>
              </a:rPr>
              <a:t>to </a:t>
            </a:r>
            <a:r>
              <a:rPr b="1" lang="en" sz="1100">
                <a:solidFill>
                  <a:schemeClr val="dk1"/>
                </a:solidFill>
                <a:latin typeface="Livvic"/>
                <a:ea typeface="Livvic"/>
                <a:cs typeface="Livvic"/>
                <a:sym typeface="Livvic"/>
              </a:rPr>
              <a:t>0.0119</a:t>
            </a:r>
            <a:r>
              <a:rPr lang="en" sz="1100">
                <a:solidFill>
                  <a:schemeClr val="dk1"/>
                </a:solidFill>
                <a:latin typeface="Livvic"/>
                <a:ea typeface="Livvic"/>
                <a:cs typeface="Livvic"/>
                <a:sym typeface="Livvic"/>
              </a:rPr>
              <a:t>, a significant improvement in probability accuracy.</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1200"/>
              </a:spcAft>
              <a:buClr>
                <a:schemeClr val="dk1"/>
              </a:buClr>
              <a:buSzPts val="1100"/>
              <a:buChar char="○"/>
            </a:pPr>
            <a:r>
              <a:rPr b="1" lang="en" sz="1100">
                <a:solidFill>
                  <a:schemeClr val="dk1"/>
                </a:solidFill>
                <a:latin typeface="Livvic"/>
                <a:ea typeface="Livvic"/>
                <a:cs typeface="Livvic"/>
                <a:sym typeface="Livvic"/>
              </a:rPr>
              <a:t>AUC:</a:t>
            </a:r>
            <a:r>
              <a:rPr lang="en" sz="1100">
                <a:solidFill>
                  <a:schemeClr val="dk1"/>
                </a:solidFill>
                <a:latin typeface="Livvic"/>
                <a:ea typeface="Livvic"/>
                <a:cs typeface="Livvic"/>
                <a:sym typeface="Livvic"/>
              </a:rPr>
              <a:t> The calibration also </a:t>
            </a:r>
            <a:r>
              <a:rPr i="1" lang="en" sz="1100">
                <a:solidFill>
                  <a:schemeClr val="dk1"/>
                </a:solidFill>
                <a:latin typeface="Livvic"/>
                <a:ea typeface="Livvic"/>
                <a:cs typeface="Livvic"/>
                <a:sym typeface="Livvic"/>
              </a:rPr>
              <a:t>improved</a:t>
            </a:r>
            <a:r>
              <a:rPr lang="en" sz="1100">
                <a:solidFill>
                  <a:schemeClr val="dk1"/>
                </a:solidFill>
                <a:latin typeface="Livvic"/>
                <a:ea typeface="Livvic"/>
                <a:cs typeface="Livvic"/>
                <a:sym typeface="Livvic"/>
              </a:rPr>
              <a:t> the discriminatory power, raising the AUC from </a:t>
            </a:r>
            <a:r>
              <a:rPr b="1" lang="en" sz="1100">
                <a:solidFill>
                  <a:schemeClr val="dk1"/>
                </a:solidFill>
                <a:latin typeface="Livvic"/>
                <a:ea typeface="Livvic"/>
                <a:cs typeface="Livvic"/>
                <a:sym typeface="Livvic"/>
              </a:rPr>
              <a:t>0.850 to 0.851</a:t>
            </a:r>
            <a:r>
              <a:rPr lang="en" sz="1100">
                <a:solidFill>
                  <a:schemeClr val="dk1"/>
                </a:solidFill>
                <a:latin typeface="Livvic"/>
                <a:ea typeface="Livvic"/>
                <a:cs typeface="Livvic"/>
                <a:sym typeface="Livvic"/>
              </a:rPr>
              <a:t> on the holdout set.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6"/>
          <p:cNvSpPr txBox="1"/>
          <p:nvPr>
            <p:ph type="title"/>
          </p:nvPr>
        </p:nvSpPr>
        <p:spPr>
          <a:xfrm>
            <a:off x="722150"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Evaluation: Detailed Breakdown</a:t>
            </a:r>
            <a:endParaRPr b="0" sz="2000">
              <a:latin typeface="Poppins Medium"/>
              <a:ea typeface="Poppins Medium"/>
              <a:cs typeface="Poppins Medium"/>
              <a:sym typeface="Poppins Medium"/>
            </a:endParaRPr>
          </a:p>
        </p:txBody>
      </p:sp>
      <p:graphicFrame>
        <p:nvGraphicFramePr>
          <p:cNvPr id="464" name="Google Shape;464;p56"/>
          <p:cNvGraphicFramePr/>
          <p:nvPr/>
        </p:nvGraphicFramePr>
        <p:xfrm>
          <a:off x="1677750" y="2166925"/>
          <a:ext cx="3000000" cy="3000000"/>
        </p:xfrm>
        <a:graphic>
          <a:graphicData uri="http://schemas.openxmlformats.org/drawingml/2006/table">
            <a:tbl>
              <a:tblPr>
                <a:noFill/>
                <a:tableStyleId>{AF9FB4E3-AD6E-432A-BC46-AADD0B5C56F1}</a:tableStyleId>
              </a:tblPr>
              <a:tblGrid>
                <a:gridCol w="2375350"/>
                <a:gridCol w="1545125"/>
                <a:gridCol w="1868000"/>
              </a:tblGrid>
              <a:tr h="547750">
                <a:tc>
                  <a:txBody>
                    <a:bodyPr/>
                    <a:lstStyle/>
                    <a:p>
                      <a:pPr indent="0" lvl="0" marL="0" rtl="0" algn="l">
                        <a:lnSpc>
                          <a:spcPct val="100000"/>
                        </a:lnSpc>
                        <a:spcBef>
                          <a:spcPts val="0"/>
                        </a:spcBef>
                        <a:spcAft>
                          <a:spcPts val="0"/>
                        </a:spcAft>
                        <a:buNone/>
                      </a:pPr>
                      <a:r>
                        <a:rPr b="1" lang="en">
                          <a:solidFill>
                            <a:schemeClr val="dk1"/>
                          </a:solidFill>
                          <a:latin typeface="Livvic"/>
                          <a:ea typeface="Livvic"/>
                          <a:cs typeface="Livvic"/>
                          <a:sym typeface="Livvic"/>
                        </a:rPr>
                        <a:t>Evaluation Set</a:t>
                      </a:r>
                      <a:endParaRPr b="1">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chemeClr val="dk1"/>
                          </a:solidFill>
                          <a:latin typeface="Livvic"/>
                          <a:ea typeface="Livvic"/>
                          <a:cs typeface="Livvic"/>
                          <a:sym typeface="Livvic"/>
                        </a:rPr>
                        <a:t>Metric (Mean AUC)</a:t>
                      </a:r>
                      <a:endParaRPr b="1">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chemeClr val="dk1"/>
                          </a:solidFill>
                          <a:latin typeface="Livvic"/>
                          <a:ea typeface="Livvic"/>
                          <a:cs typeface="Livvic"/>
                          <a:sym typeface="Livvic"/>
                        </a:rPr>
                        <a:t>95% Confidence Interval</a:t>
                      </a:r>
                      <a:endParaRPr b="1">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57075">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Walk-Forward (Pooled Folds)</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0.837</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[0.832, 0.840]</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57075">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Calibration Holdout (Final)</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0.851</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[0.844, 0.859]</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16625">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Training Set (Final Model)</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0.883</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solidFill>
                            <a:schemeClr val="dk1"/>
                          </a:solidFill>
                          <a:latin typeface="Livvic"/>
                          <a:ea typeface="Livvic"/>
                          <a:cs typeface="Livvic"/>
                          <a:sym typeface="Livvic"/>
                        </a:rPr>
                        <a:t>[</a:t>
                      </a:r>
                      <a:r>
                        <a:rPr lang="en">
                          <a:solidFill>
                            <a:schemeClr val="dk1"/>
                          </a:solidFill>
                          <a:latin typeface="Livvic"/>
                          <a:ea typeface="Livvic"/>
                          <a:cs typeface="Livvic"/>
                          <a:sym typeface="Livvic"/>
                        </a:rPr>
                        <a:t>0.880, 0.887]</a:t>
                      </a:r>
                      <a:endParaRPr>
                        <a:solidFill>
                          <a:schemeClr val="dk1"/>
                        </a:solidFill>
                        <a:latin typeface="Livvic"/>
                        <a:ea typeface="Livvic"/>
                        <a:cs typeface="Livvic"/>
                        <a:sym typeface="Livvic"/>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465" name="Google Shape;465;p56"/>
          <p:cNvSpPr txBox="1"/>
          <p:nvPr/>
        </p:nvSpPr>
        <p:spPr>
          <a:xfrm>
            <a:off x="724200" y="654000"/>
            <a:ext cx="7695600" cy="13731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Livvic"/>
                <a:ea typeface="Livvic"/>
                <a:cs typeface="Livvic"/>
                <a:sym typeface="Livvic"/>
              </a:rPr>
              <a:t>Final Performance Results</a:t>
            </a:r>
            <a:endParaRPr b="1" sz="1200">
              <a:solidFill>
                <a:schemeClr val="dk1"/>
              </a:solidFill>
              <a:latin typeface="Livvic"/>
              <a:ea typeface="Livvic"/>
              <a:cs typeface="Livvic"/>
              <a:sym typeface="Livvic"/>
            </a:endParaRPr>
          </a:p>
          <a:p>
            <a:pPr indent="0" lvl="0" marL="0" rtl="0" algn="l">
              <a:lnSpc>
                <a:spcPct val="115000"/>
              </a:lnSpc>
              <a:spcBef>
                <a:spcPts val="1200"/>
              </a:spcBef>
              <a:spcAft>
                <a:spcPts val="1200"/>
              </a:spcAft>
              <a:buNone/>
            </a:pPr>
            <a:r>
              <a:rPr lang="en" sz="1200">
                <a:solidFill>
                  <a:schemeClr val="dk1"/>
                </a:solidFill>
                <a:latin typeface="Livvic"/>
                <a:ea typeface="Livvic"/>
                <a:cs typeface="Livvic"/>
                <a:sym typeface="Livvic"/>
              </a:rPr>
              <a:t>The model demonstrates strong robustness, high accuracy, and reliable predictive capability. Based on the metrics extracted from the bootstrap_results.json file, its performance is both stable and consistent. The strong, steady AUC observed in the walk-forward evaluation confirms that the model is not overfitted and maintains its ability to generalize effectively to new, unseen years.</a:t>
            </a:r>
            <a:endParaRPr sz="1200">
              <a:solidFill>
                <a:schemeClr val="dk1"/>
              </a:solidFill>
              <a:latin typeface="Livvic"/>
              <a:ea typeface="Livvic"/>
              <a:cs typeface="Livvic"/>
              <a:sym typeface="Livv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7"/>
          <p:cNvSpPr/>
          <p:nvPr/>
        </p:nvSpPr>
        <p:spPr>
          <a:xfrm>
            <a:off x="214325" y="273850"/>
            <a:ext cx="8513100" cy="4661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471" name="Google Shape;471;p57"/>
          <p:cNvSpPr txBox="1"/>
          <p:nvPr>
            <p:ph idx="4294967295" type="subTitle"/>
          </p:nvPr>
        </p:nvSpPr>
        <p:spPr>
          <a:xfrm>
            <a:off x="2323055" y="4527750"/>
            <a:ext cx="4497900" cy="323100"/>
          </a:xfrm>
          <a:prstGeom prst="rect">
            <a:avLst/>
          </a:prstGeom>
          <a:solidFill>
            <a:schemeClr val="lt2"/>
          </a:solidFill>
        </p:spPr>
        <p:txBody>
          <a:bodyPr anchorCtr="0" anchor="t" bIns="91425" lIns="91425" spcFirstLastPara="1" rIns="91425" wrap="square" tIns="91425">
            <a:spAutoFit/>
          </a:bodyPr>
          <a:lstStyle/>
          <a:p>
            <a:pPr indent="0" lvl="0" marL="0" rtl="0" algn="ctr">
              <a:spcBef>
                <a:spcPts val="0"/>
              </a:spcBef>
              <a:spcAft>
                <a:spcPts val="1200"/>
              </a:spcAft>
              <a:buClr>
                <a:schemeClr val="dk1"/>
              </a:buClr>
              <a:buSzPts val="1100"/>
              <a:buFont typeface="Arial"/>
              <a:buNone/>
            </a:pPr>
            <a:r>
              <a:rPr b="1" lang="en" sz="900"/>
              <a:t>Figure 7 : ROC Curve Between the Baseline Logit Model and XGBoost Model</a:t>
            </a:r>
            <a:endParaRPr b="1" sz="900"/>
          </a:p>
        </p:txBody>
      </p:sp>
      <p:pic>
        <p:nvPicPr>
          <p:cNvPr id="472" name="Google Shape;472;p57"/>
          <p:cNvPicPr preferRelativeResize="0"/>
          <p:nvPr/>
        </p:nvPicPr>
        <p:blipFill>
          <a:blip r:embed="rId3">
            <a:alphaModFix/>
          </a:blip>
          <a:stretch>
            <a:fillRect/>
          </a:stretch>
        </p:blipFill>
        <p:spPr>
          <a:xfrm>
            <a:off x="2195102" y="446125"/>
            <a:ext cx="4753774" cy="3748876"/>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8"/>
          <p:cNvSpPr/>
          <p:nvPr/>
        </p:nvSpPr>
        <p:spPr>
          <a:xfrm>
            <a:off x="35700" y="4369600"/>
            <a:ext cx="9072600" cy="476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478" name="Google Shape;478;p58"/>
          <p:cNvSpPr txBox="1"/>
          <p:nvPr>
            <p:ph type="title"/>
          </p:nvPr>
        </p:nvSpPr>
        <p:spPr>
          <a:xfrm>
            <a:off x="718650"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Developing a Business Case &amp; ROI</a:t>
            </a:r>
            <a:endParaRPr b="0" sz="2000">
              <a:latin typeface="Poppins Medium"/>
              <a:ea typeface="Poppins Medium"/>
              <a:cs typeface="Poppins Medium"/>
              <a:sym typeface="Poppins Medium"/>
            </a:endParaRPr>
          </a:p>
        </p:txBody>
      </p:sp>
      <p:sp>
        <p:nvSpPr>
          <p:cNvPr id="479" name="Google Shape;479;p58"/>
          <p:cNvSpPr txBox="1"/>
          <p:nvPr/>
        </p:nvSpPr>
        <p:spPr>
          <a:xfrm>
            <a:off x="607225" y="587400"/>
            <a:ext cx="8048700" cy="455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A precise business case is now possible </a:t>
            </a:r>
            <a:r>
              <a:rPr i="1" lang="en" sz="1100">
                <a:solidFill>
                  <a:schemeClr val="dk1"/>
                </a:solidFill>
                <a:latin typeface="Livvic"/>
                <a:ea typeface="Livvic"/>
                <a:cs typeface="Livvic"/>
                <a:sym typeface="Livvic"/>
              </a:rPr>
              <a:t>because</a:t>
            </a:r>
            <a:r>
              <a:rPr lang="en" sz="1100">
                <a:solidFill>
                  <a:schemeClr val="dk1"/>
                </a:solidFill>
                <a:latin typeface="Livvic"/>
                <a:ea typeface="Livvic"/>
                <a:cs typeface="Livvic"/>
                <a:sym typeface="Livvic"/>
              </a:rPr>
              <a:t> our model provides a </a:t>
            </a:r>
            <a:r>
              <a:rPr b="1" lang="en" sz="1100">
                <a:solidFill>
                  <a:schemeClr val="dk1"/>
                </a:solidFill>
                <a:latin typeface="Livvic"/>
                <a:ea typeface="Livvic"/>
                <a:cs typeface="Livvic"/>
                <a:sym typeface="Livvic"/>
              </a:rPr>
              <a:t>calibrated Probability of Default (PD)</a:t>
            </a:r>
            <a:r>
              <a:rPr lang="en" sz="1100">
                <a:solidFill>
                  <a:schemeClr val="dk1"/>
                </a:solidFill>
                <a:latin typeface="Livvic"/>
                <a:ea typeface="Livvic"/>
                <a:cs typeface="Livvic"/>
                <a:sym typeface="Livvic"/>
              </a:rPr>
              <a:t>, not just a simple "high/low" ranking. This PD is the exact, data-driven input Banca Massiccia needs for its core financial and risk calculations.</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1. Loss Avoidance (Direct Cost Savings)</a:t>
            </a:r>
            <a:r>
              <a:rPr lang="en" sz="1100">
                <a:solidFill>
                  <a:schemeClr val="dk1"/>
                </a:solidFill>
                <a:latin typeface="Livvic"/>
                <a:ea typeface="Livvic"/>
                <a:cs typeface="Livvic"/>
                <a:sym typeface="Livvic"/>
              </a:rPr>
              <a:t> This is the most direct ROI calculation. The bank can now quantify the total </a:t>
            </a:r>
            <a:r>
              <a:rPr b="1" lang="en" sz="1100">
                <a:solidFill>
                  <a:schemeClr val="dk1"/>
                </a:solidFill>
                <a:latin typeface="Livvic"/>
                <a:ea typeface="Livvic"/>
                <a:cs typeface="Livvic"/>
                <a:sym typeface="Livvic"/>
              </a:rPr>
              <a:t>Expected Credit Loss (ECL)</a:t>
            </a:r>
            <a:r>
              <a:rPr lang="en" sz="1100">
                <a:solidFill>
                  <a:schemeClr val="dk1"/>
                </a:solidFill>
                <a:latin typeface="Livvic"/>
                <a:ea typeface="Livvic"/>
                <a:cs typeface="Livvic"/>
                <a:sym typeface="Livvic"/>
              </a:rPr>
              <a:t> it will avoid on new loans.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Methodology:</a:t>
            </a:r>
            <a:r>
              <a:rPr lang="en" sz="1100">
                <a:solidFill>
                  <a:schemeClr val="dk1"/>
                </a:solidFill>
                <a:latin typeface="Livvic"/>
                <a:ea typeface="Livvic"/>
                <a:cs typeface="Livvic"/>
                <a:sym typeface="Livvic"/>
              </a:rPr>
              <a:t> The bank should use the standard regulatory formula:  </a:t>
            </a:r>
            <a:r>
              <a:rPr b="1" i="1" lang="en" sz="1100">
                <a:solidFill>
                  <a:schemeClr val="dk1"/>
                </a:solidFill>
                <a:latin typeface="Livvic"/>
                <a:ea typeface="Livvic"/>
                <a:cs typeface="Livvic"/>
                <a:sym typeface="Livvic"/>
              </a:rPr>
              <a:t>  </a:t>
            </a:r>
            <a:r>
              <a:rPr b="1" i="1" lang="en" sz="1100" u="sng">
                <a:solidFill>
                  <a:schemeClr val="hlink"/>
                </a:solidFill>
                <a:latin typeface="Livvic"/>
                <a:ea typeface="Livvic"/>
                <a:cs typeface="Livvic"/>
                <a:sym typeface="Livvic"/>
                <a:hlinkClick r:id="rId3"/>
              </a:rPr>
              <a:t>ECL=PD×LGD×EAD</a:t>
            </a:r>
            <a:endParaRPr b="1" i="1"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How Our Model Enables This:</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Our model provides the </a:t>
            </a:r>
            <a:r>
              <a:rPr b="1" lang="en" sz="1100">
                <a:solidFill>
                  <a:schemeClr val="dk1"/>
                </a:solidFill>
                <a:latin typeface="Livvic"/>
                <a:ea typeface="Livvic"/>
                <a:cs typeface="Livvic"/>
                <a:sym typeface="Livvic"/>
              </a:rPr>
              <a:t>PD (Probability of Default)</a:t>
            </a:r>
            <a:r>
              <a:rPr lang="en" sz="1100">
                <a:solidFill>
                  <a:schemeClr val="dk1"/>
                </a:solidFill>
                <a:latin typeface="Livvic"/>
                <a:ea typeface="Livvic"/>
                <a:cs typeface="Livvic"/>
                <a:sym typeface="Livvic"/>
              </a:rPr>
              <a:t>, which is the most difficult variable to estimate.</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The bank already knows its own </a:t>
            </a:r>
            <a:r>
              <a:rPr b="1" lang="en" sz="1100">
                <a:solidFill>
                  <a:schemeClr val="dk1"/>
                </a:solidFill>
                <a:latin typeface="Livvic"/>
                <a:ea typeface="Livvic"/>
                <a:cs typeface="Livvic"/>
                <a:sym typeface="Livvic"/>
              </a:rPr>
              <a:t>LGD</a:t>
            </a:r>
            <a:r>
              <a:rPr lang="en" sz="1100">
                <a:solidFill>
                  <a:schemeClr val="dk1"/>
                </a:solidFill>
                <a:latin typeface="Livvic"/>
                <a:ea typeface="Livvic"/>
                <a:cs typeface="Livvic"/>
                <a:sym typeface="Livvic"/>
              </a:rPr>
              <a:t> (Loss Given Default) and </a:t>
            </a:r>
            <a:r>
              <a:rPr b="1" lang="en" sz="1100">
                <a:solidFill>
                  <a:schemeClr val="dk1"/>
                </a:solidFill>
                <a:latin typeface="Livvic"/>
                <a:ea typeface="Livvic"/>
                <a:cs typeface="Livvic"/>
                <a:sym typeface="Livvic"/>
              </a:rPr>
              <a:t>EAD</a:t>
            </a:r>
            <a:r>
              <a:rPr lang="en" sz="1100">
                <a:solidFill>
                  <a:schemeClr val="dk1"/>
                </a:solidFill>
                <a:latin typeface="Livvic"/>
                <a:ea typeface="Livvic"/>
                <a:cs typeface="Livvic"/>
                <a:sym typeface="Livvic"/>
              </a:rPr>
              <a:t> (Exposure at Default) for each loan.</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ROI Calculation:</a:t>
            </a:r>
            <a:r>
              <a:rPr lang="en" sz="1100">
                <a:solidFill>
                  <a:schemeClr val="dk1"/>
                </a:solidFill>
                <a:latin typeface="Livvic"/>
                <a:ea typeface="Livvic"/>
                <a:cs typeface="Livvic"/>
                <a:sym typeface="Livvic"/>
              </a:rPr>
              <a:t> The bank can run all new applications through our model. By summing the total ECL for all the high-PD loans that the </a:t>
            </a:r>
            <a:r>
              <a:rPr i="1" lang="en" sz="1100">
                <a:solidFill>
                  <a:schemeClr val="dk1"/>
                </a:solidFill>
                <a:latin typeface="Livvic"/>
                <a:ea typeface="Livvic"/>
                <a:cs typeface="Livvic"/>
                <a:sym typeface="Livvic"/>
              </a:rPr>
              <a:t>current</a:t>
            </a:r>
            <a:r>
              <a:rPr lang="en" sz="1100">
                <a:solidFill>
                  <a:schemeClr val="dk1"/>
                </a:solidFill>
                <a:latin typeface="Livvic"/>
                <a:ea typeface="Livvic"/>
                <a:cs typeface="Livvic"/>
                <a:sym typeface="Livvic"/>
              </a:rPr>
              <a:t> system would have approved, they can project the exact "annual loss avoided."</a:t>
            </a:r>
            <a:endParaRPr sz="1100">
              <a:solidFill>
                <a:schemeClr val="dk1"/>
              </a:solidFill>
              <a:latin typeface="Livvic"/>
              <a:ea typeface="Livvic"/>
              <a:cs typeface="Livvic"/>
              <a:sym typeface="Livvic"/>
            </a:endParaRPr>
          </a:p>
          <a:p>
            <a:pPr indent="0" lvl="0" marL="457200" rtl="0" algn="l">
              <a:lnSpc>
                <a:spcPct val="115000"/>
              </a:lnSpc>
              <a:spcBef>
                <a:spcPts val="0"/>
              </a:spcBef>
              <a:spcAft>
                <a:spcPts val="0"/>
              </a:spcAft>
              <a:buNone/>
            </a:pPr>
            <a:r>
              <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b="1" lang="en" sz="1100">
                <a:solidFill>
                  <a:schemeClr val="dk1"/>
                </a:solidFill>
                <a:latin typeface="Livvic"/>
                <a:ea typeface="Livvic"/>
                <a:cs typeface="Livvic"/>
                <a:sym typeface="Livvic"/>
              </a:rPr>
              <a:t>2. Risk-Based Pricing (Revenue Growth)</a:t>
            </a:r>
            <a:r>
              <a:rPr lang="en" sz="1100">
                <a:solidFill>
                  <a:schemeClr val="dk1"/>
                </a:solidFill>
                <a:latin typeface="Livvic"/>
                <a:ea typeface="Livvic"/>
                <a:cs typeface="Livvic"/>
                <a:sym typeface="Livvic"/>
              </a:rPr>
              <a:t> Our calibrated PD allows the bank to stop one-size-fits-all pricing and adopt a dynamic, risk-based strategy.</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Methodology:</a:t>
            </a:r>
            <a:r>
              <a:rPr lang="en" sz="1100">
                <a:solidFill>
                  <a:schemeClr val="dk1"/>
                </a:solidFill>
                <a:latin typeface="Livvic"/>
                <a:ea typeface="Livvic"/>
                <a:cs typeface="Livvic"/>
                <a:sym typeface="Livvic"/>
              </a:rPr>
              <a:t> Integrate the PD directly into the interest rate pricing formula.</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ROI Calculation:</a:t>
            </a:r>
            <a:endParaRPr b="1"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Attract New Low-Risk Clients:</a:t>
            </a:r>
            <a:r>
              <a:rPr lang="en" sz="1100">
                <a:solidFill>
                  <a:schemeClr val="dk1"/>
                </a:solidFill>
                <a:latin typeface="Livvic"/>
                <a:ea typeface="Livvic"/>
                <a:cs typeface="Livvic"/>
                <a:sym typeface="Livvic"/>
              </a:rPr>
              <a:t> </a:t>
            </a:r>
            <a:r>
              <a:rPr lang="en" sz="1100" u="sng">
                <a:solidFill>
                  <a:schemeClr val="hlink"/>
                </a:solidFill>
                <a:latin typeface="Livvic"/>
                <a:ea typeface="Livvic"/>
                <a:cs typeface="Livvic"/>
                <a:sym typeface="Livvic"/>
                <a:hlinkClick r:id="rId4"/>
              </a:rPr>
              <a:t>The Edelberg paper</a:t>
            </a:r>
            <a:r>
              <a:rPr lang="en" sz="1100">
                <a:solidFill>
                  <a:schemeClr val="dk1"/>
                </a:solidFill>
                <a:latin typeface="Livvic"/>
                <a:ea typeface="Livvic"/>
                <a:cs typeface="Livvic"/>
                <a:sym typeface="Livvic"/>
              </a:rPr>
              <a:t> shows that when default risk (PD) decreases, lenders can (and do) charge lower rates which supports offering </a:t>
            </a:r>
            <a:r>
              <a:rPr b="1" lang="en" sz="1100">
                <a:solidFill>
                  <a:schemeClr val="dk1"/>
                </a:solidFill>
                <a:latin typeface="Livvic"/>
                <a:ea typeface="Livvic"/>
                <a:cs typeface="Livvic"/>
                <a:sym typeface="Livvic"/>
              </a:rPr>
              <a:t>more competitive rates to low-PD borrowers</a:t>
            </a:r>
            <a:r>
              <a:rPr lang="en" sz="1100">
                <a:solidFill>
                  <a:schemeClr val="dk1"/>
                </a:solidFill>
                <a:latin typeface="Livvic"/>
                <a:ea typeface="Livvic"/>
                <a:cs typeface="Livvic"/>
                <a:sym typeface="Livvic"/>
              </a:rPr>
              <a:t>. </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b="1" lang="en" sz="1100" u="sng">
                <a:solidFill>
                  <a:schemeClr val="hlink"/>
                </a:solidFill>
                <a:latin typeface="Livvic"/>
                <a:ea typeface="Livvic"/>
                <a:cs typeface="Livvic"/>
                <a:sym typeface="Livvic"/>
                <a:hlinkClick r:id="rId5"/>
              </a:rPr>
              <a:t>Increase Profitability on Risk</a:t>
            </a:r>
            <a:r>
              <a:rPr b="1" lang="en" sz="1100">
                <a:solidFill>
                  <a:schemeClr val="dk1"/>
                </a:solidFill>
                <a:latin typeface="Livvic"/>
                <a:ea typeface="Livvic"/>
                <a:cs typeface="Livvic"/>
                <a:sym typeface="Livvic"/>
              </a:rPr>
              <a:t>:</a:t>
            </a:r>
            <a:r>
              <a:rPr lang="en" sz="1100">
                <a:solidFill>
                  <a:schemeClr val="dk1"/>
                </a:solidFill>
                <a:latin typeface="Livvic"/>
                <a:ea typeface="Livvic"/>
                <a:cs typeface="Livvic"/>
                <a:sym typeface="Livvic"/>
              </a:rPr>
              <a:t> For medium-risk borrowers, the bank can charge a specific "risk premium" (e.g., Base Rate + PD + Profit Margin) to ensure each loan is priced to be profitable, even after accounting for the expected loss.</a:t>
            </a:r>
            <a:endParaRPr b="1" sz="1100">
              <a:solidFill>
                <a:schemeClr val="dk1"/>
              </a:solidFill>
              <a:latin typeface="Livvic"/>
              <a:ea typeface="Livvic"/>
              <a:cs typeface="Livvic"/>
              <a:sym typeface="Livv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9"/>
          <p:cNvSpPr txBox="1"/>
          <p:nvPr>
            <p:ph type="title"/>
          </p:nvPr>
        </p:nvSpPr>
        <p:spPr>
          <a:xfrm>
            <a:off x="718650" y="0"/>
            <a:ext cx="4406400" cy="6540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000">
                <a:latin typeface="Livvic"/>
                <a:ea typeface="Livvic"/>
                <a:cs typeface="Livvic"/>
                <a:sym typeface="Livvic"/>
              </a:rPr>
              <a:t>Developing a Business Case &amp; ROI</a:t>
            </a:r>
            <a:endParaRPr b="0" sz="2000">
              <a:latin typeface="Poppins Medium"/>
              <a:ea typeface="Poppins Medium"/>
              <a:cs typeface="Poppins Medium"/>
              <a:sym typeface="Poppins Medium"/>
            </a:endParaRPr>
          </a:p>
        </p:txBody>
      </p:sp>
      <p:sp>
        <p:nvSpPr>
          <p:cNvPr id="485" name="Google Shape;485;p59"/>
          <p:cNvSpPr txBox="1"/>
          <p:nvPr/>
        </p:nvSpPr>
        <p:spPr>
          <a:xfrm>
            <a:off x="718650" y="654000"/>
            <a:ext cx="7734900" cy="295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3. Operational Efficiency (Direct Cost Savings)</a:t>
            </a:r>
            <a:r>
              <a:rPr lang="en" sz="1100">
                <a:solidFill>
                  <a:schemeClr val="dk1"/>
                </a:solidFill>
                <a:latin typeface="Livvic"/>
                <a:ea typeface="Livvic"/>
                <a:cs typeface="Livvic"/>
                <a:sym typeface="Livvic"/>
              </a:rPr>
              <a:t> Our </a:t>
            </a:r>
            <a:r>
              <a:rPr lang="en" sz="1100">
                <a:solidFill>
                  <a:schemeClr val="dk1"/>
                </a:solidFill>
                <a:highlight>
                  <a:schemeClr val="lt2"/>
                </a:highlight>
                <a:latin typeface="Livvic"/>
                <a:ea typeface="Livvic"/>
                <a:cs typeface="Livvic"/>
                <a:sym typeface="Livvic"/>
              </a:rPr>
              <a:t>harness.py</a:t>
            </a:r>
            <a:r>
              <a:rPr lang="en" sz="1100">
                <a:solidFill>
                  <a:schemeClr val="dk1"/>
                </a:solidFill>
                <a:latin typeface="Livvic"/>
                <a:ea typeface="Livvic"/>
                <a:cs typeface="Livvic"/>
                <a:sym typeface="Livvic"/>
              </a:rPr>
              <a:t> script automates the entire scoring and preprocessing pipeline, reducing manual labor.</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Methodology:</a:t>
            </a:r>
            <a:r>
              <a:rPr lang="en" sz="1100">
                <a:solidFill>
                  <a:schemeClr val="dk1"/>
                </a:solidFill>
                <a:latin typeface="Livvic"/>
                <a:ea typeface="Livvic"/>
                <a:cs typeface="Livvic"/>
                <a:sym typeface="Livvic"/>
              </a:rPr>
              <a:t> Measure the change in "underwriting time per application" before and after the model's implementation.</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ROI Calculation:</a:t>
            </a:r>
            <a:r>
              <a:rPr lang="en" sz="1100">
                <a:solidFill>
                  <a:schemeClr val="dk1"/>
                </a:solidFill>
                <a:latin typeface="Livvic"/>
                <a:ea typeface="Livvic"/>
                <a:cs typeface="Livvic"/>
                <a:sym typeface="Livvic"/>
              </a:rPr>
              <a:t> The bank can calculate (Time Saved per Application) × (Average Underwriter Hourly Cost) × (Total Applications per Year). </a:t>
            </a:r>
            <a:r>
              <a:rPr lang="en" sz="1100" u="sng">
                <a:solidFill>
                  <a:schemeClr val="hlink"/>
                </a:solidFill>
                <a:latin typeface="Livvic"/>
                <a:ea typeface="Livvic"/>
                <a:cs typeface="Livvic"/>
                <a:sym typeface="Livvic"/>
                <a:hlinkClick r:id="rId3"/>
              </a:rPr>
              <a:t>This provides a direct, annual cost saving from improved labor efficiency.</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4. Proactive Portfolio Monitoring (Loss Mitigation)</a:t>
            </a:r>
            <a:r>
              <a:rPr lang="en" sz="1100">
                <a:solidFill>
                  <a:schemeClr val="dk1"/>
                </a:solidFill>
                <a:latin typeface="Livvic"/>
                <a:ea typeface="Livvic"/>
                <a:cs typeface="Livvic"/>
                <a:sym typeface="Livvic"/>
              </a:rPr>
              <a:t> The model provides a powerful early warning system by re-scoring the </a:t>
            </a:r>
            <a:r>
              <a:rPr i="1" lang="en" sz="1100">
                <a:solidFill>
                  <a:schemeClr val="dk1"/>
                </a:solidFill>
                <a:latin typeface="Livvic"/>
                <a:ea typeface="Livvic"/>
                <a:cs typeface="Livvic"/>
                <a:sym typeface="Livvic"/>
              </a:rPr>
              <a:t>entire existing portfolio</a:t>
            </a:r>
            <a:r>
              <a:rPr lang="en" sz="1100">
                <a:solidFill>
                  <a:schemeClr val="dk1"/>
                </a:solidFill>
                <a:latin typeface="Livvic"/>
                <a:ea typeface="Livvic"/>
                <a:cs typeface="Livvic"/>
                <a:sym typeface="Livvic"/>
              </a:rPr>
              <a:t> annually.</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u="sng">
                <a:solidFill>
                  <a:schemeClr val="hlink"/>
                </a:solidFill>
                <a:latin typeface="Livvic"/>
                <a:ea typeface="Livvic"/>
                <a:cs typeface="Livvic"/>
                <a:sym typeface="Livvic"/>
                <a:hlinkClick r:id="rId4"/>
              </a:rPr>
              <a:t>Methodology</a:t>
            </a:r>
            <a:r>
              <a:rPr b="1" lang="en" sz="1100">
                <a:solidFill>
                  <a:schemeClr val="dk1"/>
                </a:solidFill>
                <a:latin typeface="Livvic"/>
                <a:ea typeface="Livvic"/>
                <a:cs typeface="Livvic"/>
                <a:sym typeface="Livvic"/>
              </a:rPr>
              <a:t>:</a:t>
            </a:r>
            <a:r>
              <a:rPr lang="en" sz="1100">
                <a:solidFill>
                  <a:schemeClr val="dk1"/>
                </a:solidFill>
                <a:latin typeface="Livvic"/>
                <a:ea typeface="Livvic"/>
                <a:cs typeface="Livvic"/>
                <a:sym typeface="Livvic"/>
              </a:rPr>
              <a:t> Identify existing clients whose PD score jumps significantly (e.g., from 1.5% to 4.5%). These clients are flagged for proactive review by the "work-out" group.</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ROI Calculation:</a:t>
            </a:r>
            <a:r>
              <a:rPr lang="en" sz="1100">
                <a:solidFill>
                  <a:schemeClr val="dk1"/>
                </a:solidFill>
                <a:latin typeface="Livvic"/>
                <a:ea typeface="Livvic"/>
                <a:cs typeface="Livvic"/>
                <a:sym typeface="Livvic"/>
              </a:rPr>
              <a:t> This is a risk-mitigation value. The ROI is the </a:t>
            </a:r>
            <a:r>
              <a:rPr b="1" lang="en" sz="1100">
                <a:solidFill>
                  <a:schemeClr val="dk1"/>
                </a:solidFill>
                <a:latin typeface="Livvic"/>
                <a:ea typeface="Livvic"/>
                <a:cs typeface="Livvic"/>
                <a:sym typeface="Livvic"/>
              </a:rPr>
              <a:t>increased recovery rate</a:t>
            </a:r>
            <a:r>
              <a:rPr lang="en" sz="1100">
                <a:solidFill>
                  <a:schemeClr val="dk1"/>
                </a:solidFill>
                <a:latin typeface="Livvic"/>
                <a:ea typeface="Livvic"/>
                <a:cs typeface="Livvic"/>
                <a:sym typeface="Livvic"/>
              </a:rPr>
              <a:t> achieved by the work-out group </a:t>
            </a:r>
            <a:r>
              <a:rPr i="1" lang="en" sz="1100">
                <a:solidFill>
                  <a:schemeClr val="dk1"/>
                </a:solidFill>
                <a:latin typeface="Livvic"/>
                <a:ea typeface="Livvic"/>
                <a:cs typeface="Livvic"/>
                <a:sym typeface="Livvic"/>
              </a:rPr>
              <a:t>before</a:t>
            </a:r>
            <a:r>
              <a:rPr lang="en" sz="1100">
                <a:solidFill>
                  <a:schemeClr val="dk1"/>
                </a:solidFill>
                <a:latin typeface="Livvic"/>
                <a:ea typeface="Livvic"/>
                <a:cs typeface="Livvic"/>
                <a:sym typeface="Livvic"/>
              </a:rPr>
              <a:t> a client defaults, which is historically much higher than intervening </a:t>
            </a:r>
            <a:r>
              <a:rPr i="1" lang="en" sz="1100">
                <a:solidFill>
                  <a:schemeClr val="dk1"/>
                </a:solidFill>
                <a:latin typeface="Livvic"/>
                <a:ea typeface="Livvic"/>
                <a:cs typeface="Livvic"/>
                <a:sym typeface="Livvic"/>
              </a:rPr>
              <a:t>after</a:t>
            </a:r>
            <a:r>
              <a:rPr lang="en" sz="1100">
                <a:solidFill>
                  <a:schemeClr val="dk1"/>
                </a:solidFill>
                <a:latin typeface="Livvic"/>
                <a:ea typeface="Livvic"/>
                <a:cs typeface="Livvic"/>
                <a:sym typeface="Livvic"/>
              </a:rPr>
              <a:t> a default.</a:t>
            </a:r>
            <a:endParaRPr sz="1100">
              <a:solidFill>
                <a:schemeClr val="dk1"/>
              </a:solidFill>
              <a:latin typeface="Livvic"/>
              <a:ea typeface="Livvic"/>
              <a:cs typeface="Livvic"/>
              <a:sym typeface="Livvic"/>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0"/>
          <p:cNvSpPr txBox="1"/>
          <p:nvPr>
            <p:ph type="title"/>
          </p:nvPr>
        </p:nvSpPr>
        <p:spPr>
          <a:xfrm>
            <a:off x="4645300" y="2626200"/>
            <a:ext cx="4014600" cy="8772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Deployment</a:t>
            </a:r>
            <a:endParaRPr/>
          </a:p>
        </p:txBody>
      </p:sp>
      <p:sp>
        <p:nvSpPr>
          <p:cNvPr id="491" name="Google Shape;491;p60"/>
          <p:cNvSpPr txBox="1"/>
          <p:nvPr>
            <p:ph idx="2" type="title"/>
          </p:nvPr>
        </p:nvSpPr>
        <p:spPr>
          <a:xfrm>
            <a:off x="4645300" y="1640100"/>
            <a:ext cx="1074900" cy="9861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492" name="Google Shape;492;p60"/>
          <p:cNvSpPr/>
          <p:nvPr/>
        </p:nvSpPr>
        <p:spPr>
          <a:xfrm rot="-5400000">
            <a:off x="7763042" y="326808"/>
            <a:ext cx="878151" cy="224535"/>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921"/>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0"/>
          <p:cNvSpPr/>
          <p:nvPr/>
        </p:nvSpPr>
        <p:spPr>
          <a:xfrm rot="-5400000">
            <a:off x="8410265" y="144464"/>
            <a:ext cx="878151" cy="589219"/>
          </a:xfrm>
          <a:custGeom>
            <a:rect b="b" l="l" r="r" t="t"/>
            <a:pathLst>
              <a:path extrusionOk="0" h="12463" w="47635">
                <a:moveTo>
                  <a:pt x="1" y="1"/>
                </a:moveTo>
                <a:lnTo>
                  <a:pt x="1" y="12463"/>
                </a:lnTo>
                <a:lnTo>
                  <a:pt x="47634" y="12463"/>
                </a:lnTo>
                <a:lnTo>
                  <a:pt x="47634" y="1"/>
                </a:lnTo>
                <a:close/>
              </a:path>
            </a:pathLst>
          </a:custGeom>
          <a:gradFill>
            <a:gsLst>
              <a:gs pos="0">
                <a:srgbClr val="FBF3ED">
                  <a:alpha val="30196"/>
                </a:srgbClr>
              </a:gs>
              <a:gs pos="100000">
                <a:srgbClr val="FBF3ED">
                  <a:alpha val="50196"/>
                </a:srgbClr>
              </a:gs>
            </a:gsLst>
            <a:lin ang="1890004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0"/>
          <p:cNvSpPr/>
          <p:nvPr/>
        </p:nvSpPr>
        <p:spPr>
          <a:xfrm rot="-5400000">
            <a:off x="7995465" y="318918"/>
            <a:ext cx="878151" cy="240314"/>
          </a:xfrm>
          <a:custGeom>
            <a:rect b="b" l="l" r="r" t="t"/>
            <a:pathLst>
              <a:path extrusionOk="0" h="23817" w="47635">
                <a:moveTo>
                  <a:pt x="1" y="0"/>
                </a:moveTo>
                <a:lnTo>
                  <a:pt x="1" y="23817"/>
                </a:lnTo>
                <a:lnTo>
                  <a:pt x="47634" y="23817"/>
                </a:lnTo>
                <a:lnTo>
                  <a:pt x="47634" y="0"/>
                </a:lnTo>
                <a:close/>
              </a:path>
            </a:pathLst>
          </a:custGeom>
          <a:gradFill>
            <a:gsLst>
              <a:gs pos="0">
                <a:srgbClr val="FBF3ED">
                  <a:alpha val="30196"/>
                </a:srgbClr>
              </a:gs>
              <a:gs pos="100000">
                <a:srgbClr val="FBF3ED">
                  <a:alpha val="3137"/>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0"/>
          <p:cNvSpPr/>
          <p:nvPr/>
        </p:nvSpPr>
        <p:spPr>
          <a:xfrm>
            <a:off x="734450" y="591600"/>
            <a:ext cx="3837600" cy="3960300"/>
          </a:xfrm>
          <a:prstGeom prst="rect">
            <a:avLst/>
          </a:prstGeom>
          <a:solidFill>
            <a:srgbClr val="EEF0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sz="1600">
                <a:solidFill>
                  <a:schemeClr val="dk1"/>
                </a:solidFill>
                <a:latin typeface="Livvic"/>
                <a:ea typeface="Livvic"/>
                <a:cs typeface="Livvic"/>
                <a:sym typeface="Livvic"/>
              </a:rPr>
              <a:t>Section Overview</a:t>
            </a:r>
            <a:endParaRPr b="1" sz="16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latin typeface="Livvic"/>
                <a:ea typeface="Livvic"/>
                <a:cs typeface="Livvic"/>
                <a:sym typeface="Livvic"/>
              </a:rPr>
              <a:t>Deployment Pipeline:</a:t>
            </a:r>
            <a:r>
              <a:rPr lang="en" sz="1100">
                <a:solidFill>
                  <a:schemeClr val="dk1"/>
                </a:solidFill>
                <a:latin typeface="Livvic"/>
                <a:ea typeface="Livvic"/>
                <a:cs typeface="Livvic"/>
                <a:sym typeface="Livvic"/>
              </a:rPr>
              <a:t> We will show how the harness.py script acts as the final production-ready tool, using the saved joblib and meta.json artifacts to generate predictions on new data.</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Key Deployment Issues:</a:t>
            </a:r>
            <a:r>
              <a:rPr lang="en" sz="1100">
                <a:solidFill>
                  <a:schemeClr val="dk1"/>
                </a:solidFill>
                <a:latin typeface="Livvic"/>
                <a:ea typeface="Livvic"/>
                <a:cs typeface="Livvic"/>
                <a:sym typeface="Livvic"/>
              </a:rPr>
              <a:t> Discussing the critical legal and ethical considerations, primarily model </a:t>
            </a:r>
            <a:r>
              <a:rPr b="1" lang="en" sz="1100">
                <a:solidFill>
                  <a:schemeClr val="dk1"/>
                </a:solidFill>
                <a:latin typeface="Livvic"/>
                <a:ea typeface="Livvic"/>
                <a:cs typeface="Livvic"/>
                <a:sym typeface="Livvic"/>
              </a:rPr>
              <a:t>explainability</a:t>
            </a:r>
            <a:r>
              <a:rPr lang="en" sz="1100">
                <a:solidFill>
                  <a:schemeClr val="dk1"/>
                </a:solidFill>
                <a:latin typeface="Livvic"/>
                <a:ea typeface="Livvic"/>
                <a:cs typeface="Livvic"/>
                <a:sym typeface="Livvic"/>
              </a:rPr>
              <a:t> for regulators and potential </a:t>
            </a:r>
            <a:r>
              <a:rPr b="1" lang="en" sz="1100">
                <a:solidFill>
                  <a:schemeClr val="dk1"/>
                </a:solidFill>
                <a:latin typeface="Livvic"/>
                <a:ea typeface="Livvic"/>
                <a:cs typeface="Livvic"/>
                <a:sym typeface="Livvic"/>
              </a:rPr>
              <a:t>biases</a:t>
            </a:r>
            <a:r>
              <a:rPr lang="en" sz="1100">
                <a:solidFill>
                  <a:schemeClr val="dk1"/>
                </a:solidFill>
                <a:latin typeface="Livvic"/>
                <a:ea typeface="Livvic"/>
                <a:cs typeface="Livvic"/>
                <a:sym typeface="Livvic"/>
              </a:rPr>
              <a:t> (e.g., against smaller firms).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Model Scope &amp; Limitations:</a:t>
            </a:r>
            <a:r>
              <a:rPr lang="en" sz="1100">
                <a:solidFill>
                  <a:schemeClr val="dk1"/>
                </a:solidFill>
                <a:latin typeface="Livvic"/>
                <a:ea typeface="Livvic"/>
                <a:cs typeface="Livvic"/>
                <a:sym typeface="Livvic"/>
              </a:rPr>
              <a:t> To define exactly where this model </a:t>
            </a:r>
            <a:r>
              <a:rPr i="1" lang="en" sz="1100">
                <a:solidFill>
                  <a:schemeClr val="dk1"/>
                </a:solidFill>
                <a:latin typeface="Livvic"/>
                <a:ea typeface="Livvic"/>
                <a:cs typeface="Livvic"/>
                <a:sym typeface="Livvic"/>
              </a:rPr>
              <a:t>must not</a:t>
            </a:r>
            <a:r>
              <a:rPr lang="en" sz="1100">
                <a:solidFill>
                  <a:schemeClr val="dk1"/>
                </a:solidFill>
                <a:latin typeface="Livvic"/>
                <a:ea typeface="Livvic"/>
                <a:cs typeface="Livvic"/>
                <a:sym typeface="Livvic"/>
              </a:rPr>
              <a:t> be used, such as on </a:t>
            </a:r>
            <a:r>
              <a:rPr b="1" lang="en" sz="1100">
                <a:solidFill>
                  <a:schemeClr val="dk1"/>
                </a:solidFill>
                <a:latin typeface="Livvic"/>
                <a:ea typeface="Livvic"/>
                <a:cs typeface="Livvic"/>
                <a:sym typeface="Livvic"/>
              </a:rPr>
              <a:t>finance/insurance firms</a:t>
            </a:r>
            <a:r>
              <a:rPr lang="en" sz="1100">
                <a:solidFill>
                  <a:schemeClr val="dk1"/>
                </a:solidFill>
                <a:latin typeface="Livvic"/>
                <a:ea typeface="Livvic"/>
                <a:cs typeface="Livvic"/>
                <a:sym typeface="Livvic"/>
              </a:rPr>
              <a:t> , firms </a:t>
            </a:r>
            <a:r>
              <a:rPr b="1" lang="en" sz="1100">
                <a:solidFill>
                  <a:schemeClr val="dk1"/>
                </a:solidFill>
                <a:latin typeface="Livvic"/>
                <a:ea typeface="Livvic"/>
                <a:cs typeface="Livvic"/>
                <a:sym typeface="Livvic"/>
              </a:rPr>
              <a:t>under €1.5M in assets</a:t>
            </a:r>
            <a:r>
              <a:rPr lang="en" sz="1100">
                <a:solidFill>
                  <a:schemeClr val="dk1"/>
                </a:solidFill>
                <a:latin typeface="Livvic"/>
                <a:ea typeface="Livvic"/>
                <a:cs typeface="Livvic"/>
                <a:sym typeface="Livvic"/>
              </a:rPr>
              <a:t>, or in different economic regions.</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latin typeface="Livvic"/>
                <a:ea typeface="Livvic"/>
                <a:cs typeface="Livvic"/>
                <a:sym typeface="Livvic"/>
              </a:rPr>
              <a:t>Risk &amp; Mitigation Plan:</a:t>
            </a:r>
            <a:r>
              <a:rPr lang="en" sz="1100">
                <a:solidFill>
                  <a:schemeClr val="dk1"/>
                </a:solidFill>
                <a:latin typeface="Livvic"/>
                <a:ea typeface="Livvic"/>
                <a:cs typeface="Livvic"/>
                <a:sym typeface="Livvic"/>
              </a:rPr>
              <a:t> Correctly identify the main deployment risks, like </a:t>
            </a:r>
            <a:r>
              <a:rPr b="1" lang="en" sz="1100">
                <a:solidFill>
                  <a:schemeClr val="dk1"/>
                </a:solidFill>
                <a:latin typeface="Livvic"/>
                <a:ea typeface="Livvic"/>
                <a:cs typeface="Livvic"/>
                <a:sym typeface="Livvic"/>
              </a:rPr>
              <a:t>model drift</a:t>
            </a:r>
            <a:r>
              <a:rPr lang="en" sz="1100">
                <a:solidFill>
                  <a:schemeClr val="dk1"/>
                </a:solidFill>
                <a:latin typeface="Livvic"/>
                <a:ea typeface="Livvic"/>
                <a:cs typeface="Livvic"/>
                <a:sym typeface="Livvic"/>
              </a:rPr>
              <a:t>, and our mitigation strategy, which includes a </a:t>
            </a:r>
            <a:r>
              <a:rPr b="1" lang="en" sz="1100">
                <a:solidFill>
                  <a:schemeClr val="dk1"/>
                </a:solidFill>
                <a:latin typeface="Livvic"/>
                <a:ea typeface="Livvic"/>
                <a:cs typeface="Livvic"/>
                <a:sym typeface="Livvic"/>
              </a:rPr>
              <a:t>human-in-the-loop</a:t>
            </a:r>
            <a:r>
              <a:rPr lang="en" sz="1100">
                <a:solidFill>
                  <a:schemeClr val="dk1"/>
                </a:solidFill>
                <a:latin typeface="Livvic"/>
                <a:ea typeface="Livvic"/>
                <a:cs typeface="Livvic"/>
                <a:sym typeface="Livvic"/>
              </a:rPr>
              <a:t> process and a plan for continuous monitoring and retraining.</a:t>
            </a:r>
            <a:endParaRPr b="1" sz="1100">
              <a:solidFill>
                <a:schemeClr val="dk1"/>
              </a:solidFill>
              <a:latin typeface="Livvic"/>
              <a:ea typeface="Livvic"/>
              <a:cs typeface="Livvic"/>
              <a:sym typeface="Livv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1"/>
          <p:cNvSpPr/>
          <p:nvPr/>
        </p:nvSpPr>
        <p:spPr>
          <a:xfrm>
            <a:off x="71450" y="4369600"/>
            <a:ext cx="9072600" cy="476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501" name="Google Shape;501;p61"/>
          <p:cNvSpPr txBox="1"/>
          <p:nvPr>
            <p:ph type="title"/>
          </p:nvPr>
        </p:nvSpPr>
        <p:spPr>
          <a:xfrm>
            <a:off x="633175" y="0"/>
            <a:ext cx="7030500" cy="5514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800">
                <a:latin typeface="Livvic"/>
                <a:ea typeface="Livvic"/>
                <a:cs typeface="Livvic"/>
                <a:sym typeface="Livvic"/>
              </a:rPr>
              <a:t>How the Model Will Be Deployed</a:t>
            </a:r>
            <a:endParaRPr b="0" sz="2800">
              <a:latin typeface="Poppins Medium"/>
              <a:ea typeface="Poppins Medium"/>
              <a:cs typeface="Poppins Medium"/>
              <a:sym typeface="Poppins Medium"/>
            </a:endParaRPr>
          </a:p>
        </p:txBody>
      </p:sp>
      <p:sp>
        <p:nvSpPr>
          <p:cNvPr id="502" name="Google Shape;502;p61"/>
          <p:cNvSpPr txBox="1"/>
          <p:nvPr/>
        </p:nvSpPr>
        <p:spPr>
          <a:xfrm>
            <a:off x="633175" y="551400"/>
            <a:ext cx="8010900" cy="440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Deployment is designed to be simple, robust, and consistent, using the harness.py script as the single point of entry. The process ensures that the exact same preprocessing steps are applied at prediction time as were used in training.</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The Deployment Artifacts (artifacts/ dir):</a:t>
            </a:r>
            <a:r>
              <a:rPr lang="en" sz="1100">
                <a:solidFill>
                  <a:schemeClr val="dk1"/>
                </a:solidFill>
                <a:latin typeface="Livvic"/>
                <a:ea typeface="Livvic"/>
                <a:cs typeface="Livvic"/>
                <a:sym typeface="Livvic"/>
              </a:rPr>
              <a:t> The estimator.py script has created a bundle of three essential files:</a:t>
            </a:r>
            <a:endParaRPr sz="1100">
              <a:solidFill>
                <a:schemeClr val="dk1"/>
              </a:solidFill>
              <a:latin typeface="Livvic"/>
              <a:ea typeface="Livvic"/>
              <a:cs typeface="Livvic"/>
              <a:sym typeface="Livvic"/>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latin typeface="Livvic"/>
                <a:ea typeface="Livvic"/>
                <a:cs typeface="Livvic"/>
                <a:sym typeface="Livvic"/>
              </a:rPr>
              <a:t>model.joblib</a:t>
            </a:r>
            <a:r>
              <a:rPr lang="en" sz="1100">
                <a:solidFill>
                  <a:schemeClr val="dk1"/>
                </a:solidFill>
                <a:latin typeface="Livvic"/>
                <a:ea typeface="Livvic"/>
                <a:cs typeface="Livvic"/>
                <a:sym typeface="Livvic"/>
              </a:rPr>
              <a:t>: The trained and finalized XGBoost model.</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calibrator.joblib</a:t>
            </a:r>
            <a:r>
              <a:rPr lang="en" sz="1100">
                <a:solidFill>
                  <a:schemeClr val="dk1"/>
                </a:solidFill>
                <a:latin typeface="Livvic"/>
                <a:ea typeface="Livvic"/>
                <a:cs typeface="Livvic"/>
                <a:sym typeface="Livvic"/>
              </a:rPr>
              <a:t>: The fitted Isotonic Regression calibrator.</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meta.json</a:t>
            </a:r>
            <a:r>
              <a:rPr lang="en" sz="1100">
                <a:solidFill>
                  <a:schemeClr val="dk1"/>
                </a:solidFill>
                <a:latin typeface="Livvic"/>
                <a:ea typeface="Livvic"/>
                <a:cs typeface="Livvic"/>
                <a:sym typeface="Livvic"/>
              </a:rPr>
              <a:t>: This critical file stores all parameters from training: the full feature list, and all preprocessing values (e.g., the 1st/99th percentiles, means, and standard deviations).</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b="1" lang="en" sz="1100">
                <a:solidFill>
                  <a:schemeClr val="dk1"/>
                </a:solidFill>
                <a:latin typeface="Livvic"/>
                <a:ea typeface="Livvic"/>
                <a:cs typeface="Livvic"/>
                <a:sym typeface="Livvic"/>
              </a:rPr>
              <a:t>The Prediction Pipeline:</a:t>
            </a:r>
            <a:r>
              <a:rPr lang="en" sz="1100">
                <a:solidFill>
                  <a:schemeClr val="dk1"/>
                </a:solidFill>
                <a:latin typeface="Livvic"/>
                <a:ea typeface="Livvic"/>
                <a:cs typeface="Livvic"/>
                <a:sym typeface="Livvic"/>
              </a:rPr>
              <a:t> When the bank needs to score a new set of borrowers, they will call: python harness.py --input_csv &lt;new_borrowers.csv&gt; --output_csv &lt;predictions.csv&gt;</a:t>
            </a:r>
            <a:endParaRPr sz="1100">
              <a:solidFill>
                <a:schemeClr val="dk1"/>
              </a:solidFill>
              <a:latin typeface="Livvic"/>
              <a:ea typeface="Livvic"/>
              <a:cs typeface="Livvic"/>
              <a:sym typeface="Livvic"/>
            </a:endParaRPr>
          </a:p>
          <a:p>
            <a:pPr indent="0" lvl="0" marL="0" rtl="0" algn="l">
              <a:lnSpc>
                <a:spcPct val="115000"/>
              </a:lnSpc>
              <a:spcBef>
                <a:spcPts val="1200"/>
              </a:spcBef>
              <a:spcAft>
                <a:spcPts val="0"/>
              </a:spcAft>
              <a:buNone/>
            </a:pPr>
            <a:r>
              <a:rPr lang="en" sz="1100">
                <a:solidFill>
                  <a:schemeClr val="dk1"/>
                </a:solidFill>
                <a:latin typeface="Livvic"/>
                <a:ea typeface="Livvic"/>
                <a:cs typeface="Livvic"/>
                <a:sym typeface="Livvic"/>
              </a:rPr>
              <a:t>This command triggers the following automated steps:</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AutoNum type="arabicPeriod"/>
            </a:pPr>
            <a:r>
              <a:rPr b="1" lang="en" sz="1100">
                <a:solidFill>
                  <a:schemeClr val="dk1"/>
                </a:solidFill>
                <a:latin typeface="Livvic"/>
                <a:ea typeface="Livvic"/>
                <a:cs typeface="Livvic"/>
                <a:sym typeface="Livvic"/>
              </a:rPr>
              <a:t>Load:</a:t>
            </a:r>
            <a:r>
              <a:rPr lang="en" sz="1100">
                <a:solidFill>
                  <a:schemeClr val="dk1"/>
                </a:solidFill>
                <a:latin typeface="Livvic"/>
                <a:ea typeface="Livvic"/>
                <a:cs typeface="Livvic"/>
                <a:sym typeface="Livvic"/>
              </a:rPr>
              <a:t> harness.py loads the new input CSV.</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Call Predictor:</a:t>
            </a:r>
            <a:r>
              <a:rPr lang="en" sz="1100">
                <a:solidFill>
                  <a:schemeClr val="dk1"/>
                </a:solidFill>
                <a:latin typeface="Livvic"/>
                <a:ea typeface="Livvic"/>
                <a:cs typeface="Livvic"/>
                <a:sym typeface="Livvic"/>
              </a:rPr>
              <a:t> It passes the new DataFrame to the predict_pd function.</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Load Artifacts:</a:t>
            </a:r>
            <a:r>
              <a:rPr lang="en" sz="1100">
                <a:solidFill>
                  <a:schemeClr val="dk1"/>
                </a:solidFill>
                <a:latin typeface="Livvic"/>
                <a:ea typeface="Livvic"/>
                <a:cs typeface="Livvic"/>
                <a:sym typeface="Livvic"/>
              </a:rPr>
              <a:t> predict_pd loads model.joblib, calibrator.joblib, and meta.json.</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Transform:</a:t>
            </a:r>
            <a:r>
              <a:rPr lang="en" sz="1100">
                <a:solidFill>
                  <a:schemeClr val="dk1"/>
                </a:solidFill>
                <a:latin typeface="Livvic"/>
                <a:ea typeface="Livvic"/>
                <a:cs typeface="Livvic"/>
                <a:sym typeface="Livvic"/>
              </a:rPr>
              <a:t> It uses the Preprocessing_Pipeline and the saved parameters from meta.json to transform the new data </a:t>
            </a:r>
            <a:r>
              <a:rPr i="1" lang="en" sz="1100">
                <a:solidFill>
                  <a:schemeClr val="dk1"/>
                </a:solidFill>
                <a:latin typeface="Livvic"/>
                <a:ea typeface="Livvic"/>
                <a:cs typeface="Livvic"/>
                <a:sym typeface="Livvic"/>
              </a:rPr>
              <a:t>without</a:t>
            </a:r>
            <a:r>
              <a:rPr lang="en" sz="1100">
                <a:solidFill>
                  <a:schemeClr val="dk1"/>
                </a:solidFill>
                <a:latin typeface="Livvic"/>
                <a:ea typeface="Livvic"/>
                <a:cs typeface="Livvic"/>
                <a:sym typeface="Livvic"/>
              </a:rPr>
              <a:t> re-fitting. This prevents data leakage and ensures consistency.</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Predict Score:</a:t>
            </a:r>
            <a:r>
              <a:rPr lang="en" sz="1100">
                <a:solidFill>
                  <a:schemeClr val="dk1"/>
                </a:solidFill>
                <a:latin typeface="Livvic"/>
                <a:ea typeface="Livvic"/>
                <a:cs typeface="Livvic"/>
                <a:sym typeface="Livvic"/>
              </a:rPr>
              <a:t> The transformed data is fed into model.joblib to get the raw XGBoost score.</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Calibrate PD:</a:t>
            </a:r>
            <a:r>
              <a:rPr lang="en" sz="1100">
                <a:solidFill>
                  <a:schemeClr val="dk1"/>
                </a:solidFill>
                <a:latin typeface="Livvic"/>
                <a:ea typeface="Livvic"/>
                <a:cs typeface="Livvic"/>
                <a:sym typeface="Livvic"/>
              </a:rPr>
              <a:t> The raw score is fed into calibrator.joblib to get the final, accurate PD.</a:t>
            </a:r>
            <a:endParaRPr sz="1100">
              <a:solidFill>
                <a:schemeClr val="dk1"/>
              </a:solidFill>
              <a:latin typeface="Livvic"/>
              <a:ea typeface="Livvic"/>
              <a:cs typeface="Livvic"/>
              <a:sym typeface="Livvic"/>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latin typeface="Livvic"/>
                <a:ea typeface="Livvic"/>
                <a:cs typeface="Livvic"/>
                <a:sym typeface="Livvic"/>
              </a:rPr>
              <a:t>Save Output:</a:t>
            </a:r>
            <a:r>
              <a:rPr lang="en" sz="1100">
                <a:solidFill>
                  <a:schemeClr val="dk1"/>
                </a:solidFill>
                <a:latin typeface="Livvic"/>
                <a:ea typeface="Livvic"/>
                <a:cs typeface="Livvic"/>
                <a:sym typeface="Livvic"/>
              </a:rPr>
              <a:t> The harness saves these final probabilities as a single n×1 vector, as required by the project instructions.</a:t>
            </a:r>
            <a:endParaRPr sz="1100">
              <a:solidFill>
                <a:schemeClr val="dk1"/>
              </a:solidFill>
              <a:latin typeface="Livvic"/>
              <a:ea typeface="Livvic"/>
              <a:cs typeface="Livvic"/>
              <a:sym typeface="Livv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2"/>
          <p:cNvSpPr txBox="1"/>
          <p:nvPr>
            <p:ph type="title"/>
          </p:nvPr>
        </p:nvSpPr>
        <p:spPr>
          <a:xfrm>
            <a:off x="350400" y="0"/>
            <a:ext cx="8443200" cy="569400"/>
          </a:xfrm>
          <a:prstGeom prst="rect">
            <a:avLst/>
          </a:prstGeom>
        </p:spPr>
        <p:txBody>
          <a:bodyPr anchorCtr="0" anchor="b" bIns="91425" lIns="91425" spcFirstLastPara="1" rIns="91425" wrap="square" tIns="91425">
            <a:spAutoFit/>
          </a:bodyPr>
          <a:lstStyle/>
          <a:p>
            <a:pPr indent="0" lvl="0" marL="0" rtl="0" algn="l">
              <a:lnSpc>
                <a:spcPct val="115000"/>
              </a:lnSpc>
              <a:spcBef>
                <a:spcPts val="1200"/>
              </a:spcBef>
              <a:spcAft>
                <a:spcPts val="200"/>
              </a:spcAft>
              <a:buNone/>
            </a:pPr>
            <a:r>
              <a:rPr lang="en" sz="2500">
                <a:latin typeface="Livvic"/>
                <a:ea typeface="Livvic"/>
                <a:cs typeface="Livvic"/>
                <a:sym typeface="Livvic"/>
              </a:rPr>
              <a:t>Ethical and Legal Considerations</a:t>
            </a:r>
            <a:endParaRPr b="0" sz="2500">
              <a:latin typeface="Poppins ExtraBold"/>
              <a:ea typeface="Poppins ExtraBold"/>
              <a:cs typeface="Poppins ExtraBold"/>
              <a:sym typeface="Poppins ExtraBold"/>
            </a:endParaRPr>
          </a:p>
        </p:txBody>
      </p:sp>
      <p:sp>
        <p:nvSpPr>
          <p:cNvPr id="508" name="Google Shape;508;p62"/>
          <p:cNvSpPr/>
          <p:nvPr/>
        </p:nvSpPr>
        <p:spPr>
          <a:xfrm>
            <a:off x="677700" y="680350"/>
            <a:ext cx="7788600" cy="35448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Legal (Regulation &amp; Explainability):</a:t>
            </a:r>
            <a:endParaRPr b="1"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Font typeface="Livvic"/>
              <a:buChar char="○"/>
            </a:pPr>
            <a:r>
              <a:rPr lang="en" sz="1100" u="sng">
                <a:solidFill>
                  <a:schemeClr val="hlink"/>
                </a:solidFill>
                <a:latin typeface="Livvic"/>
                <a:ea typeface="Livvic"/>
                <a:cs typeface="Livvic"/>
                <a:sym typeface="Livvic"/>
                <a:hlinkClick r:id="rId3"/>
              </a:rPr>
              <a:t>This model is being deployed in the EU</a:t>
            </a:r>
            <a:r>
              <a:rPr lang="en" sz="1100">
                <a:solidFill>
                  <a:schemeClr val="dk1"/>
                </a:solidFill>
                <a:latin typeface="Livvic"/>
                <a:ea typeface="Livvic"/>
                <a:cs typeface="Livvic"/>
                <a:sym typeface="Livvic"/>
              </a:rPr>
              <a:t>, which has strict regulations (like GDPR) on automated decision-making. The bank must be able to explain </a:t>
            </a:r>
            <a:r>
              <a:rPr i="1" lang="en" sz="1100">
                <a:solidFill>
                  <a:schemeClr val="dk1"/>
                </a:solidFill>
                <a:latin typeface="Livvic"/>
                <a:ea typeface="Livvic"/>
                <a:cs typeface="Livvic"/>
                <a:sym typeface="Livvic"/>
              </a:rPr>
              <a:t>why</a:t>
            </a:r>
            <a:r>
              <a:rPr lang="en" sz="1100">
                <a:solidFill>
                  <a:schemeClr val="dk1"/>
                </a:solidFill>
                <a:latin typeface="Livvic"/>
                <a:ea typeface="Livvic"/>
                <a:cs typeface="Livvic"/>
                <a:sym typeface="Livvic"/>
              </a:rPr>
              <a:t> a borrower received a high-risk score, especially if it leads to a loan denial or a higher interest rate.</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Livvic"/>
                <a:ea typeface="Livvic"/>
                <a:cs typeface="Livvic"/>
                <a:sym typeface="Livvic"/>
              </a:rPr>
              <a:t>While our XGBoost model is complex, its reliance on tangible financial ratios (e.g., leverage_w, cfroa_w) makes it more explainable than models using non-intuitive features. We must use post-hoc techniques (like </a:t>
            </a:r>
            <a:r>
              <a:rPr lang="en" sz="1100" u="sng">
                <a:solidFill>
                  <a:schemeClr val="hlink"/>
                </a:solidFill>
                <a:latin typeface="Livvic"/>
                <a:ea typeface="Livvic"/>
                <a:cs typeface="Livvic"/>
                <a:sym typeface="Livvic"/>
                <a:hlinkClick r:id="rId4"/>
              </a:rPr>
              <a:t> </a:t>
            </a:r>
            <a:r>
              <a:rPr lang="en" sz="1100">
                <a:solidFill>
                  <a:schemeClr val="dk1"/>
                </a:solidFill>
                <a:latin typeface="Livvic"/>
                <a:ea typeface="Livvic"/>
                <a:cs typeface="Livvic"/>
                <a:sym typeface="Livvic"/>
              </a:rPr>
              <a:t>partial dependence graphs) to provide this required transparency.</a:t>
            </a:r>
            <a:endParaRPr sz="1100">
              <a:solidFill>
                <a:schemeClr val="dk1"/>
              </a:solidFill>
              <a:latin typeface="Livvic"/>
              <a:ea typeface="Livvic"/>
              <a:cs typeface="Livvic"/>
              <a:sym typeface="Livvic"/>
            </a:endParaRPr>
          </a:p>
          <a:p>
            <a:pPr indent="-298450" lvl="0" marL="457200" rtl="0" algn="l">
              <a:lnSpc>
                <a:spcPct val="115000"/>
              </a:lnSpc>
              <a:spcBef>
                <a:spcPts val="1000"/>
              </a:spcBef>
              <a:spcAft>
                <a:spcPts val="0"/>
              </a:spcAft>
              <a:buClr>
                <a:schemeClr val="dk1"/>
              </a:buClr>
              <a:buSzPts val="1100"/>
              <a:buFont typeface="Livvic"/>
              <a:buChar char="●"/>
            </a:pPr>
            <a:r>
              <a:rPr b="1" lang="en" sz="1100">
                <a:solidFill>
                  <a:schemeClr val="dk1"/>
                </a:solidFill>
                <a:latin typeface="Livvic"/>
                <a:ea typeface="Livvic"/>
                <a:cs typeface="Livvic"/>
                <a:sym typeface="Livvic"/>
              </a:rPr>
              <a:t>Ethical (Bias):</a:t>
            </a:r>
            <a:endParaRPr b="1" sz="1100">
              <a:solidFill>
                <a:schemeClr val="dk1"/>
              </a:solidFill>
              <a:latin typeface="Livvic"/>
              <a:ea typeface="Livvic"/>
              <a:cs typeface="Livvic"/>
              <a:sym typeface="Livvic"/>
            </a:endParaRPr>
          </a:p>
          <a:p>
            <a:pPr indent="-298450" lvl="1" marL="914400" rtl="0" algn="l">
              <a:lnSpc>
                <a:spcPct val="115000"/>
              </a:lnSpc>
              <a:spcBef>
                <a:spcPts val="1000"/>
              </a:spcBef>
              <a:spcAft>
                <a:spcPts val="0"/>
              </a:spcAft>
              <a:buClr>
                <a:schemeClr val="dk1"/>
              </a:buClr>
              <a:buSzPts val="1100"/>
              <a:buChar char="○"/>
            </a:pPr>
            <a:r>
              <a:rPr lang="en" sz="1100">
                <a:solidFill>
                  <a:schemeClr val="dk1"/>
                </a:solidFill>
                <a:latin typeface="Livvic"/>
                <a:ea typeface="Livvic"/>
                <a:cs typeface="Livvic"/>
                <a:sym typeface="Livvic"/>
              </a:rPr>
              <a:t>The model is statistically "biased" by design, based on the data we were given. It is </a:t>
            </a:r>
            <a:r>
              <a:rPr b="1" lang="en" sz="1100">
                <a:solidFill>
                  <a:schemeClr val="dk1"/>
                </a:solidFill>
                <a:latin typeface="Livvic"/>
                <a:ea typeface="Livvic"/>
                <a:cs typeface="Livvic"/>
                <a:sym typeface="Livvic"/>
              </a:rPr>
              <a:t>only trained on firms with &gt; €1.5MM in assets</a:t>
            </a:r>
            <a:r>
              <a:rPr lang="en" sz="1100">
                <a:solidFill>
                  <a:schemeClr val="dk1"/>
                </a:solidFill>
                <a:latin typeface="Livvic"/>
                <a:ea typeface="Livvic"/>
                <a:cs typeface="Livvic"/>
                <a:sym typeface="Livvic"/>
              </a:rPr>
              <a:t>.</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Font typeface="Livvic"/>
              <a:buChar char="○"/>
            </a:pPr>
            <a:r>
              <a:rPr lang="en" sz="1100">
                <a:solidFill>
                  <a:schemeClr val="dk1"/>
                </a:solidFill>
                <a:latin typeface="Livvic"/>
                <a:ea typeface="Livvic"/>
                <a:cs typeface="Livvic"/>
                <a:sym typeface="Livvic"/>
              </a:rPr>
              <a:t>This is an ethical and business limitation: the model will inherently associate the characteristics of smaller firms (which are not in the training set) with higher risk or may fail entirely. It must not be used to make automated "deny" decisions for small businesses, as it has no data to support that judgment.</a:t>
            </a:r>
            <a:endParaRPr sz="1100">
              <a:solidFill>
                <a:schemeClr val="dk1"/>
              </a:solidFill>
              <a:latin typeface="Livvic"/>
              <a:ea typeface="Livvic"/>
              <a:cs typeface="Livvic"/>
              <a:sym typeface="Livvic"/>
            </a:endParaRPr>
          </a:p>
          <a:p>
            <a:pPr indent="-298450" lvl="1" marL="914400" rtl="0" algn="l">
              <a:lnSpc>
                <a:spcPct val="115000"/>
              </a:lnSpc>
              <a:spcBef>
                <a:spcPts val="0"/>
              </a:spcBef>
              <a:spcAft>
                <a:spcPts val="0"/>
              </a:spcAft>
              <a:buClr>
                <a:schemeClr val="dk1"/>
              </a:buClr>
              <a:buSzPts val="1100"/>
              <a:buChar char="○"/>
            </a:pPr>
            <a:r>
              <a:rPr lang="en" sz="1100" u="sng">
                <a:solidFill>
                  <a:schemeClr val="hlink"/>
                </a:solidFill>
                <a:latin typeface="Livvic"/>
                <a:ea typeface="Livvic"/>
                <a:cs typeface="Livvic"/>
                <a:sym typeface="Livvic"/>
                <a:hlinkClick r:id="rId5"/>
              </a:rPr>
              <a:t>We have mitigated other biases by </a:t>
            </a:r>
            <a:r>
              <a:rPr i="1" lang="en" sz="1100" u="sng">
                <a:solidFill>
                  <a:schemeClr val="hlink"/>
                </a:solidFill>
                <a:latin typeface="Livvic"/>
                <a:ea typeface="Livvic"/>
                <a:cs typeface="Livvic"/>
                <a:sym typeface="Livvic"/>
                <a:hlinkClick r:id="rId6"/>
              </a:rPr>
              <a:t>not</a:t>
            </a:r>
            <a:r>
              <a:rPr lang="en" sz="1100" u="sng">
                <a:solidFill>
                  <a:schemeClr val="hlink"/>
                </a:solidFill>
                <a:latin typeface="Livvic"/>
                <a:ea typeface="Livvic"/>
                <a:cs typeface="Livvic"/>
                <a:sym typeface="Livvic"/>
                <a:hlinkClick r:id="rId7"/>
              </a:rPr>
              <a:t> using features like HQ_city or ateco sector directly, which could unfairly penalize firms based on location or industry.</a:t>
            </a:r>
            <a:endParaRPr b="1" sz="1100">
              <a:solidFill>
                <a:schemeClr val="dk1"/>
              </a:solidFill>
              <a:latin typeface="Livvic"/>
              <a:ea typeface="Livvic"/>
              <a:cs typeface="Livvic"/>
              <a:sym typeface="Livvic"/>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3"/>
          <p:cNvSpPr/>
          <p:nvPr/>
        </p:nvSpPr>
        <p:spPr>
          <a:xfrm>
            <a:off x="412350" y="4388750"/>
            <a:ext cx="8319300" cy="50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514" name="Google Shape;514;p63"/>
          <p:cNvSpPr txBox="1"/>
          <p:nvPr>
            <p:ph type="title"/>
          </p:nvPr>
        </p:nvSpPr>
        <p:spPr>
          <a:xfrm>
            <a:off x="1079850" y="66475"/>
            <a:ext cx="7134900" cy="431100"/>
          </a:xfrm>
          <a:prstGeom prst="rect">
            <a:avLst/>
          </a:prstGeom>
        </p:spPr>
        <p:txBody>
          <a:bodyPr anchorCtr="0" anchor="b" bIns="91425" lIns="91425" spcFirstLastPara="1" rIns="91425" wrap="square" tIns="91425">
            <a:spAutoFit/>
          </a:bodyPr>
          <a:lstStyle/>
          <a:p>
            <a:pPr indent="0" lvl="0" marL="0" rtl="0" algn="l">
              <a:lnSpc>
                <a:spcPct val="115000"/>
              </a:lnSpc>
              <a:spcBef>
                <a:spcPts val="0"/>
              </a:spcBef>
              <a:spcAft>
                <a:spcPts val="0"/>
              </a:spcAft>
              <a:buNone/>
            </a:pPr>
            <a:r>
              <a:rPr lang="en" sz="1600">
                <a:latin typeface="Livvic"/>
                <a:ea typeface="Livvic"/>
                <a:cs typeface="Livvic"/>
                <a:sym typeface="Livvic"/>
              </a:rPr>
              <a:t>Risks Associated with our Proposed Plan and Ways to Mitigate them.</a:t>
            </a:r>
            <a:endParaRPr sz="3400">
              <a:latin typeface="Livvic"/>
              <a:ea typeface="Livvic"/>
              <a:cs typeface="Livvic"/>
              <a:sym typeface="Livvic"/>
            </a:endParaRPr>
          </a:p>
        </p:txBody>
      </p:sp>
      <p:sp>
        <p:nvSpPr>
          <p:cNvPr id="515" name="Google Shape;515;p63"/>
          <p:cNvSpPr/>
          <p:nvPr/>
        </p:nvSpPr>
        <p:spPr>
          <a:xfrm>
            <a:off x="563100" y="656550"/>
            <a:ext cx="8168400" cy="4118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Livvic"/>
                <a:ea typeface="Livvic"/>
                <a:cs typeface="Livvic"/>
                <a:sym typeface="Livvic"/>
              </a:rPr>
              <a:t>1. </a:t>
            </a:r>
            <a:r>
              <a:rPr b="1" lang="en" sz="1200">
                <a:solidFill>
                  <a:schemeClr val="dk1"/>
                </a:solidFill>
                <a:latin typeface="Livvic"/>
                <a:ea typeface="Livvic"/>
                <a:cs typeface="Livvic"/>
                <a:sym typeface="Livvic"/>
              </a:rPr>
              <a:t>Risk: Model Drift</a:t>
            </a:r>
            <a:endParaRPr b="1"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u="sng">
                <a:solidFill>
                  <a:schemeClr val="dk1"/>
                </a:solidFill>
                <a:latin typeface="Livvic"/>
                <a:ea typeface="Livvic"/>
                <a:cs typeface="Livvic"/>
                <a:sym typeface="Livvic"/>
              </a:rPr>
              <a:t>Problem</a:t>
            </a:r>
            <a:r>
              <a:rPr lang="en" sz="1200">
                <a:solidFill>
                  <a:schemeClr val="dk1"/>
                </a:solidFill>
                <a:latin typeface="Livvic"/>
                <a:ea typeface="Livvic"/>
                <a:cs typeface="Livvic"/>
                <a:sym typeface="Livvic"/>
              </a:rPr>
              <a:t>: The economy changes, and model performance will degrade over time as the data from 2000-2012 becomes obsolete.</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i="1" lang="en" sz="1200">
                <a:solidFill>
                  <a:schemeClr val="dk1"/>
                </a:solidFill>
                <a:latin typeface="Livvic"/>
                <a:ea typeface="Livvic"/>
                <a:cs typeface="Livvic"/>
                <a:sym typeface="Livvic"/>
              </a:rPr>
              <a:t>Mitigation:</a:t>
            </a:r>
            <a:r>
              <a:rPr lang="en" sz="1200">
                <a:solidFill>
                  <a:schemeClr val="dk1"/>
                </a:solidFill>
                <a:latin typeface="Livvic"/>
                <a:ea typeface="Livvic"/>
                <a:cs typeface="Livvic"/>
                <a:sym typeface="Livvic"/>
              </a:rPr>
              <a:t> Continuous monitoring of AUC/Brier score and a planned annual retraining schedule using estimator.py.</a:t>
            </a:r>
            <a:endParaRPr sz="1200">
              <a:solidFill>
                <a:schemeClr val="dk1"/>
              </a:solidFill>
              <a:latin typeface="Livvic"/>
              <a:ea typeface="Livvic"/>
              <a:cs typeface="Livvic"/>
              <a:sym typeface="Livvic"/>
            </a:endParaRPr>
          </a:p>
          <a:p>
            <a:pPr indent="0" lvl="0" marL="0" rtl="0" algn="l">
              <a:lnSpc>
                <a:spcPct val="115000"/>
              </a:lnSpc>
              <a:spcBef>
                <a:spcPts val="1000"/>
              </a:spcBef>
              <a:spcAft>
                <a:spcPts val="0"/>
              </a:spcAft>
              <a:buNone/>
            </a:pPr>
            <a:r>
              <a:rPr lang="en" sz="1200">
                <a:solidFill>
                  <a:schemeClr val="dk1"/>
                </a:solidFill>
                <a:latin typeface="Livvic"/>
                <a:ea typeface="Livvic"/>
                <a:cs typeface="Livvic"/>
                <a:sym typeface="Livvic"/>
              </a:rPr>
              <a:t>2. </a:t>
            </a:r>
            <a:r>
              <a:rPr b="1" lang="en" sz="1200">
                <a:solidFill>
                  <a:schemeClr val="dk1"/>
                </a:solidFill>
                <a:latin typeface="Livvic"/>
                <a:ea typeface="Livvic"/>
                <a:cs typeface="Livvic"/>
                <a:sym typeface="Livvic"/>
              </a:rPr>
              <a:t>Risk: Over-reliance (Automation Bias)</a:t>
            </a:r>
            <a:endParaRPr b="1"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u="sng">
                <a:solidFill>
                  <a:schemeClr val="dk1"/>
                </a:solidFill>
                <a:latin typeface="Livvic"/>
                <a:ea typeface="Livvic"/>
                <a:cs typeface="Livvic"/>
                <a:sym typeface="Livvic"/>
              </a:rPr>
              <a:t>Problem</a:t>
            </a:r>
            <a:r>
              <a:rPr lang="en" sz="1200">
                <a:solidFill>
                  <a:schemeClr val="dk1"/>
                </a:solidFill>
                <a:latin typeface="Livvic"/>
                <a:ea typeface="Livvic"/>
                <a:cs typeface="Livvic"/>
                <a:sym typeface="Livvic"/>
              </a:rPr>
              <a:t>: Loan officers may blindly trust the model, especially on "gray area" loans.</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i="1" lang="en" sz="1200">
                <a:solidFill>
                  <a:schemeClr val="dk1"/>
                </a:solidFill>
                <a:latin typeface="Livvic"/>
                <a:ea typeface="Livvic"/>
                <a:cs typeface="Livvic"/>
                <a:sym typeface="Livvic"/>
              </a:rPr>
              <a:t>Mitigation:</a:t>
            </a:r>
            <a:r>
              <a:rPr lang="en" sz="1200">
                <a:solidFill>
                  <a:schemeClr val="dk1"/>
                </a:solidFill>
                <a:latin typeface="Livvic"/>
                <a:ea typeface="Livvic"/>
                <a:cs typeface="Livvic"/>
                <a:sym typeface="Livvic"/>
              </a:rPr>
              <a:t> Implement as a "Human-in-the-Loop" decision-support tool, not a fully automated decider.</a:t>
            </a:r>
            <a:endParaRPr sz="1200">
              <a:solidFill>
                <a:schemeClr val="dk1"/>
              </a:solidFill>
              <a:latin typeface="Livvic"/>
              <a:ea typeface="Livvic"/>
              <a:cs typeface="Livvic"/>
              <a:sym typeface="Livvic"/>
            </a:endParaRPr>
          </a:p>
          <a:p>
            <a:pPr indent="0" lvl="0" marL="0" rtl="0" algn="l">
              <a:lnSpc>
                <a:spcPct val="115000"/>
              </a:lnSpc>
              <a:spcBef>
                <a:spcPts val="1000"/>
              </a:spcBef>
              <a:spcAft>
                <a:spcPts val="0"/>
              </a:spcAft>
              <a:buNone/>
            </a:pPr>
            <a:r>
              <a:rPr lang="en" sz="1200">
                <a:solidFill>
                  <a:schemeClr val="dk1"/>
                </a:solidFill>
                <a:latin typeface="Livvic"/>
                <a:ea typeface="Livvic"/>
                <a:cs typeface="Livvic"/>
                <a:sym typeface="Livvic"/>
              </a:rPr>
              <a:t>3. </a:t>
            </a:r>
            <a:r>
              <a:rPr b="1" lang="en" sz="1200">
                <a:solidFill>
                  <a:schemeClr val="dk1"/>
                </a:solidFill>
                <a:latin typeface="Livvic"/>
                <a:ea typeface="Livvic"/>
                <a:cs typeface="Livvic"/>
                <a:sym typeface="Livvic"/>
              </a:rPr>
              <a:t>Risk: Data Quality Failure</a:t>
            </a:r>
            <a:endParaRPr b="1"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u="sng">
                <a:solidFill>
                  <a:schemeClr val="dk1"/>
                </a:solidFill>
                <a:latin typeface="Livvic"/>
                <a:ea typeface="Livvic"/>
                <a:cs typeface="Livvic"/>
                <a:sym typeface="Livvic"/>
              </a:rPr>
              <a:t>Problem:</a:t>
            </a:r>
            <a:r>
              <a:rPr lang="en" sz="1200">
                <a:solidFill>
                  <a:schemeClr val="dk1"/>
                </a:solidFill>
                <a:latin typeface="Livvic"/>
                <a:ea typeface="Livvic"/>
                <a:cs typeface="Livvic"/>
                <a:sym typeface="Livvic"/>
              </a:rPr>
              <a:t> "Garbage in, garbage out." New data that doesn't match the training data's format or quality will cause failures.</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i="1" lang="en" sz="1200">
                <a:solidFill>
                  <a:schemeClr val="dk1"/>
                </a:solidFill>
                <a:latin typeface="Livvic"/>
                <a:ea typeface="Livvic"/>
                <a:cs typeface="Livvic"/>
                <a:sym typeface="Livvic"/>
              </a:rPr>
              <a:t>Mitigation</a:t>
            </a:r>
            <a:r>
              <a:rPr lang="en" sz="1200">
                <a:solidFill>
                  <a:schemeClr val="dk1"/>
                </a:solidFill>
                <a:latin typeface="Livvic"/>
                <a:ea typeface="Livvic"/>
                <a:cs typeface="Livvic"/>
                <a:sym typeface="Livvic"/>
              </a:rPr>
              <a:t>: Our harness.py and meta.json artifacts create a consistent, locked-down preprocessing pipeline.</a:t>
            </a:r>
            <a:endParaRPr sz="1200">
              <a:solidFill>
                <a:schemeClr val="dk1"/>
              </a:solidFill>
              <a:latin typeface="Livvic"/>
              <a:ea typeface="Livvic"/>
              <a:cs typeface="Livvic"/>
              <a:sym typeface="Livvic"/>
            </a:endParaRPr>
          </a:p>
          <a:p>
            <a:pPr indent="0" lvl="0" marL="0" rtl="0" algn="l">
              <a:lnSpc>
                <a:spcPct val="115000"/>
              </a:lnSpc>
              <a:spcBef>
                <a:spcPts val="1000"/>
              </a:spcBef>
              <a:spcAft>
                <a:spcPts val="0"/>
              </a:spcAft>
              <a:buNone/>
            </a:pPr>
            <a:r>
              <a:rPr lang="en" sz="1200">
                <a:solidFill>
                  <a:schemeClr val="dk1"/>
                </a:solidFill>
                <a:latin typeface="Livvic"/>
                <a:ea typeface="Livvic"/>
                <a:cs typeface="Livvic"/>
                <a:sym typeface="Livvic"/>
              </a:rPr>
              <a:t>4. </a:t>
            </a:r>
            <a:r>
              <a:rPr b="1" lang="en" sz="1200">
                <a:solidFill>
                  <a:schemeClr val="dk1"/>
                </a:solidFill>
                <a:latin typeface="Livvic"/>
                <a:ea typeface="Livvic"/>
                <a:cs typeface="Livvic"/>
                <a:sym typeface="Livvic"/>
              </a:rPr>
              <a:t>Risk: Out-of-Scope Misapplication</a:t>
            </a:r>
            <a:endParaRPr b="1"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lang="en" sz="1200" u="sng">
                <a:solidFill>
                  <a:schemeClr val="dk1"/>
                </a:solidFill>
                <a:latin typeface="Livvic"/>
                <a:ea typeface="Livvic"/>
                <a:cs typeface="Livvic"/>
                <a:sym typeface="Livvic"/>
              </a:rPr>
              <a:t>Problem:</a:t>
            </a:r>
            <a:r>
              <a:rPr lang="en" sz="1200">
                <a:solidFill>
                  <a:schemeClr val="dk1"/>
                </a:solidFill>
                <a:latin typeface="Livvic"/>
                <a:ea typeface="Livvic"/>
                <a:cs typeface="Livvic"/>
                <a:sym typeface="Livvic"/>
              </a:rPr>
              <a:t> Using the model on firms that are not similar to the ones it was trained on (e.g., small businesses, finance firms).</a:t>
            </a:r>
            <a:endParaRPr sz="1200">
              <a:solidFill>
                <a:schemeClr val="dk1"/>
              </a:solidFill>
              <a:latin typeface="Livvic"/>
              <a:ea typeface="Livvic"/>
              <a:cs typeface="Livvic"/>
              <a:sym typeface="Livvic"/>
            </a:endParaRPr>
          </a:p>
          <a:p>
            <a:pPr indent="-304800" lvl="0" marL="457200" rtl="0" algn="l">
              <a:lnSpc>
                <a:spcPct val="115000"/>
              </a:lnSpc>
              <a:spcBef>
                <a:spcPts val="0"/>
              </a:spcBef>
              <a:spcAft>
                <a:spcPts val="0"/>
              </a:spcAft>
              <a:buClr>
                <a:schemeClr val="dk1"/>
              </a:buClr>
              <a:buSzPts val="1200"/>
              <a:buFont typeface="Livvic"/>
              <a:buChar char="●"/>
            </a:pPr>
            <a:r>
              <a:rPr i="1" lang="en" sz="1200">
                <a:solidFill>
                  <a:schemeClr val="dk1"/>
                </a:solidFill>
                <a:latin typeface="Livvic"/>
                <a:ea typeface="Livvic"/>
                <a:cs typeface="Livvic"/>
                <a:sym typeface="Livvic"/>
              </a:rPr>
              <a:t>Mitigation:</a:t>
            </a:r>
            <a:r>
              <a:rPr lang="en" sz="1200">
                <a:solidFill>
                  <a:schemeClr val="dk1"/>
                </a:solidFill>
                <a:latin typeface="Livvic"/>
                <a:ea typeface="Livvic"/>
                <a:cs typeface="Livvic"/>
                <a:sym typeface="Livvic"/>
              </a:rPr>
              <a:t> Strict model governance and documentation to enforce that the model is only used on non-financial Italian firms with &gt; €1.5M in assets</a:t>
            </a:r>
            <a:endParaRPr sz="1200">
              <a:solidFill>
                <a:schemeClr val="dk1"/>
              </a:solidFill>
              <a:latin typeface="Livvic"/>
              <a:ea typeface="Livvic"/>
              <a:cs typeface="Livvic"/>
              <a:sym typeface="Livvic"/>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4"/>
          <p:cNvSpPr txBox="1"/>
          <p:nvPr>
            <p:ph type="title"/>
          </p:nvPr>
        </p:nvSpPr>
        <p:spPr>
          <a:xfrm>
            <a:off x="561725" y="0"/>
            <a:ext cx="7030500" cy="5514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300">
                <a:latin typeface="Livvic"/>
                <a:ea typeface="Livvic"/>
                <a:cs typeface="Livvic"/>
                <a:sym typeface="Livvic"/>
              </a:rPr>
              <a:t>Settings Where Results Should NOT Be Applied</a:t>
            </a:r>
            <a:endParaRPr b="0" sz="2300">
              <a:latin typeface="Livvic Medium"/>
              <a:ea typeface="Livvic Medium"/>
              <a:cs typeface="Livvic Medium"/>
              <a:sym typeface="Livvic Medium"/>
            </a:endParaRPr>
          </a:p>
        </p:txBody>
      </p:sp>
      <p:sp>
        <p:nvSpPr>
          <p:cNvPr id="521" name="Google Shape;521;p64"/>
          <p:cNvSpPr txBox="1"/>
          <p:nvPr/>
        </p:nvSpPr>
        <p:spPr>
          <a:xfrm>
            <a:off x="632100" y="654900"/>
            <a:ext cx="7879800" cy="406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dk1"/>
                </a:solidFill>
                <a:latin typeface="Livvic"/>
                <a:ea typeface="Livvic"/>
                <a:cs typeface="Livvic"/>
                <a:sym typeface="Livvic"/>
              </a:rPr>
              <a:t>The model's scope is very specific. Applying it outside of this scope will lead to dangerously inaccurate predictions.</a:t>
            </a:r>
            <a:endParaRPr sz="1300">
              <a:solidFill>
                <a:schemeClr val="dk1"/>
              </a:solidFill>
              <a:latin typeface="Livvic"/>
              <a:ea typeface="Livvic"/>
              <a:cs typeface="Livvic"/>
              <a:sym typeface="Livvic"/>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latin typeface="Livvic"/>
                <a:ea typeface="Livvic"/>
                <a:cs typeface="Livvic"/>
                <a:sym typeface="Livvic"/>
              </a:rPr>
              <a:t>Different Firm Types: The model was trained </a:t>
            </a:r>
            <a:r>
              <a:rPr i="1" lang="en" sz="1300">
                <a:solidFill>
                  <a:schemeClr val="dk1"/>
                </a:solidFill>
                <a:latin typeface="Livvic"/>
                <a:ea typeface="Livvic"/>
                <a:cs typeface="Livvic"/>
                <a:sym typeface="Livvic"/>
              </a:rPr>
              <a:t>only</a:t>
            </a:r>
            <a:r>
              <a:rPr lang="en" sz="1300">
                <a:solidFill>
                  <a:schemeClr val="dk1"/>
                </a:solidFill>
                <a:latin typeface="Livvic"/>
                <a:ea typeface="Livvic"/>
                <a:cs typeface="Livvic"/>
                <a:sym typeface="Livvic"/>
              </a:rPr>
              <a:t> on </a:t>
            </a:r>
            <a:r>
              <a:rPr b="1" lang="en" sz="1300">
                <a:solidFill>
                  <a:schemeClr val="dk1"/>
                </a:solidFill>
                <a:latin typeface="Livvic"/>
                <a:ea typeface="Livvic"/>
                <a:cs typeface="Livvic"/>
                <a:sym typeface="Livvic"/>
              </a:rPr>
              <a:t>non-finance/insurance firms</a:t>
            </a:r>
            <a:r>
              <a:rPr lang="en" sz="1300">
                <a:solidFill>
                  <a:schemeClr val="dk1"/>
                </a:solidFill>
                <a:latin typeface="Livvic"/>
                <a:ea typeface="Livvic"/>
                <a:cs typeface="Livvic"/>
                <a:sym typeface="Livvic"/>
              </a:rPr>
              <a:t>. It must </a:t>
            </a:r>
            <a:r>
              <a:rPr b="1" lang="en" sz="1300">
                <a:solidFill>
                  <a:schemeClr val="dk1"/>
                </a:solidFill>
                <a:latin typeface="Livvic"/>
                <a:ea typeface="Livvic"/>
                <a:cs typeface="Livvic"/>
                <a:sym typeface="Livvic"/>
              </a:rPr>
              <a:t>NOT</a:t>
            </a:r>
            <a:r>
              <a:rPr lang="en" sz="1300">
                <a:solidFill>
                  <a:schemeClr val="dk1"/>
                </a:solidFill>
                <a:latin typeface="Livvic"/>
                <a:ea typeface="Livvic"/>
                <a:cs typeface="Livvic"/>
                <a:sym typeface="Livvic"/>
              </a:rPr>
              <a:t> be used to score banks, hedge funds, or insurance companies, as their balance sheets have a completely different structure.</a:t>
            </a:r>
            <a:endParaRPr sz="1300">
              <a:solidFill>
                <a:schemeClr val="dk1"/>
              </a:solidFill>
              <a:latin typeface="Livvic"/>
              <a:ea typeface="Livvic"/>
              <a:cs typeface="Livvic"/>
              <a:sym typeface="Livvic"/>
            </a:endParaRPr>
          </a:p>
          <a:p>
            <a:pPr indent="-311150" lvl="0" marL="457200" rtl="0" algn="l">
              <a:lnSpc>
                <a:spcPct val="115000"/>
              </a:lnSpc>
              <a:spcBef>
                <a:spcPts val="1000"/>
              </a:spcBef>
              <a:spcAft>
                <a:spcPts val="0"/>
              </a:spcAft>
              <a:buClr>
                <a:schemeClr val="dk1"/>
              </a:buClr>
              <a:buSzPts val="1300"/>
              <a:buChar char="●"/>
            </a:pPr>
            <a:r>
              <a:rPr lang="en" sz="1300">
                <a:solidFill>
                  <a:schemeClr val="dk1"/>
                </a:solidFill>
                <a:latin typeface="Livvic"/>
                <a:ea typeface="Livvic"/>
                <a:cs typeface="Livvic"/>
                <a:sym typeface="Livvic"/>
              </a:rPr>
              <a:t>Different Firm Sizes: The training data </a:t>
            </a:r>
            <a:r>
              <a:rPr b="1" lang="en" sz="1300">
                <a:solidFill>
                  <a:schemeClr val="dk1"/>
                </a:solidFill>
                <a:latin typeface="Livvic"/>
                <a:ea typeface="Livvic"/>
                <a:cs typeface="Livvic"/>
                <a:sym typeface="Livvic"/>
              </a:rPr>
              <a:t>excludes firms with &lt; €1.5MM in assets</a:t>
            </a:r>
            <a:r>
              <a:rPr lang="en" sz="1300">
                <a:solidFill>
                  <a:schemeClr val="dk1"/>
                </a:solidFill>
                <a:latin typeface="Livvic"/>
                <a:ea typeface="Livvic"/>
                <a:cs typeface="Livvic"/>
                <a:sym typeface="Livvic"/>
              </a:rPr>
              <a:t>. The model must </a:t>
            </a:r>
            <a:r>
              <a:rPr b="1" lang="en" sz="1300">
                <a:solidFill>
                  <a:schemeClr val="dk1"/>
                </a:solidFill>
                <a:latin typeface="Livvic"/>
                <a:ea typeface="Livvic"/>
                <a:cs typeface="Livvic"/>
                <a:sym typeface="Livvic"/>
              </a:rPr>
              <a:t>NOT</a:t>
            </a:r>
            <a:r>
              <a:rPr lang="en" sz="1300">
                <a:solidFill>
                  <a:schemeClr val="dk1"/>
                </a:solidFill>
                <a:latin typeface="Livvic"/>
                <a:ea typeface="Livvic"/>
                <a:cs typeface="Livvic"/>
                <a:sym typeface="Livvic"/>
              </a:rPr>
              <a:t> be used for small businesses, startups, or sole proprietorships.</a:t>
            </a:r>
            <a:endParaRPr sz="1300">
              <a:solidFill>
                <a:schemeClr val="dk1"/>
              </a:solidFill>
              <a:latin typeface="Livvic"/>
              <a:ea typeface="Livvic"/>
              <a:cs typeface="Livvic"/>
              <a:sym typeface="Livvic"/>
            </a:endParaRPr>
          </a:p>
          <a:p>
            <a:pPr indent="-311150" lvl="0" marL="457200" rtl="0" algn="l">
              <a:lnSpc>
                <a:spcPct val="115000"/>
              </a:lnSpc>
              <a:spcBef>
                <a:spcPts val="1000"/>
              </a:spcBef>
              <a:spcAft>
                <a:spcPts val="0"/>
              </a:spcAft>
              <a:buClr>
                <a:schemeClr val="dk1"/>
              </a:buClr>
              <a:buSzPts val="1300"/>
              <a:buChar char="●"/>
            </a:pPr>
            <a:r>
              <a:rPr lang="en" sz="1300">
                <a:solidFill>
                  <a:schemeClr val="dk1"/>
                </a:solidFill>
                <a:latin typeface="Livvic"/>
                <a:ea typeface="Livvic"/>
                <a:cs typeface="Livvic"/>
                <a:sym typeface="Livvic"/>
              </a:rPr>
              <a:t>Different Geographies: The model is trained on </a:t>
            </a:r>
            <a:r>
              <a:rPr b="1" lang="en" sz="1300">
                <a:solidFill>
                  <a:schemeClr val="dk1"/>
                </a:solidFill>
                <a:latin typeface="Livvic"/>
                <a:ea typeface="Livvic"/>
                <a:cs typeface="Livvic"/>
                <a:sym typeface="Livvic"/>
              </a:rPr>
              <a:t>Italian firms</a:t>
            </a:r>
            <a:r>
              <a:rPr lang="en" sz="1300">
                <a:solidFill>
                  <a:schemeClr val="dk1"/>
                </a:solidFill>
                <a:latin typeface="Livvic"/>
                <a:ea typeface="Livvic"/>
                <a:cs typeface="Livvic"/>
                <a:sym typeface="Livvic"/>
              </a:rPr>
              <a:t>. The financial relationships it learned are specific to the Italian economy and regulatory environment. It must </a:t>
            </a:r>
            <a:r>
              <a:rPr b="1" lang="en" sz="1300">
                <a:solidFill>
                  <a:schemeClr val="dk1"/>
                </a:solidFill>
                <a:latin typeface="Livvic"/>
                <a:ea typeface="Livvic"/>
                <a:cs typeface="Livvic"/>
                <a:sym typeface="Livvic"/>
              </a:rPr>
              <a:t>NOT</a:t>
            </a:r>
            <a:r>
              <a:rPr lang="en" sz="1300">
                <a:solidFill>
                  <a:schemeClr val="dk1"/>
                </a:solidFill>
                <a:latin typeface="Livvic"/>
                <a:ea typeface="Livvic"/>
                <a:cs typeface="Livvic"/>
                <a:sym typeface="Livvic"/>
              </a:rPr>
              <a:t> be deployed in other countries (e.g., Germany or the US) without being completely retrained on local data.</a:t>
            </a:r>
            <a:endParaRPr sz="1300">
              <a:solidFill>
                <a:schemeClr val="dk1"/>
              </a:solidFill>
              <a:latin typeface="Livvic"/>
              <a:ea typeface="Livvic"/>
              <a:cs typeface="Livvic"/>
              <a:sym typeface="Livvic"/>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latin typeface="Livvic"/>
                <a:ea typeface="Livvic"/>
                <a:cs typeface="Livvic"/>
                <a:sym typeface="Livvic"/>
              </a:rPr>
              <a:t>Different Loan Products:</a:t>
            </a:r>
            <a:r>
              <a:rPr lang="en" sz="1300">
                <a:solidFill>
                  <a:schemeClr val="dk1"/>
                </a:solidFill>
                <a:latin typeface="Livvic"/>
                <a:ea typeface="Livvic"/>
                <a:cs typeface="Livvic"/>
                <a:sym typeface="Livvic"/>
              </a:rPr>
              <a:t> The model predicts a </a:t>
            </a:r>
            <a:r>
              <a:rPr b="1" lang="en" sz="1300">
                <a:solidFill>
                  <a:schemeClr val="dk1"/>
                </a:solidFill>
                <a:latin typeface="Livvic"/>
                <a:ea typeface="Livvic"/>
                <a:cs typeface="Livvic"/>
                <a:sym typeface="Livvic"/>
              </a:rPr>
              <a:t>12-month</a:t>
            </a:r>
            <a:r>
              <a:rPr lang="en" sz="1300">
                <a:solidFill>
                  <a:schemeClr val="dk1"/>
                </a:solidFill>
                <a:latin typeface="Livvic"/>
                <a:ea typeface="Livvic"/>
                <a:cs typeface="Livvic"/>
                <a:sym typeface="Livvic"/>
              </a:rPr>
              <a:t> default event. It must </a:t>
            </a:r>
            <a:r>
              <a:rPr b="1" lang="en" sz="1300">
                <a:solidFill>
                  <a:schemeClr val="dk1"/>
                </a:solidFill>
                <a:latin typeface="Livvic"/>
                <a:ea typeface="Livvic"/>
                <a:cs typeface="Livvic"/>
                <a:sym typeface="Livvic"/>
              </a:rPr>
              <a:t>NOT</a:t>
            </a:r>
            <a:r>
              <a:rPr lang="en" sz="1300">
                <a:solidFill>
                  <a:schemeClr val="dk1"/>
                </a:solidFill>
                <a:latin typeface="Livvic"/>
                <a:ea typeface="Livvic"/>
                <a:cs typeface="Livvic"/>
                <a:sym typeface="Livvic"/>
              </a:rPr>
              <a:t> be used for other products, such as 30-day trade financing, revolving credit lines, or 5-year mortgages, which have different risk horizons</a:t>
            </a:r>
            <a:endParaRPr sz="1300">
              <a:solidFill>
                <a:schemeClr val="dk1"/>
              </a:solidFill>
              <a:latin typeface="Livvic"/>
              <a:ea typeface="Livvic"/>
              <a:cs typeface="Livvic"/>
              <a:sym typeface="Livvic"/>
            </a:endParaRPr>
          </a:p>
          <a:p>
            <a:pPr indent="0" lvl="0" marL="0" rtl="0" algn="l">
              <a:lnSpc>
                <a:spcPct val="115000"/>
              </a:lnSpc>
              <a:spcBef>
                <a:spcPts val="1200"/>
              </a:spcBef>
              <a:spcAft>
                <a:spcPts val="1200"/>
              </a:spcAft>
              <a:buNone/>
            </a:pPr>
            <a:r>
              <a:t/>
            </a:r>
            <a:endParaRPr sz="1100">
              <a:solidFill>
                <a:schemeClr val="dk1"/>
              </a:solidFill>
              <a:latin typeface="Livvic"/>
              <a:ea typeface="Livvic"/>
              <a:cs typeface="Livvic"/>
              <a:sym typeface="Livvic"/>
            </a:endParaRPr>
          </a:p>
        </p:txBody>
      </p:sp>
      <p:grpSp>
        <p:nvGrpSpPr>
          <p:cNvPr id="522" name="Google Shape;522;p64"/>
          <p:cNvGrpSpPr/>
          <p:nvPr/>
        </p:nvGrpSpPr>
        <p:grpSpPr>
          <a:xfrm rot="-5400000">
            <a:off x="7863569" y="-253117"/>
            <a:ext cx="1503213" cy="1057636"/>
            <a:chOff x="5539150" y="3176875"/>
            <a:chExt cx="2029449" cy="1427308"/>
          </a:xfrm>
        </p:grpSpPr>
        <p:sp>
          <p:nvSpPr>
            <p:cNvPr id="523" name="Google Shape;523;p64"/>
            <p:cNvSpPr/>
            <p:nvPr/>
          </p:nvSpPr>
          <p:spPr>
            <a:xfrm flipH="1" rot="-5400000">
              <a:off x="6844880" y="3880443"/>
              <a:ext cx="849332" cy="598104"/>
            </a:xfrm>
            <a:custGeom>
              <a:rect b="b" l="l" r="r" t="t"/>
              <a:pathLst>
                <a:path extrusionOk="0" h="23817" w="47635">
                  <a:moveTo>
                    <a:pt x="1" y="0"/>
                  </a:moveTo>
                  <a:lnTo>
                    <a:pt x="1" y="23817"/>
                  </a:lnTo>
                  <a:lnTo>
                    <a:pt x="47634" y="23817"/>
                  </a:lnTo>
                  <a:lnTo>
                    <a:pt x="47634" y="0"/>
                  </a:lnTo>
                  <a:close/>
                </a:path>
              </a:pathLst>
            </a:custGeom>
            <a:gradFill>
              <a:gsLst>
                <a:gs pos="0">
                  <a:srgbClr val="174B67">
                    <a:alpha val="34901"/>
                  </a:srgbClr>
                </a:gs>
                <a:gs pos="100000">
                  <a:srgbClr val="174B67">
                    <a:alpha val="5882"/>
                  </a:srgbClr>
                </a:gs>
              </a:gsLst>
              <a:lin ang="5400700" scaled="0"/>
            </a:gradFill>
            <a:ln>
              <a:noFill/>
            </a:ln>
          </p:spPr>
          <p:txBody>
            <a:bodyPr anchorCtr="0" anchor="ctr" bIns="60150" lIns="60150" spcFirstLastPara="1" rIns="60150" wrap="square" tIns="60150">
              <a:noAutofit/>
            </a:bodyPr>
            <a:lstStyle/>
            <a:p>
              <a:pPr indent="0" lvl="0" marL="0" rtl="0" algn="l">
                <a:spcBef>
                  <a:spcPts val="0"/>
                </a:spcBef>
                <a:spcAft>
                  <a:spcPts val="0"/>
                </a:spcAft>
                <a:buNone/>
              </a:pPr>
              <a:r>
                <a:t/>
              </a:r>
              <a:endParaRPr/>
            </a:p>
          </p:txBody>
        </p:sp>
        <p:sp>
          <p:nvSpPr>
            <p:cNvPr id="524" name="Google Shape;524;p64"/>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60150" lIns="60150" spcFirstLastPara="1" rIns="60150" wrap="square" tIns="60150">
              <a:noAutofit/>
            </a:bodyPr>
            <a:lstStyle/>
            <a:p>
              <a:pPr indent="0" lvl="0" marL="0" rtl="0" algn="l">
                <a:spcBef>
                  <a:spcPts val="0"/>
                </a:spcBef>
                <a:spcAft>
                  <a:spcPts val="0"/>
                </a:spcAft>
                <a:buNone/>
              </a:pPr>
              <a:r>
                <a:t/>
              </a:r>
              <a:endParaRPr/>
            </a:p>
          </p:txBody>
        </p:sp>
        <p:sp>
          <p:nvSpPr>
            <p:cNvPr id="525" name="Google Shape;525;p64"/>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1"/>
                  </a:srgbClr>
                </a:gs>
                <a:gs pos="100000">
                  <a:srgbClr val="174B67">
                    <a:alpha val="25882"/>
                  </a:srgbClr>
                </a:gs>
              </a:gsLst>
              <a:lin ang="2700006" scaled="0"/>
            </a:gradFill>
            <a:ln>
              <a:noFill/>
            </a:ln>
          </p:spPr>
          <p:txBody>
            <a:bodyPr anchorCtr="0" anchor="ctr" bIns="60150" lIns="60150" spcFirstLastPara="1" rIns="60150" wrap="square" tIns="60150">
              <a:noAutofit/>
            </a:bodyPr>
            <a:lstStyle/>
            <a:p>
              <a:pPr indent="0" lvl="0" marL="0" rtl="0" algn="l">
                <a:spcBef>
                  <a:spcPts val="0"/>
                </a:spcBef>
                <a:spcAft>
                  <a:spcPts val="0"/>
                </a:spcAft>
                <a:buNone/>
              </a:pPr>
              <a:r>
                <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5"/>
          <p:cNvSpPr/>
          <p:nvPr/>
        </p:nvSpPr>
        <p:spPr>
          <a:xfrm>
            <a:off x="204100" y="4320900"/>
            <a:ext cx="8488800" cy="667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531" name="Google Shape;531;p65"/>
          <p:cNvSpPr txBox="1"/>
          <p:nvPr>
            <p:ph type="title"/>
          </p:nvPr>
        </p:nvSpPr>
        <p:spPr>
          <a:xfrm>
            <a:off x="451200" y="116000"/>
            <a:ext cx="8241600" cy="496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800">
                <a:latin typeface="Livvic"/>
                <a:ea typeface="Livvic"/>
                <a:cs typeface="Livvic"/>
                <a:sym typeface="Livvic"/>
              </a:rPr>
              <a:t>TEAM LAVENDER CONTRIBUTIONS APPENDIX</a:t>
            </a:r>
            <a:endParaRPr sz="2800">
              <a:latin typeface="Livvic"/>
              <a:ea typeface="Livvic"/>
              <a:cs typeface="Livvic"/>
              <a:sym typeface="Livvic"/>
            </a:endParaRPr>
          </a:p>
        </p:txBody>
      </p:sp>
      <p:sp>
        <p:nvSpPr>
          <p:cNvPr id="532" name="Google Shape;532;p65"/>
          <p:cNvSpPr txBox="1"/>
          <p:nvPr/>
        </p:nvSpPr>
        <p:spPr>
          <a:xfrm>
            <a:off x="580350" y="767000"/>
            <a:ext cx="7837500" cy="4053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MUSTAFA POONAWALA (msp9471) - Lead Responsibilities: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2:</a:t>
            </a:r>
            <a:r>
              <a:rPr lang="en" sz="1100">
                <a:solidFill>
                  <a:schemeClr val="dk1"/>
                </a:solidFill>
                <a:latin typeface="Livvic"/>
                <a:ea typeface="Livvic"/>
                <a:cs typeface="Livvic"/>
                <a:sym typeface="Livvic"/>
              </a:rPr>
              <a:t> Problem Formulation (target definition, temporal structuring, feature engineering strategy)</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3:</a:t>
            </a:r>
            <a:r>
              <a:rPr lang="en" sz="1100">
                <a:solidFill>
                  <a:schemeClr val="dk1"/>
                </a:solidFill>
                <a:latin typeface="Livvic"/>
                <a:ea typeface="Livvic"/>
                <a:cs typeface="Livvic"/>
                <a:sym typeface="Livvic"/>
              </a:rPr>
              <a:t> Data Understanding (EDA, data quality analysis, bias assessment, visualization suite)</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4: </a:t>
            </a:r>
            <a:r>
              <a:rPr lang="en" sz="1100">
                <a:solidFill>
                  <a:schemeClr val="dk1"/>
                </a:solidFill>
                <a:latin typeface="Livvic"/>
                <a:ea typeface="Livvic"/>
                <a:cs typeface="Livvic"/>
                <a:sym typeface="Livvic"/>
              </a:rPr>
              <a:t>Data Preparation (preprocessing pipeline, accounting reconstructions, 19→12 feature selection)</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Technical:</a:t>
            </a:r>
            <a:r>
              <a:rPr lang="en" sz="1100">
                <a:solidFill>
                  <a:schemeClr val="dk1"/>
                </a:solidFill>
                <a:latin typeface="Livvic"/>
                <a:ea typeface="Livvic"/>
                <a:cs typeface="Livvic"/>
                <a:sym typeface="Livvic"/>
              </a:rPr>
              <a:t> XGBoost architecture, hyperparameter optimization, walk-forward validation framework</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Code:</a:t>
            </a:r>
            <a:r>
              <a:rPr lang="en" sz="1100">
                <a:solidFill>
                  <a:schemeClr val="dk1"/>
                </a:solidFill>
                <a:latin typeface="Livvic"/>
                <a:ea typeface="Livvic"/>
                <a:cs typeface="Livvic"/>
                <a:sym typeface="Livvic"/>
              </a:rPr>
              <a:t> preprocessing.py (50%), estimator.py (60%), default_flag.py (100%),  harness.py(30%)</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YASH JADHAV (yj3076) - Lead Responsibilities: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5:</a:t>
            </a:r>
            <a:r>
              <a:rPr lang="en" sz="1100">
                <a:solidFill>
                  <a:schemeClr val="dk1"/>
                </a:solidFill>
                <a:latin typeface="Livvic"/>
                <a:ea typeface="Livvic"/>
                <a:cs typeface="Livvic"/>
                <a:sym typeface="Livvic"/>
              </a:rPr>
              <a:t> Modeling (two-stage pipeline design, algorithm comparison, economic intuition analysis)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6:</a:t>
            </a:r>
            <a:r>
              <a:rPr lang="en" sz="1100">
                <a:solidFill>
                  <a:schemeClr val="dk1"/>
                </a:solidFill>
                <a:latin typeface="Livvic"/>
                <a:ea typeface="Livvic"/>
                <a:cs typeface="Livvic"/>
                <a:sym typeface="Livvic"/>
              </a:rPr>
              <a:t> Evaluation (walk-forward methodology, bootstrap CI, benchmark analysis, ROC curves)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7: </a:t>
            </a:r>
            <a:r>
              <a:rPr lang="en" sz="1100">
                <a:solidFill>
                  <a:schemeClr val="dk1"/>
                </a:solidFill>
                <a:latin typeface="Livvic"/>
                <a:ea typeface="Livvic"/>
                <a:cs typeface="Livvic"/>
                <a:sym typeface="Livvic"/>
              </a:rPr>
              <a:t>Deployment &amp; Business Case (ROI calculation, risk mitigation, deployment pipeline, ethics)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Technical:</a:t>
            </a:r>
            <a:r>
              <a:rPr lang="en" sz="1100">
                <a:solidFill>
                  <a:schemeClr val="dk1"/>
                </a:solidFill>
                <a:latin typeface="Livvic"/>
                <a:ea typeface="Livvic"/>
                <a:cs typeface="Livvic"/>
                <a:sym typeface="Livvic"/>
              </a:rPr>
              <a:t> Isotonic calibration research/implementation, bootstrap methodology, 3-way data split</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Code:</a:t>
            </a:r>
            <a:r>
              <a:rPr lang="en" sz="1100">
                <a:solidFill>
                  <a:schemeClr val="dk1"/>
                </a:solidFill>
                <a:latin typeface="Livvic"/>
                <a:ea typeface="Livvic"/>
                <a:cs typeface="Livvic"/>
                <a:sym typeface="Livvic"/>
              </a:rPr>
              <a:t> </a:t>
            </a:r>
            <a:r>
              <a:rPr lang="en" sz="1100">
                <a:solidFill>
                  <a:schemeClr val="dk1"/>
                </a:solidFill>
                <a:latin typeface="Livvic"/>
                <a:ea typeface="Livvic"/>
                <a:cs typeface="Livvic"/>
                <a:sym typeface="Livvic"/>
              </a:rPr>
              <a:t> preprocessing.py (50%), </a:t>
            </a:r>
            <a:r>
              <a:rPr lang="en" sz="1100">
                <a:solidFill>
                  <a:schemeClr val="dk1"/>
                </a:solidFill>
                <a:latin typeface="Livvic"/>
                <a:ea typeface="Livvic"/>
                <a:cs typeface="Livvic"/>
                <a:sym typeface="Livvic"/>
              </a:rPr>
              <a:t>predictor.py (100%), harness.py (70%).estimator(40%)</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JOINT CONTRIBUTIONS (Equal Collaboration):</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Section 1</a:t>
            </a:r>
            <a:r>
              <a:rPr lang="en" sz="1100">
                <a:solidFill>
                  <a:schemeClr val="dk1"/>
                </a:solidFill>
                <a:latin typeface="Livvic"/>
                <a:ea typeface="Livvic"/>
                <a:cs typeface="Livvic"/>
                <a:sym typeface="Livvic"/>
              </a:rPr>
              <a:t>: Business Understanding (three-problem framework, regulatory context, stakeholder analysis)</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Literature Review</a:t>
            </a:r>
            <a:r>
              <a:rPr lang="en" sz="1100">
                <a:solidFill>
                  <a:schemeClr val="dk1"/>
                </a:solidFill>
                <a:latin typeface="Livvic"/>
                <a:ea typeface="Livvic"/>
                <a:cs typeface="Livvic"/>
                <a:sym typeface="Livvic"/>
              </a:rPr>
              <a:t>: Financial theory integration (Altman, Ohlson, Beaver), ACPMIP methodology</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Presentation</a:t>
            </a:r>
            <a:r>
              <a:rPr lang="en" sz="1100">
                <a:solidFill>
                  <a:schemeClr val="dk1"/>
                </a:solidFill>
                <a:latin typeface="Livvic"/>
                <a:ea typeface="Livvic"/>
                <a:cs typeface="Livvic"/>
                <a:sym typeface="Livvic"/>
              </a:rPr>
              <a:t>: All slide design, narrative flow, figures, executive summary, final integration</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Model Selection: </a:t>
            </a:r>
            <a:r>
              <a:rPr lang="en" sz="1100">
                <a:solidFill>
                  <a:schemeClr val="dk1"/>
                </a:solidFill>
                <a:latin typeface="Livvic"/>
                <a:ea typeface="Livvic"/>
                <a:cs typeface="Livvic"/>
                <a:sym typeface="Livvic"/>
              </a:rPr>
              <a:t>Algorithm evaluation, validation strategy, calibration approach, hyperparameter tuning</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rPr lang="en" sz="1100">
                <a:solidFill>
                  <a:schemeClr val="dk1"/>
                </a:solidFill>
                <a:latin typeface="Livvic"/>
                <a:ea typeface="Livvic"/>
                <a:cs typeface="Livvic"/>
                <a:sym typeface="Livvic"/>
              </a:rPr>
              <a:t>• </a:t>
            </a:r>
            <a:r>
              <a:rPr b="1" lang="en" sz="1100">
                <a:solidFill>
                  <a:schemeClr val="dk1"/>
                </a:solidFill>
                <a:latin typeface="Livvic"/>
                <a:ea typeface="Livvic"/>
                <a:cs typeface="Livvic"/>
                <a:sym typeface="Livvic"/>
              </a:rPr>
              <a:t>Quality Assurance</a:t>
            </a:r>
            <a:r>
              <a:rPr lang="en" sz="1100">
                <a:solidFill>
                  <a:schemeClr val="dk1"/>
                </a:solidFill>
                <a:latin typeface="Livvic"/>
                <a:ea typeface="Livvic"/>
                <a:cs typeface="Livvic"/>
                <a:sym typeface="Livvic"/>
              </a:rPr>
              <a:t>: Code review, testing, debugging, documentation, final deliverable review</a:t>
            </a:r>
            <a:endParaRPr sz="1100">
              <a:solidFill>
                <a:schemeClr val="dk1"/>
              </a:solidFill>
              <a:latin typeface="Livvic"/>
              <a:ea typeface="Livvic"/>
              <a:cs typeface="Livvic"/>
              <a:sym typeface="Livvic"/>
            </a:endParaRPr>
          </a:p>
        </p:txBody>
      </p:sp>
      <p:sp>
        <p:nvSpPr>
          <p:cNvPr id="533" name="Google Shape;533;p65"/>
          <p:cNvSpPr txBox="1"/>
          <p:nvPr/>
        </p:nvSpPr>
        <p:spPr>
          <a:xfrm>
            <a:off x="204100" y="3374425"/>
            <a:ext cx="7407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latin typeface="Livvic"/>
              <a:ea typeface="Livvic"/>
              <a:cs typeface="Livvic"/>
              <a:sym typeface="Livvic"/>
            </a:endParaRPr>
          </a:p>
          <a:p>
            <a:pPr indent="0" lvl="0" marL="0" rtl="0" algn="l">
              <a:lnSpc>
                <a:spcPct val="115000"/>
              </a:lnSpc>
              <a:spcBef>
                <a:spcPts val="0"/>
              </a:spcBef>
              <a:spcAft>
                <a:spcPts val="0"/>
              </a:spcAft>
              <a:buNone/>
            </a:pPr>
            <a:r>
              <a:t/>
            </a:r>
            <a:endParaRPr sz="1100">
              <a:solidFill>
                <a:schemeClr val="dk1"/>
              </a:solidFill>
              <a:latin typeface="Livvic"/>
              <a:ea typeface="Livvic"/>
              <a:cs typeface="Livvic"/>
              <a:sym typeface="Livvic"/>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6"/>
          <p:cNvSpPr/>
          <p:nvPr/>
        </p:nvSpPr>
        <p:spPr>
          <a:xfrm>
            <a:off x="71450" y="4369600"/>
            <a:ext cx="9072600" cy="476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539" name="Google Shape;539;p66"/>
          <p:cNvSpPr txBox="1"/>
          <p:nvPr>
            <p:ph type="title"/>
          </p:nvPr>
        </p:nvSpPr>
        <p:spPr>
          <a:xfrm>
            <a:off x="633175" y="0"/>
            <a:ext cx="7030500" cy="5514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lang="en" sz="2800">
                <a:latin typeface="Livvic"/>
                <a:ea typeface="Livvic"/>
                <a:cs typeface="Livvic"/>
                <a:sym typeface="Livvic"/>
              </a:rPr>
              <a:t>References</a:t>
            </a:r>
            <a:endParaRPr b="0" sz="2800">
              <a:latin typeface="Poppins Medium"/>
              <a:ea typeface="Poppins Medium"/>
              <a:cs typeface="Poppins Medium"/>
              <a:sym typeface="Poppins Medium"/>
            </a:endParaRPr>
          </a:p>
        </p:txBody>
      </p:sp>
      <p:sp>
        <p:nvSpPr>
          <p:cNvPr id="540" name="Google Shape;540;p66"/>
          <p:cNvSpPr txBox="1"/>
          <p:nvPr/>
        </p:nvSpPr>
        <p:spPr>
          <a:xfrm>
            <a:off x="216450" y="551400"/>
            <a:ext cx="8866200" cy="36642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None/>
            </a:pPr>
            <a:r>
              <a:rPr b="1" lang="en" sz="1100">
                <a:solidFill>
                  <a:schemeClr val="dk1"/>
                </a:solidFill>
                <a:latin typeface="Livvic"/>
                <a:ea typeface="Livvic"/>
                <a:cs typeface="Livvic"/>
                <a:sym typeface="Livvic"/>
              </a:rPr>
              <a:t>Academic Literature - Finance:</a:t>
            </a:r>
            <a:endParaRPr b="1"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[1] Altman, E. I. (1968). Financial ratios, discriminant analysis and the prediction of corporate bankruptcy. The Journal of Finance, 23(4), 589-609.</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[2] Beaver, W. H. (1966). Financial ratios as predictors of failure. Journal of Accounting Research, 4, 71-111.</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[3] Ohlson, J. A. (1980). Financial ratios and the probabilistic prediction of bankruptcy. Journal of Accounting Research, 18(1), 109-131.</a:t>
            </a:r>
            <a:endParaRPr sz="1100">
              <a:solidFill>
                <a:schemeClr val="dk1"/>
              </a:solidFill>
              <a:latin typeface="Livvic"/>
              <a:ea typeface="Livvic"/>
              <a:cs typeface="Livvic"/>
              <a:sym typeface="Livvic"/>
            </a:endParaRPr>
          </a:p>
          <a:p>
            <a:pPr indent="342900" lvl="0" marL="114300" rtl="0" algn="l">
              <a:lnSpc>
                <a:spcPct val="115000"/>
              </a:lnSpc>
              <a:spcBef>
                <a:spcPts val="0"/>
              </a:spcBef>
              <a:spcAft>
                <a:spcPts val="0"/>
              </a:spcAft>
              <a:buNone/>
            </a:pPr>
            <a:r>
              <a:rPr b="1" lang="en" sz="1100">
                <a:solidFill>
                  <a:schemeClr val="dk1"/>
                </a:solidFill>
                <a:latin typeface="Livvic"/>
                <a:ea typeface="Livvic"/>
                <a:cs typeface="Livvic"/>
                <a:sym typeface="Livvic"/>
              </a:rPr>
              <a:t>Academic Literature - Machine Learning:</a:t>
            </a:r>
            <a:endParaRPr b="1"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[4] Lessmann, S., Baesens, B., Seow, H. V., &amp; Thomas, L. C. (2015). Benchmarking state-of-the-art classification algorithms for credit scoring: An update of research. European Journal of Operational Research, 247(1), 124-136.</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[5] Elkan, C. (2001). The foundations of cost-sensitive learning. International Joint Conference on Artificial Intelligence, 17(1), 973-978.</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Industry References:</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[6] Morini, M. &amp; Ruiz, A. (Eds.). (2010). Active Credit Portfolio Management in Practice. Wiley Finance.</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    - Chapter 4 (pp. 215-226): Calibration methodology</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    - Chapter 7 (pp. 380-392): Model validation</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[7] Edelberg, W. (2006). Risk-based pricing of interest rates in household loan markets. Journal of Monetary Economics, 53(8), 2283-2298.</a:t>
            </a:r>
            <a:endParaRPr sz="1100">
              <a:solidFill>
                <a:schemeClr val="dk1"/>
              </a:solidFill>
              <a:latin typeface="Livvic"/>
              <a:ea typeface="Livvic"/>
              <a:cs typeface="Livvic"/>
              <a:sym typeface="Livvic"/>
            </a:endParaRPr>
          </a:p>
          <a:p>
            <a:pPr indent="342900" lvl="0" marL="114300" rtl="0" algn="l">
              <a:lnSpc>
                <a:spcPct val="115000"/>
              </a:lnSpc>
              <a:spcBef>
                <a:spcPts val="0"/>
              </a:spcBef>
              <a:spcAft>
                <a:spcPts val="0"/>
              </a:spcAft>
              <a:buNone/>
            </a:pPr>
            <a:r>
              <a:rPr b="1" lang="en" sz="1100">
                <a:solidFill>
                  <a:schemeClr val="dk1"/>
                </a:solidFill>
                <a:latin typeface="Livvic"/>
                <a:ea typeface="Livvic"/>
                <a:cs typeface="Livvic"/>
                <a:sym typeface="Livvic"/>
              </a:rPr>
              <a:t>Regulatory Framework:</a:t>
            </a:r>
            <a:endParaRPr b="1"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[8] International Financial Reporting Standards (IFRS) 9: Financial Instruments (2014). International Accounting Standards Board.</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[9] Basel Committee on Banking Supervision (2017). Basel III: Finalising post-crisis reforms. Bank for International Settlements.</a:t>
            </a:r>
            <a:endParaRPr sz="1100">
              <a:solidFill>
                <a:schemeClr val="dk1"/>
              </a:solidFill>
              <a:latin typeface="Livvic"/>
              <a:ea typeface="Livvic"/>
              <a:cs typeface="Livvic"/>
              <a:sym typeface="Livvic"/>
            </a:endParaRPr>
          </a:p>
          <a:p>
            <a:pPr indent="0" lvl="0" marL="114300" rtl="0" algn="l">
              <a:lnSpc>
                <a:spcPct val="115000"/>
              </a:lnSpc>
              <a:spcBef>
                <a:spcPts val="0"/>
              </a:spcBef>
              <a:spcAft>
                <a:spcPts val="0"/>
              </a:spcAft>
              <a:buNone/>
            </a:pPr>
            <a:r>
              <a:rPr lang="en" sz="1100">
                <a:solidFill>
                  <a:schemeClr val="dk1"/>
                </a:solidFill>
                <a:latin typeface="Livvic"/>
                <a:ea typeface="Livvic"/>
                <a:cs typeface="Livvic"/>
                <a:sym typeface="Livvic"/>
              </a:rPr>
              <a:t>[10] https://italianbusinessregister.it/en/annual-accounts</a:t>
            </a:r>
            <a:endParaRPr sz="1100">
              <a:solidFill>
                <a:schemeClr val="dk1"/>
              </a:solidFill>
              <a:latin typeface="Livvic"/>
              <a:ea typeface="Livvic"/>
              <a:cs typeface="Livvic"/>
              <a:sym typeface="Livv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7"/>
          <p:cNvSpPr/>
          <p:nvPr/>
        </p:nvSpPr>
        <p:spPr>
          <a:xfrm>
            <a:off x="3672222" y="3121925"/>
            <a:ext cx="466200" cy="466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7"/>
          <p:cNvSpPr/>
          <p:nvPr/>
        </p:nvSpPr>
        <p:spPr>
          <a:xfrm>
            <a:off x="4252567" y="3121925"/>
            <a:ext cx="466200" cy="466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7"/>
          <p:cNvSpPr/>
          <p:nvPr/>
        </p:nvSpPr>
        <p:spPr>
          <a:xfrm>
            <a:off x="4832913" y="3121925"/>
            <a:ext cx="466200" cy="466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7"/>
          <p:cNvSpPr txBox="1"/>
          <p:nvPr>
            <p:ph idx="1" type="subTitle"/>
          </p:nvPr>
        </p:nvSpPr>
        <p:spPr>
          <a:xfrm>
            <a:off x="2998200" y="1794116"/>
            <a:ext cx="4892400" cy="39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Any questions?</a:t>
            </a:r>
            <a:endParaRPr/>
          </a:p>
        </p:txBody>
      </p:sp>
      <p:sp>
        <p:nvSpPr>
          <p:cNvPr id="549" name="Google Shape;549;p67"/>
          <p:cNvSpPr txBox="1"/>
          <p:nvPr>
            <p:ph idx="2" type="subTitle"/>
          </p:nvPr>
        </p:nvSpPr>
        <p:spPr>
          <a:xfrm>
            <a:off x="2998200" y="2198653"/>
            <a:ext cx="4892400" cy="74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youremail@freepik.com </a:t>
            </a:r>
            <a:endParaRPr/>
          </a:p>
          <a:p>
            <a:pPr indent="0" lvl="0" marL="0" rtl="0" algn="l">
              <a:spcBef>
                <a:spcPts val="0"/>
              </a:spcBef>
              <a:spcAft>
                <a:spcPts val="0"/>
              </a:spcAft>
              <a:buClr>
                <a:schemeClr val="dk1"/>
              </a:buClr>
              <a:buSzPts val="1100"/>
              <a:buFont typeface="Arial"/>
              <a:buNone/>
            </a:pPr>
            <a:r>
              <a:rPr lang="en"/>
              <a:t>+91  620 421 838 </a:t>
            </a:r>
            <a:endParaRPr/>
          </a:p>
          <a:p>
            <a:pPr indent="0" lvl="0" marL="0" rtl="0" algn="l">
              <a:spcBef>
                <a:spcPts val="0"/>
              </a:spcBef>
              <a:spcAft>
                <a:spcPts val="0"/>
              </a:spcAft>
              <a:buClr>
                <a:schemeClr val="dk1"/>
              </a:buClr>
              <a:buSzPts val="1100"/>
              <a:buFont typeface="Arial"/>
              <a:buNone/>
            </a:pPr>
            <a:r>
              <a:rPr lang="en"/>
              <a:t>yourwebsite.com</a:t>
            </a:r>
            <a:endParaRPr/>
          </a:p>
        </p:txBody>
      </p:sp>
      <p:sp>
        <p:nvSpPr>
          <p:cNvPr id="550" name="Google Shape;550;p67"/>
          <p:cNvSpPr txBox="1"/>
          <p:nvPr>
            <p:ph idx="3" type="subTitle"/>
          </p:nvPr>
        </p:nvSpPr>
        <p:spPr>
          <a:xfrm>
            <a:off x="2998200" y="4218175"/>
            <a:ext cx="4892400" cy="385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Please keep this slide for attribution</a:t>
            </a:r>
            <a:endParaRPr/>
          </a:p>
        </p:txBody>
      </p:sp>
      <p:grpSp>
        <p:nvGrpSpPr>
          <p:cNvPr id="551" name="Google Shape;551;p67"/>
          <p:cNvGrpSpPr/>
          <p:nvPr/>
        </p:nvGrpSpPr>
        <p:grpSpPr>
          <a:xfrm>
            <a:off x="3764278" y="3216345"/>
            <a:ext cx="277175" cy="277175"/>
            <a:chOff x="3368074" y="3882537"/>
            <a:chExt cx="215298" cy="215298"/>
          </a:xfrm>
        </p:grpSpPr>
        <p:sp>
          <p:nvSpPr>
            <p:cNvPr id="552" name="Google Shape;552;p67"/>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7"/>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7"/>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 name="Google Shape;555;p67"/>
          <p:cNvGrpSpPr/>
          <p:nvPr/>
        </p:nvGrpSpPr>
        <p:grpSpPr>
          <a:xfrm>
            <a:off x="4352188" y="3226098"/>
            <a:ext cx="267914" cy="239598"/>
            <a:chOff x="3824739" y="3890112"/>
            <a:chExt cx="208105" cy="186110"/>
          </a:xfrm>
        </p:grpSpPr>
        <p:sp>
          <p:nvSpPr>
            <p:cNvPr id="556" name="Google Shape;556;p67"/>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7"/>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7"/>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 name="Google Shape;559;p67"/>
          <p:cNvSpPr/>
          <p:nvPr/>
        </p:nvSpPr>
        <p:spPr>
          <a:xfrm>
            <a:off x="4927399" y="3244741"/>
            <a:ext cx="292743" cy="239104"/>
          </a:xfrm>
          <a:custGeom>
            <a:rect b="b" l="l" r="r" t="t"/>
            <a:pathLst>
              <a:path extrusionOk="0" h="5835" w="7144">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7"/>
          <p:cNvSpPr/>
          <p:nvPr/>
        </p:nvSpPr>
        <p:spPr>
          <a:xfrm>
            <a:off x="3091877" y="3121925"/>
            <a:ext cx="466200" cy="4662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1" name="Google Shape;561;p67"/>
          <p:cNvGrpSpPr/>
          <p:nvPr/>
        </p:nvGrpSpPr>
        <p:grpSpPr>
          <a:xfrm>
            <a:off x="3155942" y="3226221"/>
            <a:ext cx="338150" cy="257546"/>
            <a:chOff x="5590763" y="3890208"/>
            <a:chExt cx="262661" cy="200052"/>
          </a:xfrm>
        </p:grpSpPr>
        <p:sp>
          <p:nvSpPr>
            <p:cNvPr id="562" name="Google Shape;562;p67"/>
            <p:cNvSpPr/>
            <p:nvPr/>
          </p:nvSpPr>
          <p:spPr>
            <a:xfrm>
              <a:off x="5590763" y="3890208"/>
              <a:ext cx="262661" cy="200052"/>
            </a:xfrm>
            <a:custGeom>
              <a:rect b="b" l="l" r="r" t="t"/>
              <a:pathLst>
                <a:path extrusionOk="0" h="6285" w="8252">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7"/>
            <p:cNvSpPr/>
            <p:nvPr/>
          </p:nvSpPr>
          <p:spPr>
            <a:xfrm>
              <a:off x="5680587" y="3935024"/>
              <a:ext cx="105389" cy="110514"/>
            </a:xfrm>
            <a:custGeom>
              <a:rect b="b" l="l" r="r" t="t"/>
              <a:pathLst>
                <a:path extrusionOk="0" h="3472" w="3311">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 name="Google Shape;564;p67"/>
          <p:cNvGrpSpPr/>
          <p:nvPr/>
        </p:nvGrpSpPr>
        <p:grpSpPr>
          <a:xfrm rot="5400000">
            <a:off x="-414884" y="3121220"/>
            <a:ext cx="2437179" cy="1607435"/>
            <a:chOff x="5539150" y="3176875"/>
            <a:chExt cx="2164842" cy="1427308"/>
          </a:xfrm>
        </p:grpSpPr>
        <p:sp>
          <p:nvSpPr>
            <p:cNvPr id="565" name="Google Shape;565;p67"/>
            <p:cNvSpPr/>
            <p:nvPr/>
          </p:nvSpPr>
          <p:spPr>
            <a:xfrm flipH="1" rot="-5400000">
              <a:off x="6912574" y="3812749"/>
              <a:ext cx="849332" cy="733504"/>
            </a:xfrm>
            <a:custGeom>
              <a:rect b="b" l="l" r="r" t="t"/>
              <a:pathLst>
                <a:path extrusionOk="0" h="23817" w="47635">
                  <a:moveTo>
                    <a:pt x="1" y="0"/>
                  </a:moveTo>
                  <a:lnTo>
                    <a:pt x="1" y="23817"/>
                  </a:lnTo>
                  <a:lnTo>
                    <a:pt x="47634" y="23817"/>
                  </a:lnTo>
                  <a:lnTo>
                    <a:pt x="47634" y="0"/>
                  </a:lnTo>
                  <a:close/>
                </a:path>
              </a:pathLst>
            </a:custGeom>
            <a:gradFill>
              <a:gsLst>
                <a:gs pos="0">
                  <a:srgbClr val="174B67">
                    <a:alpha val="34901"/>
                  </a:srgbClr>
                </a:gs>
                <a:gs pos="100000">
                  <a:srgbClr val="174B67">
                    <a:alpha val="5882"/>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7"/>
            <p:cNvSpPr/>
            <p:nvPr/>
          </p:nvSpPr>
          <p:spPr>
            <a:xfrm flipH="1" rot="-5400000">
              <a:off x="5541174" y="3174850"/>
              <a:ext cx="1427293" cy="1431342"/>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34901"/>
                  </a:srgbClr>
                </a:gs>
                <a:gs pos="100000">
                  <a:srgbClr val="174B67">
                    <a:alpha val="5882"/>
                  </a:srgbClr>
                </a:gs>
              </a:gsLst>
              <a:lin ang="189007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7"/>
            <p:cNvSpPr/>
            <p:nvPr/>
          </p:nvSpPr>
          <p:spPr>
            <a:xfrm flipH="1" rot="-5400000">
              <a:off x="6122188" y="3755881"/>
              <a:ext cx="847111" cy="849493"/>
            </a:xfrm>
            <a:custGeom>
              <a:rect b="b" l="l" r="r" t="t"/>
              <a:pathLst>
                <a:path extrusionOk="0" h="23817" w="23817">
                  <a:moveTo>
                    <a:pt x="23817" y="0"/>
                  </a:moveTo>
                  <a:cubicBezTo>
                    <a:pt x="10662" y="0"/>
                    <a:pt x="0" y="10662"/>
                    <a:pt x="0" y="23817"/>
                  </a:cubicBezTo>
                  <a:lnTo>
                    <a:pt x="23817" y="23817"/>
                  </a:lnTo>
                  <a:lnTo>
                    <a:pt x="23817" y="0"/>
                  </a:lnTo>
                  <a:close/>
                </a:path>
              </a:pathLst>
            </a:custGeom>
            <a:gradFill>
              <a:gsLst>
                <a:gs pos="0">
                  <a:srgbClr val="174B67">
                    <a:alpha val="14901"/>
                  </a:srgbClr>
                </a:gs>
                <a:gs pos="100000">
                  <a:srgbClr val="174B67">
                    <a:alpha val="25882"/>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 name="Google Shape;568;p67"/>
          <p:cNvSpPr/>
          <p:nvPr/>
        </p:nvSpPr>
        <p:spPr>
          <a:xfrm>
            <a:off x="2459400" y="1685100"/>
            <a:ext cx="5431200" cy="28575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vvic"/>
              <a:ea typeface="Livvic"/>
              <a:cs typeface="Livvic"/>
              <a:sym typeface="Livvic"/>
            </a:endParaRPr>
          </a:p>
        </p:txBody>
      </p:sp>
      <p:sp>
        <p:nvSpPr>
          <p:cNvPr id="569" name="Google Shape;569;p67"/>
          <p:cNvSpPr txBox="1"/>
          <p:nvPr>
            <p:ph type="ctrTitle"/>
          </p:nvPr>
        </p:nvSpPr>
        <p:spPr>
          <a:xfrm>
            <a:off x="2147025" y="1794125"/>
            <a:ext cx="5321100" cy="128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ank Loan Granting Consulting by Slidesgo">
  <a:themeElements>
    <a:clrScheme name="Simple Light">
      <a:dk1>
        <a:srgbClr val="174B67"/>
      </a:dk1>
      <a:lt1>
        <a:srgbClr val="F8F8F8"/>
      </a:lt1>
      <a:dk2>
        <a:srgbClr val="A7BBC7"/>
      </a:dk2>
      <a:lt2>
        <a:srgbClr val="DAE6EC"/>
      </a:lt2>
      <a:accent1>
        <a:srgbClr val="FFFFFF"/>
      </a:accent1>
      <a:accent2>
        <a:srgbClr val="FFFFFF"/>
      </a:accent2>
      <a:accent3>
        <a:srgbClr val="FFFFFF"/>
      </a:accent3>
      <a:accent4>
        <a:srgbClr val="FFFFFF"/>
      </a:accent4>
      <a:accent5>
        <a:srgbClr val="FFFFFF"/>
      </a:accent5>
      <a:accent6>
        <a:srgbClr val="FFFFFF"/>
      </a:accent6>
      <a:hlink>
        <a:srgbClr val="174B6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